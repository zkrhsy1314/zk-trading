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9"/>
  </p:notesMasterIdLst>
  <p:handoutMasterIdLst>
    <p:handoutMasterId r:id="rId70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</p:sldIdLst>
  <p:sldSz cx="12192000" cy="6858000"/>
  <p:notesSz cx="6858000" cy="9144000"/>
  <p:custDataLst>
    <p:tags r:id="rId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5" Type="http://schemas.openxmlformats.org/officeDocument/2006/relationships/tags" Target="tags/tag7.xml"/><Relationship Id="rId74" Type="http://schemas.openxmlformats.org/officeDocument/2006/relationships/commentAuthors" Target="commentAuthors.xml"/><Relationship Id="rId73" Type="http://schemas.openxmlformats.org/officeDocument/2006/relationships/tableStyles" Target="tableStyles.xml"/><Relationship Id="rId72" Type="http://schemas.openxmlformats.org/officeDocument/2006/relationships/viewProps" Target="viewProps.xml"/><Relationship Id="rId71" Type="http://schemas.openxmlformats.org/officeDocument/2006/relationships/presProps" Target="presProps.xml"/><Relationship Id="rId70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69" Type="http://schemas.openxmlformats.org/officeDocument/2006/relationships/notesMaster" Target="notesMasters/notesMaster1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6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35.png"/><Relationship Id="rId17" Type="http://schemas.openxmlformats.org/officeDocument/2006/relationships/image" Target="../media/image34.png"/><Relationship Id="rId16" Type="http://schemas.openxmlformats.org/officeDocument/2006/relationships/image" Target="../media/image33.png"/><Relationship Id="rId15" Type="http://schemas.openxmlformats.org/officeDocument/2006/relationships/image" Target="../media/image32.png"/><Relationship Id="rId14" Type="http://schemas.openxmlformats.org/officeDocument/2006/relationships/image" Target="../media/image31.png"/><Relationship Id="rId13" Type="http://schemas.openxmlformats.org/officeDocument/2006/relationships/image" Target="../media/image30.png"/><Relationship Id="rId12" Type="http://schemas.openxmlformats.org/officeDocument/2006/relationships/image" Target="../media/image29.png"/><Relationship Id="rId11" Type="http://schemas.openxmlformats.org/officeDocument/2006/relationships/image" Target="../media/image28.png"/><Relationship Id="rId10" Type="http://schemas.openxmlformats.org/officeDocument/2006/relationships/image" Target="../media/image27.png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8.png"/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45.png"/><Relationship Id="rId7" Type="http://schemas.openxmlformats.org/officeDocument/2006/relationships/image" Target="../media/image44.png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47.png"/><Relationship Id="rId10" Type="http://schemas.openxmlformats.org/officeDocument/2006/relationships/image" Target="../media/image46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image" Target="../media/image48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image" Target="../media/image49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6.png"/><Relationship Id="rId8" Type="http://schemas.openxmlformats.org/officeDocument/2006/relationships/image" Target="../media/image55.png"/><Relationship Id="rId7" Type="http://schemas.openxmlformats.org/officeDocument/2006/relationships/image" Target="../media/image54.png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57.png"/><Relationship Id="rId1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63.png"/><Relationship Id="rId6" Type="http://schemas.openxmlformats.org/officeDocument/2006/relationships/image" Target="../media/image62.jpe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3" Type="http://schemas.openxmlformats.org/officeDocument/2006/relationships/image" Target="../media/image8.png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3" Type="http://schemas.openxmlformats.org/officeDocument/2006/relationships/image" Target="../media/image8.png"/><Relationship Id="rId2" Type="http://schemas.openxmlformats.org/officeDocument/2006/relationships/image" Target="../media/image64.png"/><Relationship Id="rId1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8.png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58.png"/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image" Target="../media/image67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7.png"/><Relationship Id="rId3" Type="http://schemas.openxmlformats.org/officeDocument/2006/relationships/image" Target="../media/image73.png"/><Relationship Id="rId2" Type="http://schemas.openxmlformats.org/officeDocument/2006/relationships/image" Target="../media/image6.png"/><Relationship Id="rId1" Type="http://schemas.openxmlformats.org/officeDocument/2006/relationships/image" Target="../media/image72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79.png"/><Relationship Id="rId8" Type="http://schemas.openxmlformats.org/officeDocument/2006/relationships/image" Target="../media/image78.png"/><Relationship Id="rId7" Type="http://schemas.openxmlformats.org/officeDocument/2006/relationships/image" Target="../media/image8.png"/><Relationship Id="rId6" Type="http://schemas.openxmlformats.org/officeDocument/2006/relationships/image" Target="../media/image14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Relationship Id="rId3" Type="http://schemas.openxmlformats.org/officeDocument/2006/relationships/image" Target="../media/image75.png"/><Relationship Id="rId2" Type="http://schemas.openxmlformats.org/officeDocument/2006/relationships/image" Target="../media/image6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74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5.png"/><Relationship Id="rId7" Type="http://schemas.openxmlformats.org/officeDocument/2006/relationships/image" Target="../media/image8.png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3" Type="http://schemas.openxmlformats.org/officeDocument/2006/relationships/image" Target="../media/image81.png"/><Relationship Id="rId2" Type="http://schemas.openxmlformats.org/officeDocument/2006/relationships/image" Target="../media/image6.png"/><Relationship Id="rId1" Type="http://schemas.openxmlformats.org/officeDocument/2006/relationships/image" Target="../media/image80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image" Target="../media/image13.jpe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91.png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Relationship Id="rId3" Type="http://schemas.openxmlformats.org/officeDocument/2006/relationships/image" Target="../media/image87.png"/><Relationship Id="rId2" Type="http://schemas.openxmlformats.org/officeDocument/2006/relationships/image" Target="../media/image6.png"/><Relationship Id="rId1" Type="http://schemas.openxmlformats.org/officeDocument/2006/relationships/image" Target="../media/image86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95.png"/><Relationship Id="rId7" Type="http://schemas.openxmlformats.org/officeDocument/2006/relationships/image" Target="../media/image94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Relationship Id="rId3" Type="http://schemas.openxmlformats.org/officeDocument/2006/relationships/image" Target="../media/image86.png"/><Relationship Id="rId2" Type="http://schemas.openxmlformats.org/officeDocument/2006/relationships/image" Target="../media/image93.png"/><Relationship Id="rId1" Type="http://schemas.openxmlformats.org/officeDocument/2006/relationships/image" Target="../media/image92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6.png"/><Relationship Id="rId6" Type="http://schemas.openxmlformats.org/officeDocument/2006/relationships/image" Target="../media/image86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90.png"/><Relationship Id="rId1" Type="http://schemas.openxmlformats.org/officeDocument/2006/relationships/image" Target="../media/image96.png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6.png"/><Relationship Id="rId2" Type="http://schemas.openxmlformats.org/officeDocument/2006/relationships/image" Target="../media/image86.png"/><Relationship Id="rId1" Type="http://schemas.openxmlformats.org/officeDocument/2006/relationships/image" Target="../media/image101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9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86.png"/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image" Target="../media/image102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6.png"/><Relationship Id="rId6" Type="http://schemas.openxmlformats.org/officeDocument/2006/relationships/image" Target="../media/image86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10.png"/><Relationship Id="rId10" Type="http://schemas.openxmlformats.org/officeDocument/2006/relationships/image" Target="../media/image94.png"/><Relationship Id="rId1" Type="http://schemas.openxmlformats.org/officeDocument/2006/relationships/image" Target="../media/image105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4.png"/><Relationship Id="rId8" Type="http://schemas.openxmlformats.org/officeDocument/2006/relationships/image" Target="../media/image9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86.png"/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11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94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86.png"/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image" Target="../media/image115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90.png"/><Relationship Id="rId8" Type="http://schemas.openxmlformats.org/officeDocument/2006/relationships/image" Target="../media/image121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86.png"/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18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6.png"/><Relationship Id="rId8" Type="http://schemas.openxmlformats.org/officeDocument/2006/relationships/image" Target="../media/image125.png"/><Relationship Id="rId7" Type="http://schemas.openxmlformats.org/officeDocument/2006/relationships/image" Target="../media/image124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Relationship Id="rId3" Type="http://schemas.openxmlformats.org/officeDocument/2006/relationships/image" Target="../media/image86.png"/><Relationship Id="rId2" Type="http://schemas.openxmlformats.org/officeDocument/2006/relationships/image" Target="../media/image123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22.png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29.png"/><Relationship Id="rId4" Type="http://schemas.openxmlformats.org/officeDocument/2006/relationships/image" Target="../media/image128.png"/><Relationship Id="rId3" Type="http://schemas.openxmlformats.org/officeDocument/2006/relationships/image" Target="../media/image86.png"/><Relationship Id="rId2" Type="http://schemas.openxmlformats.org/officeDocument/2006/relationships/image" Target="../media/image6.png"/><Relationship Id="rId1" Type="http://schemas.openxmlformats.org/officeDocument/2006/relationships/image" Target="../media/image127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32.png"/><Relationship Id="rId7" Type="http://schemas.openxmlformats.org/officeDocument/2006/relationships/image" Target="../media/image128.png"/><Relationship Id="rId6" Type="http://schemas.openxmlformats.org/officeDocument/2006/relationships/image" Target="../media/image131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6.png"/><Relationship Id="rId2" Type="http://schemas.openxmlformats.org/officeDocument/2006/relationships/image" Target="../media/image86.png"/><Relationship Id="rId1" Type="http://schemas.openxmlformats.org/officeDocument/2006/relationships/image" Target="../media/image13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35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Relationship Id="rId3" Type="http://schemas.openxmlformats.org/officeDocument/2006/relationships/image" Target="../media/image86.png"/><Relationship Id="rId2" Type="http://schemas.openxmlformats.org/officeDocument/2006/relationships/image" Target="../media/image134.png"/><Relationship Id="rId1" Type="http://schemas.openxmlformats.org/officeDocument/2006/relationships/image" Target="../media/image13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28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Relationship Id="rId3" Type="http://schemas.openxmlformats.org/officeDocument/2006/relationships/image" Target="../media/image86.png"/><Relationship Id="rId2" Type="http://schemas.openxmlformats.org/officeDocument/2006/relationships/image" Target="../media/image137.png"/><Relationship Id="rId1" Type="http://schemas.openxmlformats.org/officeDocument/2006/relationships/image" Target="../media/image136.png"/></Relationships>
</file>

<file path=ppt/slides/_rels/slide3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8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6.png"/><Relationship Id="rId2" Type="http://schemas.openxmlformats.org/officeDocument/2006/relationships/image" Target="../media/image86.png"/><Relationship Id="rId1" Type="http://schemas.openxmlformats.org/officeDocument/2006/relationships/image" Target="../media/image138.png"/></Relationships>
</file>

<file path=ppt/slides/_rels/slide3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35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6.png"/><Relationship Id="rId2" Type="http://schemas.openxmlformats.org/officeDocument/2006/relationships/image" Target="../media/image86.png"/><Relationship Id="rId1" Type="http://schemas.openxmlformats.org/officeDocument/2006/relationships/image" Target="../media/image139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41.png"/><Relationship Id="rId6" Type="http://schemas.openxmlformats.org/officeDocument/2006/relationships/image" Target="../media/image135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6.png"/><Relationship Id="rId2" Type="http://schemas.openxmlformats.org/officeDocument/2006/relationships/image" Target="../media/image86.png"/><Relationship Id="rId1" Type="http://schemas.openxmlformats.org/officeDocument/2006/relationships/image" Target="../media/image14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35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Relationship Id="rId3" Type="http://schemas.openxmlformats.org/officeDocument/2006/relationships/image" Target="../media/image86.png"/><Relationship Id="rId2" Type="http://schemas.openxmlformats.org/officeDocument/2006/relationships/image" Target="../media/image143.png"/><Relationship Id="rId1" Type="http://schemas.openxmlformats.org/officeDocument/2006/relationships/image" Target="../media/image142.png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5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6.png"/><Relationship Id="rId5" Type="http://schemas.openxmlformats.org/officeDocument/2006/relationships/image" Target="../media/image86.png"/><Relationship Id="rId4" Type="http://schemas.openxmlformats.org/officeDocument/2006/relationships/image" Target="../media/image147.png"/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44.png"/></Relationships>
</file>

<file path=ppt/slides/_rels/slide4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35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6.png"/><Relationship Id="rId2" Type="http://schemas.openxmlformats.org/officeDocument/2006/relationships/image" Target="../media/image86.png"/><Relationship Id="rId1" Type="http://schemas.openxmlformats.org/officeDocument/2006/relationships/image" Target="../media/image148.png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149.png"/><Relationship Id="rId2" Type="http://schemas.openxmlformats.org/officeDocument/2006/relationships/image" Target="../media/image6.png"/><Relationship Id="rId1" Type="http://schemas.openxmlformats.org/officeDocument/2006/relationships/image" Target="../media/image86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52.png"/><Relationship Id="rId6" Type="http://schemas.openxmlformats.org/officeDocument/2006/relationships/image" Target="../media/image151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6.png"/><Relationship Id="rId2" Type="http://schemas.openxmlformats.org/officeDocument/2006/relationships/image" Target="../media/image86.png"/><Relationship Id="rId1" Type="http://schemas.openxmlformats.org/officeDocument/2006/relationships/image" Target="../media/image150.png"/></Relationships>
</file>

<file path=ppt/slides/_rels/slide4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9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image" Target="../media/image86.png"/></Relationships>
</file>

<file path=ppt/slides/_rels/slide4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53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image" Target="../media/image86.png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58.png"/><Relationship Id="rId7" Type="http://schemas.openxmlformats.org/officeDocument/2006/relationships/image" Target="../media/image8.png"/><Relationship Id="rId6" Type="http://schemas.openxmlformats.org/officeDocument/2006/relationships/image" Target="../media/image157.png"/><Relationship Id="rId5" Type="http://schemas.openxmlformats.org/officeDocument/2006/relationships/image" Target="../media/image86.png"/><Relationship Id="rId4" Type="http://schemas.openxmlformats.org/officeDocument/2006/relationships/image" Target="../media/image6.png"/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image" Target="../media/image154.png"/></Relationships>
</file>

<file path=ppt/slides/_rels/slide4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6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6.png"/><Relationship Id="rId2" Type="http://schemas.openxmlformats.org/officeDocument/2006/relationships/image" Target="../media/image86.png"/><Relationship Id="rId1" Type="http://schemas.openxmlformats.org/officeDocument/2006/relationships/image" Target="../media/image159.png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6.png"/><Relationship Id="rId6" Type="http://schemas.openxmlformats.org/officeDocument/2006/relationships/image" Target="../media/image86.png"/><Relationship Id="rId5" Type="http://schemas.openxmlformats.org/officeDocument/2006/relationships/image" Target="../media/image165.png"/><Relationship Id="rId4" Type="http://schemas.openxmlformats.org/officeDocument/2006/relationships/image" Target="../media/image164.png"/><Relationship Id="rId3" Type="http://schemas.openxmlformats.org/officeDocument/2006/relationships/image" Target="../media/image163.png"/><Relationship Id="rId2" Type="http://schemas.openxmlformats.org/officeDocument/2006/relationships/image" Target="../media/image162.png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66.png"/><Relationship Id="rId10" Type="http://schemas.openxmlformats.org/officeDocument/2006/relationships/image" Target="../media/image160.png"/><Relationship Id="rId1" Type="http://schemas.openxmlformats.org/officeDocument/2006/relationships/image" Target="../media/image161.png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6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86.png"/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image" Target="../media/image16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0.png"/><Relationship Id="rId1" Type="http://schemas.openxmlformats.org/officeDocument/2006/relationships/tags" Target="../tags/tag6.xml"/></Relationships>
</file>

<file path=ppt/slides/_rels/slide5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171.jpeg"/><Relationship Id="rId1" Type="http://schemas.openxmlformats.org/officeDocument/2006/relationships/image" Target="../media/image6.png"/></Relationships>
</file>

<file path=ppt/slides/_rels/slide5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172.jpeg"/><Relationship Id="rId1" Type="http://schemas.openxmlformats.org/officeDocument/2006/relationships/image" Target="../media/image6.png"/></Relationships>
</file>

<file path=ppt/slides/_rels/slide5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173.jpeg"/><Relationship Id="rId1" Type="http://schemas.openxmlformats.org/officeDocument/2006/relationships/image" Target="../media/image6.png"/></Relationships>
</file>

<file path=ppt/slides/_rels/slide5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174.jpeg"/><Relationship Id="rId1" Type="http://schemas.openxmlformats.org/officeDocument/2006/relationships/image" Target="../media/image6.png"/></Relationships>
</file>

<file path=ppt/slides/_rels/slide5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175.jpeg"/><Relationship Id="rId1" Type="http://schemas.openxmlformats.org/officeDocument/2006/relationships/image" Target="../media/image6.png"/></Relationships>
</file>

<file path=ppt/slides/_rels/slide5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176.jpeg"/><Relationship Id="rId1" Type="http://schemas.openxmlformats.org/officeDocument/2006/relationships/image" Target="../media/image6.png"/></Relationships>
</file>

<file path=ppt/slides/_rels/slide5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177.jpeg"/><Relationship Id="rId1" Type="http://schemas.openxmlformats.org/officeDocument/2006/relationships/image" Target="../media/image6.png"/></Relationships>
</file>

<file path=ppt/slides/_rels/slide5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178.jpeg"/><Relationship Id="rId1" Type="http://schemas.openxmlformats.org/officeDocument/2006/relationships/image" Target="../media/image6.png"/></Relationships>
</file>

<file path=ppt/slides/_rels/slide5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179.jpeg"/><Relationship Id="rId1" Type="http://schemas.openxmlformats.org/officeDocument/2006/relationships/image" Target="../media/image6.png"/></Relationships>
</file>

<file path=ppt/slides/_rels/slide6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180.jpeg"/><Relationship Id="rId1" Type="http://schemas.openxmlformats.org/officeDocument/2006/relationships/image" Target="../media/image6.png"/></Relationships>
</file>

<file path=ppt/slides/_rels/slide6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181.jpeg"/><Relationship Id="rId1" Type="http://schemas.openxmlformats.org/officeDocument/2006/relationships/image" Target="../media/image6.png"/></Relationships>
</file>

<file path=ppt/slides/_rels/slide6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182.jpeg"/><Relationship Id="rId1" Type="http://schemas.openxmlformats.org/officeDocument/2006/relationships/image" Target="../media/image6.png"/></Relationships>
</file>

<file path=ppt/slides/_rels/slide6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183.jpeg"/><Relationship Id="rId1" Type="http://schemas.openxmlformats.org/officeDocument/2006/relationships/image" Target="../media/image6.png"/></Relationships>
</file>

<file path=ppt/slides/_rels/slide6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184.jpeg"/><Relationship Id="rId1" Type="http://schemas.openxmlformats.org/officeDocument/2006/relationships/image" Target="../media/image6.png"/></Relationships>
</file>

<file path=ppt/slides/_rels/slide6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185.jpeg"/><Relationship Id="rId1" Type="http://schemas.openxmlformats.org/officeDocument/2006/relationships/image" Target="../media/image6.png"/></Relationships>
</file>

<file path=ppt/slides/_rels/slide6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186.jpe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 rot="19620000">
            <a:off x="1805468" y="3126375"/>
            <a:ext cx="8372475" cy="93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 ，</a:t>
            </a:r>
            <a:r>
              <a:rPr sz="5800" kern="0" spc="-14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825751" y="4122419"/>
            <a:ext cx="5515355" cy="28955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222491" y="1016508"/>
            <a:ext cx="4274820" cy="3448811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950964" y="2308860"/>
            <a:ext cx="5241035" cy="4253483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1250619" y="3322320"/>
            <a:ext cx="6662419" cy="1698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77545" algn="l" rtl="0" eaLnBrk="0">
              <a:lnSpc>
                <a:spcPct val="92000"/>
              </a:lnSpc>
            </a:pPr>
            <a:r>
              <a:rPr sz="5300" b="1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K线宝典</a:t>
            </a:r>
            <a:endParaRPr sz="5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93000"/>
              </a:lnSpc>
              <a:spcBef>
                <a:spcPts val="1390"/>
              </a:spcBef>
            </a:pPr>
            <a:r>
              <a:rPr sz="5300" b="1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“0基础”学量价</a:t>
            </a:r>
            <a:endParaRPr sz="5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/>
          <p:cNvSpPr/>
          <p:nvPr/>
        </p:nvSpPr>
        <p:spPr>
          <a:xfrm rot="19620000">
            <a:off x="1805468" y="3126375"/>
            <a:ext cx="8372475" cy="93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 ，</a:t>
            </a:r>
            <a:r>
              <a:rPr sz="5800" kern="0" spc="-14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764326" y="1150531"/>
            <a:ext cx="10695940" cy="3397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" indent="684530" algn="l" rtl="0" eaLnBrk="0">
              <a:lnSpc>
                <a:spcPct val="89000"/>
              </a:lnSpc>
            </a:pPr>
            <a:r>
              <a:rPr sz="3100" kern="0" spc="-240" dirty="0">
                <a:solidFill>
                  <a:srgbClr val="0E172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感谢大家</a:t>
            </a:r>
            <a:r>
              <a:rPr lang="zh-CN" sz="3100" kern="0" spc="-240" dirty="0">
                <a:solidFill>
                  <a:srgbClr val="0E172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对紫霞</a:t>
            </a:r>
            <a:r>
              <a:rPr sz="3100" kern="0" spc="-240" dirty="0">
                <a:solidFill>
                  <a:srgbClr val="0E172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的信任和支持</a:t>
            </a:r>
            <a:endParaRPr sz="3100" kern="0" spc="-240" dirty="0">
              <a:solidFill>
                <a:srgbClr val="0E1721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335" indent="684530" algn="l" rtl="0" eaLnBrk="0">
              <a:lnSpc>
                <a:spcPct val="89000"/>
              </a:lnSpc>
            </a:pPr>
            <a:endParaRPr sz="3100" kern="0" spc="-240" dirty="0">
              <a:solidFill>
                <a:srgbClr val="0E1721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335" indent="684530" algn="l" rtl="0" eaLnBrk="0">
              <a:lnSpc>
                <a:spcPct val="89000"/>
              </a:lnSpc>
            </a:pPr>
            <a:r>
              <a:rPr sz="3100" kern="0" spc="690" dirty="0">
                <a:solidFill>
                  <a:srgbClr val="0E172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200" kern="0" spc="-23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凡是加了助理的,  都</a:t>
            </a:r>
            <a:r>
              <a:rPr lang="zh-CN" sz="3200" kern="0" spc="-23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能够来参加内部实战训练：</a:t>
            </a:r>
            <a:endParaRPr lang="zh-CN" sz="3200" kern="0" spc="-23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713105" algn="l" rtl="0" eaLnBrk="0">
              <a:lnSpc>
                <a:spcPct val="90000"/>
              </a:lnSpc>
              <a:spcBef>
                <a:spcPts val="875"/>
              </a:spcBef>
            </a:pPr>
            <a:endParaRPr lang="zh-CN" sz="2900" kern="0" spc="-20" dirty="0">
              <a:solidFill>
                <a:srgbClr val="0C0F17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713105" algn="l" rtl="0" eaLnBrk="0">
              <a:lnSpc>
                <a:spcPct val="90000"/>
              </a:lnSpc>
              <a:spcBef>
                <a:spcPts val="875"/>
              </a:spcBef>
            </a:pPr>
            <a:r>
              <a:rPr lang="en-US" sz="2900" kern="0" spc="-60" dirty="0">
                <a:solidFill>
                  <a:srgbClr val="20253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2900" kern="0" spc="-60" dirty="0">
                <a:solidFill>
                  <a:srgbClr val="20253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每天整理的第一手资讯,</a:t>
            </a:r>
            <a:r>
              <a:rPr sz="2900" kern="0" spc="780" dirty="0">
                <a:solidFill>
                  <a:srgbClr val="20253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900" kern="0" spc="-60" dirty="0">
                <a:solidFill>
                  <a:srgbClr val="0B082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都会通过</a:t>
            </a:r>
            <a:r>
              <a:rPr lang="zh-CN" sz="2900" kern="0" spc="-60" dirty="0">
                <a:solidFill>
                  <a:srgbClr val="0B082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内部直播课程分享给你</a:t>
            </a:r>
            <a:endParaRPr sz="2900" kern="0" spc="-60" dirty="0">
              <a:solidFill>
                <a:srgbClr val="0B0822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713105" algn="l" rtl="0" eaLnBrk="0">
              <a:lnSpc>
                <a:spcPct val="90000"/>
              </a:lnSpc>
              <a:spcBef>
                <a:spcPts val="875"/>
              </a:spcBef>
            </a:pPr>
            <a:r>
              <a:rPr lang="zh-CN" sz="2900" kern="0" spc="-6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（联系小助理免费参加）</a:t>
            </a:r>
            <a:endParaRPr sz="10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" indent="725805" algn="l" rtl="0" eaLnBrk="0">
              <a:lnSpc>
                <a:spcPct val="90000"/>
              </a:lnSpc>
              <a:spcBef>
                <a:spcPts val="0"/>
              </a:spcBef>
            </a:pPr>
            <a:r>
              <a:rPr lang="en-US" altLang="zh-CN" sz="2900" kern="0" spc="-60" dirty="0">
                <a:solidFill>
                  <a:srgbClr val="37437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lang="zh-CN" altLang="en-US" sz="2900" kern="0" spc="-60" dirty="0">
                <a:solidFill>
                  <a:srgbClr val="37437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我们的核心</a:t>
            </a:r>
            <a:r>
              <a:rPr lang="zh-CN" sz="2900" kern="0" spc="-60" dirty="0">
                <a:solidFill>
                  <a:srgbClr val="37437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选票方法毫无保留的分享给你</a:t>
            </a:r>
            <a:endParaRPr lang="zh-CN" sz="2900" kern="0" spc="-60" dirty="0">
              <a:solidFill>
                <a:srgbClr val="37437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335" indent="725805" algn="l" rtl="0" eaLnBrk="0">
              <a:lnSpc>
                <a:spcPct val="90000"/>
              </a:lnSpc>
              <a:spcBef>
                <a:spcPts val="0"/>
              </a:spcBef>
            </a:pPr>
            <a:r>
              <a:rPr lang="en-US" sz="2900" kern="0" spc="-60" dirty="0">
                <a:solidFill>
                  <a:srgbClr val="37437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lang="zh-CN" altLang="en-US" sz="2900" kern="0" spc="-60" dirty="0">
                <a:solidFill>
                  <a:srgbClr val="37437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你手上的个股我们可以在课程中头脑风暴，相互交流讨论</a:t>
            </a:r>
            <a:endParaRPr sz="2900" kern="0" spc="-60" dirty="0">
              <a:solidFill>
                <a:srgbClr val="374378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335" indent="725805" algn="l" rtl="0" eaLnBrk="0">
              <a:lnSpc>
                <a:spcPct val="90000"/>
              </a:lnSpc>
              <a:spcBef>
                <a:spcPts val="0"/>
              </a:spcBef>
            </a:pPr>
            <a:endParaRPr sz="2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503357" y="5723508"/>
            <a:ext cx="9957192" cy="508723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92420" y="6238502"/>
            <a:ext cx="2616166" cy="372514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 34"/>
          <p:cNvSpPr/>
          <p:nvPr/>
        </p:nvSpPr>
        <p:spPr>
          <a:xfrm>
            <a:off x="5163311" y="5442203"/>
            <a:ext cx="5791200" cy="545591"/>
          </a:xfrm>
          <a:prstGeom prst="rect">
            <a:avLst/>
          </a:prstGeom>
          <a:solidFill>
            <a:srgbClr val="A12F2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" name="textbox 36"/>
          <p:cNvSpPr/>
          <p:nvPr/>
        </p:nvSpPr>
        <p:spPr>
          <a:xfrm rot="19620000">
            <a:off x="5996730" y="1886515"/>
            <a:ext cx="3796029" cy="932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1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 38"/>
          <p:cNvSpPr/>
          <p:nvPr/>
        </p:nvSpPr>
        <p:spPr>
          <a:xfrm>
            <a:off x="5163311" y="1517903"/>
            <a:ext cx="5791200" cy="544067"/>
          </a:xfrm>
          <a:prstGeom prst="rect">
            <a:avLst/>
          </a:prstGeom>
          <a:solidFill>
            <a:srgbClr val="A12F2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" name="textbox 40"/>
          <p:cNvSpPr/>
          <p:nvPr/>
        </p:nvSpPr>
        <p:spPr>
          <a:xfrm rot="19620000">
            <a:off x="2163479" y="4354838"/>
            <a:ext cx="3795395" cy="925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  <a:spcBef>
                <a:spcPts val="0"/>
              </a:spcBef>
            </a:pPr>
            <a:r>
              <a:rPr sz="5800" kern="0" spc="1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 42"/>
          <p:cNvSpPr/>
          <p:nvPr/>
        </p:nvSpPr>
        <p:spPr>
          <a:xfrm>
            <a:off x="5163311" y="2932176"/>
            <a:ext cx="5791200" cy="542544"/>
          </a:xfrm>
          <a:prstGeom prst="rect">
            <a:avLst/>
          </a:prstGeom>
          <a:solidFill>
            <a:srgbClr val="A12F2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4" name="rect 44"/>
          <p:cNvSpPr/>
          <p:nvPr/>
        </p:nvSpPr>
        <p:spPr>
          <a:xfrm>
            <a:off x="5163311" y="4261103"/>
            <a:ext cx="5791200" cy="545591"/>
          </a:xfrm>
          <a:prstGeom prst="rect">
            <a:avLst/>
          </a:prstGeom>
          <a:solidFill>
            <a:srgbClr val="A12F2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" name="textbox 46"/>
          <p:cNvSpPr/>
          <p:nvPr/>
        </p:nvSpPr>
        <p:spPr>
          <a:xfrm>
            <a:off x="1822566" y="1575561"/>
            <a:ext cx="9145269" cy="4617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79065" algn="l" rtl="0" eaLnBrk="0">
              <a:lnSpc>
                <a:spcPct val="82000"/>
              </a:lnSpc>
              <a:spcBef>
                <a:spcPts val="5"/>
              </a:spcBef>
              <a:tabLst>
                <a:tab pos="2941320" algn="l"/>
              </a:tabLst>
            </a:pP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2600" kern="0" spc="15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</a:t>
            </a:r>
            <a:r>
              <a:rPr lang="en-US" sz="2600" kern="0" spc="15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</a:t>
            </a:r>
            <a:r>
              <a:rPr sz="2600" kern="0" spc="15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3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</a:t>
            </a:r>
            <a:r>
              <a:rPr lang="zh-CN" sz="23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</a:t>
            </a:r>
            <a:r>
              <a:rPr lang="en-US" altLang="zh-CN" sz="23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2-49 </a:t>
            </a:r>
            <a:r>
              <a:rPr lang="zh-CN" altLang="en-US" sz="23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</a:t>
            </a:r>
            <a:r>
              <a:rPr sz="23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</a:t>
            </a:r>
            <a:r>
              <a:rPr sz="23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94305" algn="l" rtl="0" eaLnBrk="0">
              <a:lnSpc>
                <a:spcPct val="67000"/>
              </a:lnSpc>
              <a:spcBef>
                <a:spcPts val="790"/>
              </a:spcBef>
              <a:tabLst>
                <a:tab pos="2941320" algn="l"/>
              </a:tabLst>
            </a:pPr>
            <a:r>
              <a:rPr sz="2600" kern="0" spc="6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</a:t>
            </a:r>
            <a:r>
              <a:rPr lang="en-US" sz="2600" kern="0" spc="6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   </a:t>
            </a:r>
            <a:r>
              <a:rPr lang="zh-CN" sz="23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量价</a:t>
            </a:r>
            <a:r>
              <a:rPr lang="en-US" altLang="zh-CN" sz="23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3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字口诀</a:t>
            </a:r>
            <a:r>
              <a:rPr lang="en-US" altLang="zh-CN" sz="23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50</a:t>
            </a:r>
            <a:r>
              <a:rPr lang="zh-CN" altLang="en-US" sz="23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</a:t>
            </a:r>
            <a:r>
              <a:rPr sz="23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</a:t>
            </a:r>
            <a:r>
              <a:rPr sz="23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79000"/>
              </a:lnSpc>
              <a:spcBef>
                <a:spcPts val="1065"/>
              </a:spcBef>
            </a:pPr>
            <a:r>
              <a:rPr sz="4600" b="1" kern="0" spc="-34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目录</a:t>
            </a:r>
            <a:endParaRPr sz="46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 rtl="0" eaLnBrk="0">
              <a:lnSpc>
                <a:spcPct val="18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94305" algn="l" rtl="0" eaLnBrk="0">
              <a:lnSpc>
                <a:spcPct val="83000"/>
              </a:lnSpc>
              <a:spcBef>
                <a:spcPts val="780"/>
              </a:spcBef>
              <a:tabLst>
                <a:tab pos="2941320" algn="l"/>
              </a:tabLst>
            </a:pP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lang="en-US" sz="2600" kern="0" spc="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</a:t>
            </a:r>
            <a:r>
              <a:rPr sz="2600" kern="0" spc="7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</a:t>
            </a:r>
            <a:r>
              <a:rPr lang="en-US" sz="2600" kern="0" spc="7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lang="zh-CN" sz="26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量价知识</a:t>
            </a:r>
            <a:r>
              <a:rPr lang="en-US" altLang="zh-CN" sz="26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51-66</a:t>
            </a:r>
            <a:r>
              <a:rPr lang="zh-CN" altLang="en-US" sz="26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页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6000"/>
              </a:lnSpc>
            </a:pP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94305" algn="l" rtl="0" eaLnBrk="0">
              <a:lnSpc>
                <a:spcPts val="7170"/>
              </a:lnSpc>
              <a:tabLst>
                <a:tab pos="2962910" algn="l"/>
              </a:tabLst>
            </a:pPr>
            <a:r>
              <a:rPr lang="en-US" sz="2300" kern="0" spc="1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     </a:t>
            </a:r>
            <a:r>
              <a:rPr sz="2300" kern="0" spc="1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</a:t>
            </a:r>
            <a:r>
              <a:rPr lang="zh-CN" sz="23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买入</a:t>
            </a:r>
            <a:r>
              <a:rPr lang="en-US" altLang="zh-CN" sz="23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23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步法</a:t>
            </a:r>
            <a:r>
              <a:rPr sz="23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23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67</a:t>
            </a:r>
            <a:r>
              <a:rPr lang="zh-CN" altLang="en-US" sz="23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</a:t>
            </a:r>
            <a:r>
              <a:rPr sz="23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966971" y="5562599"/>
            <a:ext cx="550164" cy="550163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966971" y="4381499"/>
            <a:ext cx="550164" cy="550164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966971" y="2936747"/>
            <a:ext cx="550164" cy="504303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953255" y="1520951"/>
            <a:ext cx="548640" cy="54864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  <p:sp>
        <p:nvSpPr>
          <p:cNvPr id="62" name="textbox 62"/>
          <p:cNvSpPr/>
          <p:nvPr/>
        </p:nvSpPr>
        <p:spPr>
          <a:xfrm>
            <a:off x="1848883" y="285912"/>
            <a:ext cx="1633220" cy="508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3500" b="1" kern="0" spc="-70" dirty="0">
                <a:solidFill>
                  <a:srgbClr val="D413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K线理论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4" name="picture 6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66"/>
          <p:cNvSpPr/>
          <p:nvPr/>
        </p:nvSpPr>
        <p:spPr>
          <a:xfrm rot="19620000">
            <a:off x="1805468" y="3126375"/>
            <a:ext cx="8372475" cy="93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 ，</a:t>
            </a:r>
            <a:r>
              <a:rPr sz="5800" kern="0" spc="-14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8" name="picture 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79119" y="1604772"/>
            <a:ext cx="3924300" cy="4690871"/>
          </a:xfrm>
          <a:prstGeom prst="rect">
            <a:avLst/>
          </a:prstGeom>
        </p:spPr>
      </p:pic>
      <p:sp>
        <p:nvSpPr>
          <p:cNvPr id="70" name="textbox 70"/>
          <p:cNvSpPr/>
          <p:nvPr/>
        </p:nvSpPr>
        <p:spPr>
          <a:xfrm>
            <a:off x="5743206" y="2170264"/>
            <a:ext cx="3255645" cy="4010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4295" algn="l" rtl="0" eaLnBrk="0">
              <a:lnSpc>
                <a:spcPct val="75000"/>
              </a:lnSpc>
            </a:pPr>
            <a:r>
              <a:rPr sz="3800" kern="0" spc="-30" dirty="0">
                <a:solidFill>
                  <a:srgbClr val="4276A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r>
              <a:rPr sz="3800" kern="0" spc="240" dirty="0">
                <a:solidFill>
                  <a:srgbClr val="4276A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</a:t>
            </a:r>
            <a:r>
              <a:rPr sz="2300" b="1" kern="0" spc="-30" dirty="0">
                <a:solidFill>
                  <a:srgbClr val="333F5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K线来历及应用范围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9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" algn="l" rtl="0" eaLnBrk="0">
              <a:lnSpc>
                <a:spcPct val="76000"/>
              </a:lnSpc>
              <a:spcBef>
                <a:spcPts val="1150"/>
              </a:spcBef>
            </a:pPr>
            <a:r>
              <a:rPr sz="3800" kern="0" spc="-30" dirty="0">
                <a:solidFill>
                  <a:srgbClr val="178AA1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r>
              <a:rPr sz="3800" kern="0" spc="220" dirty="0">
                <a:solidFill>
                  <a:srgbClr val="178AA1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</a:t>
            </a:r>
            <a:r>
              <a:rPr sz="2300" b="1" kern="0" spc="-30" dirty="0">
                <a:solidFill>
                  <a:srgbClr val="333F5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K线构成及画法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9370" algn="l" rtl="0" eaLnBrk="0">
              <a:lnSpc>
                <a:spcPct val="76000"/>
              </a:lnSpc>
              <a:spcBef>
                <a:spcPts val="1145"/>
              </a:spcBef>
            </a:pPr>
            <a:r>
              <a:rPr sz="3800" kern="0" spc="-80" dirty="0">
                <a:solidFill>
                  <a:srgbClr val="40A69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r>
              <a:rPr sz="3800" kern="0" spc="210" dirty="0">
                <a:solidFill>
                  <a:srgbClr val="40A69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</a:t>
            </a:r>
            <a:r>
              <a:rPr sz="2300" b="1" kern="0" spc="-80" dirty="0">
                <a:solidFill>
                  <a:srgbClr val="333F5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K线分类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5000"/>
              </a:lnSpc>
              <a:spcBef>
                <a:spcPts val="1145"/>
              </a:spcBef>
            </a:pPr>
            <a:r>
              <a:rPr sz="3800" kern="0" spc="-10" dirty="0">
                <a:solidFill>
                  <a:srgbClr val="5268A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r>
              <a:rPr sz="3800" kern="0" spc="210" dirty="0">
                <a:solidFill>
                  <a:srgbClr val="5268A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</a:t>
            </a:r>
            <a:r>
              <a:rPr sz="2300" b="1" kern="0" spc="-10" dirty="0">
                <a:solidFill>
                  <a:srgbClr val="333F5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K线基本形态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9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8100" algn="l" rtl="0" eaLnBrk="0">
              <a:lnSpc>
                <a:spcPct val="75000"/>
              </a:lnSpc>
              <a:spcBef>
                <a:spcPts val="5"/>
              </a:spcBef>
            </a:pPr>
            <a:r>
              <a:rPr sz="3900" kern="0" spc="-100" dirty="0">
                <a:solidFill>
                  <a:srgbClr val="47457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r>
              <a:rPr sz="3900" kern="0" spc="170" dirty="0">
                <a:solidFill>
                  <a:srgbClr val="47457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</a:t>
            </a:r>
            <a:r>
              <a:rPr sz="2300" b="1" kern="0" spc="-100" dirty="0">
                <a:solidFill>
                  <a:srgbClr val="333F5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K线图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2" name="picture 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pic>
        <p:nvPicPr>
          <p:cNvPr id="76" name="picture 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  <p:sp>
        <p:nvSpPr>
          <p:cNvPr id="78" name="textbox 78"/>
          <p:cNvSpPr/>
          <p:nvPr/>
        </p:nvSpPr>
        <p:spPr>
          <a:xfrm>
            <a:off x="1848883" y="286546"/>
            <a:ext cx="1633220" cy="508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3500" b="1" kern="0" spc="-70" dirty="0">
                <a:solidFill>
                  <a:srgbClr val="D413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K线概述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group 2"/>
          <p:cNvGrpSpPr/>
          <p:nvPr/>
        </p:nvGrpSpPr>
        <p:grpSpPr>
          <a:xfrm rot="21600000">
            <a:off x="4649787" y="2066925"/>
            <a:ext cx="708025" cy="917575"/>
            <a:chOff x="0" y="0"/>
            <a:chExt cx="708025" cy="917575"/>
          </a:xfrm>
        </p:grpSpPr>
        <p:sp>
          <p:nvSpPr>
            <p:cNvPr id="80" name="path 80"/>
            <p:cNvSpPr/>
            <p:nvPr/>
          </p:nvSpPr>
          <p:spPr>
            <a:xfrm>
              <a:off x="257326" y="467931"/>
              <a:ext cx="450698" cy="449643"/>
            </a:xfrm>
            <a:custGeom>
              <a:avLst/>
              <a:gdLst/>
              <a:ahLst/>
              <a:cxnLst/>
              <a:rect l="0" t="0" r="0" b="0"/>
              <a:pathLst>
                <a:path w="709" h="708">
                  <a:moveTo>
                    <a:pt x="709" y="0"/>
                  </a:moveTo>
                  <a:lnTo>
                    <a:pt x="709" y="708"/>
                  </a:lnTo>
                  <a:lnTo>
                    <a:pt x="0" y="0"/>
                  </a:lnTo>
                  <a:lnTo>
                    <a:pt x="709" y="0"/>
                  </a:lnTo>
                </a:path>
              </a:pathLst>
            </a:custGeom>
            <a:solidFill>
              <a:srgbClr val="C9CED5">
                <a:alpha val="45882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2" name="path 82"/>
            <p:cNvSpPr/>
            <p:nvPr/>
          </p:nvSpPr>
          <p:spPr>
            <a:xfrm>
              <a:off x="0" y="0"/>
              <a:ext cx="708025" cy="708761"/>
            </a:xfrm>
            <a:custGeom>
              <a:avLst/>
              <a:gdLst/>
              <a:ahLst/>
              <a:cxnLst/>
              <a:rect l="0" t="0" r="0" b="0"/>
              <a:pathLst>
                <a:path w="1115" h="1116">
                  <a:moveTo>
                    <a:pt x="1115" y="0"/>
                  </a:moveTo>
                  <a:lnTo>
                    <a:pt x="1115" y="1116"/>
                  </a:lnTo>
                  <a:lnTo>
                    <a:pt x="0" y="0"/>
                  </a:lnTo>
                  <a:lnTo>
                    <a:pt x="1115" y="0"/>
                  </a:lnTo>
                </a:path>
              </a:pathLst>
            </a:custGeom>
            <a:solidFill>
              <a:srgbClr val="58637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84" name="picture 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86"/>
          <p:cNvSpPr/>
          <p:nvPr/>
        </p:nvSpPr>
        <p:spPr>
          <a:xfrm rot="19620000">
            <a:off x="1805468" y="3126375"/>
            <a:ext cx="8372475" cy="93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 ，</a:t>
            </a:r>
            <a:r>
              <a:rPr sz="5800" kern="0" spc="-14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8" name="picture 8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175003" y="1225296"/>
            <a:ext cx="1815084" cy="917447"/>
          </a:xfrm>
          <a:prstGeom prst="rect">
            <a:avLst/>
          </a:prstGeom>
        </p:spPr>
      </p:pic>
      <p:sp>
        <p:nvSpPr>
          <p:cNvPr id="90" name="textbox 90"/>
          <p:cNvSpPr/>
          <p:nvPr/>
        </p:nvSpPr>
        <p:spPr>
          <a:xfrm>
            <a:off x="-12700" y="-12700"/>
            <a:ext cx="12217400" cy="1901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91310" algn="l" rtl="0" eaLnBrk="0">
              <a:lnSpc>
                <a:spcPct val="83000"/>
              </a:lnSpc>
              <a:spcBef>
                <a:spcPts val="0"/>
              </a:spcBef>
              <a:tabLst>
                <a:tab pos="1703070" algn="l"/>
                <a:tab pos="9642475" algn="l"/>
              </a:tabLst>
            </a:pPr>
            <a:r>
              <a:rPr sz="3500" kern="0" spc="0" dirty="0">
                <a:solidFill>
                  <a:srgbClr val="D413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3500" b="1" u="sng" kern="0" spc="-660" dirty="0">
                <a:solidFill>
                  <a:srgbClr val="D413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500" b="1" u="sng" kern="0" spc="10" dirty="0">
                <a:solidFill>
                  <a:srgbClr val="D413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K线来历及应用范围</a:t>
            </a:r>
            <a:r>
              <a:rPr sz="3500" b="1" u="sng" kern="0" spc="-990" dirty="0">
                <a:solidFill>
                  <a:srgbClr val="D413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500" b="1" u="sng" kern="0" spc="0" dirty="0">
                <a:solidFill>
                  <a:srgbClr val="D4130C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97660" algn="l" rtl="0" eaLnBrk="0">
              <a:lnSpc>
                <a:spcPct val="90000"/>
              </a:lnSpc>
              <a:spcBef>
                <a:spcPts val="0"/>
              </a:spcBef>
            </a:pPr>
            <a:r>
              <a:rPr sz="2300" b="1" kern="0" spc="-2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K</a:t>
            </a:r>
            <a:r>
              <a:rPr sz="23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线来历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4" name="picture 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pic>
        <p:nvPicPr>
          <p:cNvPr id="96" name="picture 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419350" y="5059680"/>
            <a:ext cx="8271509" cy="1702307"/>
          </a:xfrm>
          <a:prstGeom prst="rect">
            <a:avLst/>
          </a:prstGeom>
        </p:spPr>
      </p:pic>
      <p:sp>
        <p:nvSpPr>
          <p:cNvPr id="98" name="textbox 98"/>
          <p:cNvSpPr/>
          <p:nvPr/>
        </p:nvSpPr>
        <p:spPr>
          <a:xfrm>
            <a:off x="2395049" y="2519226"/>
            <a:ext cx="9128125" cy="1158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" algn="l" rtl="0" eaLnBrk="0">
              <a:lnSpc>
                <a:spcPct val="83000"/>
              </a:lnSpc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K线又称阴阳线、棒线、红黑线或蜡烛线。据说起源于18世纪日本的米市</a:t>
            </a:r>
            <a:r>
              <a:rPr sz="20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，被当时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40640" algn="l" rtl="0" eaLnBrk="0">
              <a:lnSpc>
                <a:spcPct val="144000"/>
              </a:lnSpc>
              <a:spcBef>
                <a:spcPts val="15"/>
              </a:spcBef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日本米市的商人用来记录米市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的行情与价格波动</a:t>
            </a:r>
            <a:r>
              <a:rPr sz="2000"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，后因其细腻独到的标画方式而被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引入到股市及期货市场</a:t>
            </a:r>
            <a:r>
              <a:rPr sz="2000" kern="0" spc="-2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，成为股票技术分析的一种理论..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" name="group 4"/>
          <p:cNvGrpSpPr/>
          <p:nvPr/>
        </p:nvGrpSpPr>
        <p:grpSpPr>
          <a:xfrm rot="21600000">
            <a:off x="1175003" y="4090415"/>
            <a:ext cx="2231136" cy="917447"/>
            <a:chOff x="0" y="0"/>
            <a:chExt cx="2231136" cy="917447"/>
          </a:xfrm>
        </p:grpSpPr>
        <p:pic>
          <p:nvPicPr>
            <p:cNvPr id="100" name="picture 1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2231136" cy="917447"/>
            </a:xfrm>
            <a:prstGeom prst="rect">
              <a:avLst/>
            </a:prstGeom>
          </p:spPr>
        </p:pic>
        <p:sp>
          <p:nvSpPr>
            <p:cNvPr id="102" name="textbox 102"/>
            <p:cNvSpPr/>
            <p:nvPr/>
          </p:nvSpPr>
          <p:spPr>
            <a:xfrm>
              <a:off x="-12700" y="-12700"/>
              <a:ext cx="2256789" cy="9728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58445" algn="l" rtl="0" eaLnBrk="0">
                <a:lnSpc>
                  <a:spcPct val="91000"/>
                </a:lnSpc>
                <a:spcBef>
                  <a:spcPts val="0"/>
                </a:spcBef>
              </a:pPr>
              <a:r>
                <a:rPr sz="2300" b="1" kern="0" spc="20" dirty="0">
                  <a:solidFill>
                    <a:srgbClr val="FFFFFF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K</a:t>
              </a:r>
              <a:r>
                <a:rPr sz="2300" b="1" kern="0" spc="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线应用范围</a:t>
              </a:r>
              <a:endParaRPr sz="2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04" name="textbox 104"/>
          <p:cNvSpPr/>
          <p:nvPr/>
        </p:nvSpPr>
        <p:spPr>
          <a:xfrm>
            <a:off x="2766434" y="5759483"/>
            <a:ext cx="2543810" cy="344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2300" b="1" kern="0" spc="20" dirty="0">
                <a:solidFill>
                  <a:srgbClr val="333F5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股市         </a:t>
            </a:r>
            <a:r>
              <a:rPr sz="2300" b="1" kern="0" spc="10" dirty="0">
                <a:solidFill>
                  <a:srgbClr val="333F5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基金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textbox 106"/>
          <p:cNvSpPr/>
          <p:nvPr/>
        </p:nvSpPr>
        <p:spPr>
          <a:xfrm>
            <a:off x="8139314" y="5758543"/>
            <a:ext cx="2280285" cy="356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2300" b="1" kern="0" spc="70" dirty="0">
                <a:solidFill>
                  <a:srgbClr val="333F5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期货</a:t>
            </a:r>
            <a:r>
              <a:rPr sz="2300" b="1" kern="0" spc="50" dirty="0">
                <a:solidFill>
                  <a:srgbClr val="333F5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</a:t>
            </a:r>
            <a:r>
              <a:rPr sz="2000" b="1" kern="0" spc="70" dirty="0">
                <a:solidFill>
                  <a:srgbClr val="333F5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外汇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" name="group 6"/>
          <p:cNvGrpSpPr/>
          <p:nvPr/>
        </p:nvGrpSpPr>
        <p:grpSpPr>
          <a:xfrm rot="21600000">
            <a:off x="1266825" y="2425700"/>
            <a:ext cx="846137" cy="485775"/>
            <a:chOff x="0" y="0"/>
            <a:chExt cx="846137" cy="485775"/>
          </a:xfrm>
        </p:grpSpPr>
        <p:sp>
          <p:nvSpPr>
            <p:cNvPr id="108" name="path 108"/>
            <p:cNvSpPr/>
            <p:nvPr/>
          </p:nvSpPr>
          <p:spPr>
            <a:xfrm>
              <a:off x="0" y="0"/>
              <a:ext cx="521385" cy="485775"/>
            </a:xfrm>
            <a:custGeom>
              <a:avLst/>
              <a:gdLst/>
              <a:ahLst/>
              <a:cxnLst/>
              <a:rect l="0" t="0" r="0" b="0"/>
              <a:pathLst>
                <a:path w="821" h="765">
                  <a:moveTo>
                    <a:pt x="362" y="0"/>
                  </a:moveTo>
                  <a:lnTo>
                    <a:pt x="821" y="765"/>
                  </a:lnTo>
                  <a:lnTo>
                    <a:pt x="441" y="765"/>
                  </a:lnTo>
                  <a:lnTo>
                    <a:pt x="0" y="27"/>
                  </a:lnTo>
                  <a:lnTo>
                    <a:pt x="362" y="0"/>
                  </a:lnTo>
                </a:path>
              </a:pathLst>
            </a:custGeom>
            <a:solidFill>
              <a:srgbClr val="59595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0" name="path 110"/>
            <p:cNvSpPr/>
            <p:nvPr/>
          </p:nvSpPr>
          <p:spPr>
            <a:xfrm>
              <a:off x="324751" y="0"/>
              <a:ext cx="521386" cy="485775"/>
            </a:xfrm>
            <a:custGeom>
              <a:avLst/>
              <a:gdLst/>
              <a:ahLst/>
              <a:cxnLst/>
              <a:rect l="0" t="0" r="0" b="0"/>
              <a:pathLst>
                <a:path w="821" h="765">
                  <a:moveTo>
                    <a:pt x="362" y="0"/>
                  </a:moveTo>
                  <a:lnTo>
                    <a:pt x="821" y="765"/>
                  </a:lnTo>
                  <a:lnTo>
                    <a:pt x="441" y="765"/>
                  </a:lnTo>
                  <a:lnTo>
                    <a:pt x="0" y="27"/>
                  </a:lnTo>
                  <a:lnTo>
                    <a:pt x="362" y="0"/>
                  </a:lnTo>
                </a:path>
              </a:pathLst>
            </a:custGeom>
            <a:solidFill>
              <a:srgbClr val="1D6DC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12" name="textbox 112"/>
          <p:cNvSpPr/>
          <p:nvPr/>
        </p:nvSpPr>
        <p:spPr>
          <a:xfrm>
            <a:off x="6468453" y="5598693"/>
            <a:ext cx="568325" cy="6146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" indent="-12700" algn="l" rtl="0" eaLnBrk="0">
              <a:lnSpc>
                <a:spcPct val="97000"/>
              </a:lnSpc>
            </a:pPr>
            <a:r>
              <a:rPr sz="2000" b="1" kern="0" spc="110" dirty="0">
                <a:solidFill>
                  <a:srgbClr val="333F5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现货</a:t>
            </a:r>
            <a:r>
              <a:rPr sz="2000" b="1" kern="0" spc="0" dirty="0">
                <a:solidFill>
                  <a:srgbClr val="333F5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80" dirty="0">
                <a:solidFill>
                  <a:srgbClr val="333F5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4" name="picture 1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116"/>
          <p:cNvSpPr/>
          <p:nvPr/>
        </p:nvSpPr>
        <p:spPr>
          <a:xfrm rot="19620000">
            <a:off x="1805468" y="3126375"/>
            <a:ext cx="8372475" cy="93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 ，</a:t>
            </a:r>
            <a:r>
              <a:rPr sz="5800" kern="0" spc="-14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textbox 118"/>
          <p:cNvSpPr/>
          <p:nvPr/>
        </p:nvSpPr>
        <p:spPr>
          <a:xfrm>
            <a:off x="2471312" y="2609651"/>
            <a:ext cx="9248140" cy="2011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3000"/>
              </a:lnSpc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K线是一条柱状的线条，</a:t>
            </a:r>
            <a:r>
              <a:rPr sz="2000" kern="0" spc="-2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由实体和影线两部分构成。影线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在实体上方的部分叫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6350" algn="l" rtl="0" eaLnBrk="0">
              <a:lnSpc>
                <a:spcPct val="143000"/>
              </a:lnSpc>
              <a:spcBef>
                <a:spcPts val="15"/>
              </a:spcBef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上影线 ，下方的部分叫下影线。实体分阳线和阴线。其中影线表明当天交易的最高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和最低价 ，而实体表明当天的开盘价和收盘价。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5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683895" algn="l" rtl="0" eaLnBrk="0">
              <a:lnSpc>
                <a:spcPct val="120000"/>
              </a:lnSpc>
              <a:spcBef>
                <a:spcPts val="5"/>
              </a:spcBef>
            </a:pP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如果收盘价高于开盘价，</a:t>
            </a:r>
            <a:r>
              <a:rPr sz="2000" kern="0" spc="-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线就用红色或者空心显示</a:t>
            </a:r>
            <a:r>
              <a:rPr sz="2000" kern="0" spc="-3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，称为阳线；反之 ，收盘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价低于开盘价，</a:t>
            </a:r>
            <a:r>
              <a:rPr sz="2000" kern="0" spc="-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K线用绿色或实心显示</a:t>
            </a:r>
            <a:r>
              <a:rPr sz="2000" kern="0" spc="-3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，称为阴线。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8" name="group 8"/>
          <p:cNvGrpSpPr/>
          <p:nvPr/>
        </p:nvGrpSpPr>
        <p:grpSpPr>
          <a:xfrm rot="21600000">
            <a:off x="1175003" y="1225296"/>
            <a:ext cx="1815084" cy="917447"/>
            <a:chOff x="0" y="0"/>
            <a:chExt cx="1815084" cy="917447"/>
          </a:xfrm>
        </p:grpSpPr>
        <p:pic>
          <p:nvPicPr>
            <p:cNvPr id="120" name="picture 12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1815084" cy="917447"/>
            </a:xfrm>
            <a:prstGeom prst="rect">
              <a:avLst/>
            </a:prstGeom>
          </p:spPr>
        </p:pic>
        <p:sp>
          <p:nvSpPr>
            <p:cNvPr id="122" name="textbox 122"/>
            <p:cNvSpPr/>
            <p:nvPr/>
          </p:nvSpPr>
          <p:spPr>
            <a:xfrm>
              <a:off x="-12700" y="-12700"/>
              <a:ext cx="1840864" cy="97408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22910" algn="l" rtl="0" eaLnBrk="0">
                <a:lnSpc>
                  <a:spcPct val="90000"/>
                </a:lnSpc>
                <a:spcBef>
                  <a:spcPts val="5"/>
                </a:spcBef>
              </a:pPr>
              <a:r>
                <a:rPr sz="2300" b="1" kern="0" spc="-20" dirty="0">
                  <a:solidFill>
                    <a:srgbClr val="FFFFFF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K</a:t>
              </a:r>
              <a:r>
                <a:rPr sz="2300" b="1" kern="0" spc="-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线构成</a:t>
              </a:r>
              <a:endParaRPr sz="2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24" name="picture 1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 rot="21600000">
            <a:off x="1579245" y="716915"/>
            <a:ext cx="8549639" cy="22859"/>
            <a:chOff x="0" y="0"/>
            <a:chExt cx="8549639" cy="22859"/>
          </a:xfrm>
        </p:grpSpPr>
        <p:sp>
          <p:nvSpPr>
            <p:cNvPr id="126" name="path 126"/>
            <p:cNvSpPr/>
            <p:nvPr/>
          </p:nvSpPr>
          <p:spPr>
            <a:xfrm>
              <a:off x="0" y="0"/>
              <a:ext cx="243204" cy="22859"/>
            </a:xfrm>
            <a:custGeom>
              <a:avLst/>
              <a:gdLst/>
              <a:ahLst/>
              <a:cxnLst/>
              <a:rect l="0" t="0" r="0" b="0"/>
              <a:pathLst>
                <a:path w="382" h="35">
                  <a:moveTo>
                    <a:pt x="0" y="17"/>
                  </a:moveTo>
                  <a:lnTo>
                    <a:pt x="382" y="17"/>
                  </a:lnTo>
                </a:path>
              </a:pathLst>
            </a:custGeom>
            <a:noFill/>
            <a:ln w="22859" cap="flat">
              <a:solidFill>
                <a:srgbClr val="000000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8" name="path 128"/>
            <p:cNvSpPr/>
            <p:nvPr/>
          </p:nvSpPr>
          <p:spPr>
            <a:xfrm>
              <a:off x="243204" y="0"/>
              <a:ext cx="3019425" cy="22859"/>
            </a:xfrm>
            <a:custGeom>
              <a:avLst/>
              <a:gdLst/>
              <a:ahLst/>
              <a:cxnLst/>
              <a:rect l="0" t="0" r="0" b="0"/>
              <a:pathLst>
                <a:path w="4755" h="35">
                  <a:moveTo>
                    <a:pt x="0" y="17"/>
                  </a:moveTo>
                  <a:lnTo>
                    <a:pt x="4755" y="17"/>
                  </a:lnTo>
                </a:path>
              </a:pathLst>
            </a:custGeom>
            <a:noFill/>
            <a:ln w="22859" cap="flat">
              <a:solidFill>
                <a:srgbClr val="C00000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0" name="path 130"/>
            <p:cNvSpPr/>
            <p:nvPr/>
          </p:nvSpPr>
          <p:spPr>
            <a:xfrm>
              <a:off x="3262629" y="0"/>
              <a:ext cx="5287009" cy="22859"/>
            </a:xfrm>
            <a:custGeom>
              <a:avLst/>
              <a:gdLst/>
              <a:ahLst/>
              <a:cxnLst/>
              <a:rect l="0" t="0" r="0" b="0"/>
              <a:pathLst>
                <a:path w="8325" h="35">
                  <a:moveTo>
                    <a:pt x="0" y="17"/>
                  </a:moveTo>
                  <a:lnTo>
                    <a:pt x="8325" y="17"/>
                  </a:lnTo>
                </a:path>
              </a:pathLst>
            </a:custGeom>
            <a:noFill/>
            <a:ln w="22859" cap="flat">
              <a:solidFill>
                <a:srgbClr val="000000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34" name="textbox 134"/>
          <p:cNvSpPr/>
          <p:nvPr/>
        </p:nvSpPr>
        <p:spPr>
          <a:xfrm>
            <a:off x="1848476" y="249270"/>
            <a:ext cx="3001010" cy="5092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500" b="1" kern="0" spc="-1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K线构成及画法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2" name="group 12"/>
          <p:cNvGrpSpPr/>
          <p:nvPr/>
        </p:nvGrpSpPr>
        <p:grpSpPr>
          <a:xfrm rot="21600000">
            <a:off x="1373187" y="2516187"/>
            <a:ext cx="847725" cy="485775"/>
            <a:chOff x="0" y="0"/>
            <a:chExt cx="847725" cy="485775"/>
          </a:xfrm>
        </p:grpSpPr>
        <p:sp>
          <p:nvSpPr>
            <p:cNvPr id="136" name="path 136"/>
            <p:cNvSpPr/>
            <p:nvPr/>
          </p:nvSpPr>
          <p:spPr>
            <a:xfrm>
              <a:off x="0" y="0"/>
              <a:ext cx="522363" cy="485775"/>
            </a:xfrm>
            <a:custGeom>
              <a:avLst/>
              <a:gdLst/>
              <a:ahLst/>
              <a:cxnLst/>
              <a:rect l="0" t="0" r="0" b="0"/>
              <a:pathLst>
                <a:path w="822" h="765">
                  <a:moveTo>
                    <a:pt x="363" y="0"/>
                  </a:moveTo>
                  <a:lnTo>
                    <a:pt x="822" y="765"/>
                  </a:lnTo>
                  <a:lnTo>
                    <a:pt x="442" y="765"/>
                  </a:lnTo>
                  <a:lnTo>
                    <a:pt x="0" y="27"/>
                  </a:lnTo>
                  <a:lnTo>
                    <a:pt x="363" y="0"/>
                  </a:lnTo>
                </a:path>
              </a:pathLst>
            </a:custGeom>
            <a:solidFill>
              <a:srgbClr val="59595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8" name="path 138"/>
            <p:cNvSpPr/>
            <p:nvPr/>
          </p:nvSpPr>
          <p:spPr>
            <a:xfrm>
              <a:off x="325361" y="0"/>
              <a:ext cx="522364" cy="485775"/>
            </a:xfrm>
            <a:custGeom>
              <a:avLst/>
              <a:gdLst/>
              <a:ahLst/>
              <a:cxnLst/>
              <a:rect l="0" t="0" r="0" b="0"/>
              <a:pathLst>
                <a:path w="822" h="765">
                  <a:moveTo>
                    <a:pt x="363" y="0"/>
                  </a:moveTo>
                  <a:lnTo>
                    <a:pt x="822" y="765"/>
                  </a:lnTo>
                  <a:lnTo>
                    <a:pt x="442" y="765"/>
                  </a:lnTo>
                  <a:lnTo>
                    <a:pt x="0" y="27"/>
                  </a:lnTo>
                  <a:lnTo>
                    <a:pt x="363" y="0"/>
                  </a:lnTo>
                </a:path>
              </a:pathLst>
            </a:custGeom>
            <a:solidFill>
              <a:srgbClr val="1D6DC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140" name="picture 1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box 142"/>
          <p:cNvSpPr/>
          <p:nvPr/>
        </p:nvSpPr>
        <p:spPr>
          <a:xfrm rot="19620000">
            <a:off x="1805468" y="3126375"/>
            <a:ext cx="8372475" cy="93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 ，</a:t>
            </a:r>
            <a:r>
              <a:rPr sz="5800" kern="0" spc="-14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6" name="textbox 146"/>
          <p:cNvSpPr/>
          <p:nvPr/>
        </p:nvSpPr>
        <p:spPr>
          <a:xfrm>
            <a:off x="2725178" y="1761125"/>
            <a:ext cx="6434454" cy="543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3500" b="1" kern="0" spc="-6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阳线</a:t>
            </a:r>
            <a:r>
              <a:rPr sz="3500" b="1" kern="0" spc="1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</a:t>
            </a:r>
            <a:r>
              <a:rPr sz="3500" b="1" kern="0" spc="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sz="3500" b="1" kern="0" spc="-6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阴线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8" name="textbox 148"/>
          <p:cNvSpPr/>
          <p:nvPr/>
        </p:nvSpPr>
        <p:spPr>
          <a:xfrm>
            <a:off x="10440044" y="2978204"/>
            <a:ext cx="836930" cy="2877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0485" indent="-57785" algn="l" rtl="0" eaLnBrk="0">
              <a:lnSpc>
                <a:spcPct val="164000"/>
              </a:lnSpc>
            </a:pP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最高价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开盘价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9215" algn="l" rtl="0" eaLnBrk="0">
              <a:lnSpc>
                <a:spcPct val="133000"/>
              </a:lnSpc>
              <a:spcBef>
                <a:spcPts val="0"/>
              </a:spcBef>
            </a:pP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收盘价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最低价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0" name="textbox 150"/>
          <p:cNvSpPr/>
          <p:nvPr/>
        </p:nvSpPr>
        <p:spPr>
          <a:xfrm>
            <a:off x="4946672" y="3173784"/>
            <a:ext cx="779780" cy="271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0000"/>
              </a:lnSpc>
            </a:pP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最高价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收盘价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270" algn="l" rtl="0" eaLnBrk="0">
              <a:lnSpc>
                <a:spcPct val="133000"/>
              </a:lnSpc>
              <a:spcBef>
                <a:spcPts val="5"/>
              </a:spcBef>
            </a:pP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开盘价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最低价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2" name="picture 1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908047" y="3854195"/>
            <a:ext cx="1563623" cy="1104900"/>
          </a:xfrm>
          <a:prstGeom prst="rect">
            <a:avLst/>
          </a:prstGeom>
        </p:spPr>
      </p:pic>
      <p:pic>
        <p:nvPicPr>
          <p:cNvPr id="154" name="picture 1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452359" y="3854195"/>
            <a:ext cx="1552956" cy="1104900"/>
          </a:xfrm>
          <a:prstGeom prst="rect">
            <a:avLst/>
          </a:prstGeom>
        </p:spPr>
      </p:pic>
      <p:sp>
        <p:nvSpPr>
          <p:cNvPr id="156" name="textbox 156"/>
          <p:cNvSpPr/>
          <p:nvPr/>
        </p:nvSpPr>
        <p:spPr>
          <a:xfrm>
            <a:off x="6358059" y="3607634"/>
            <a:ext cx="1032510" cy="1736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241300" algn="l" rtl="0" eaLnBrk="0">
              <a:lnSpc>
                <a:spcPct val="132000"/>
              </a:lnSpc>
            </a:pP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上影线</a:t>
            </a:r>
            <a:r>
              <a:rPr sz="2000" b="1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阴线实体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1000"/>
              </a:lnSpc>
              <a:spcBef>
                <a:spcPts val="5"/>
              </a:spcBef>
            </a:pP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下影线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8" name="textbox 158"/>
          <p:cNvSpPr/>
          <p:nvPr/>
        </p:nvSpPr>
        <p:spPr>
          <a:xfrm>
            <a:off x="813252" y="3707965"/>
            <a:ext cx="1032510" cy="17360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241300" algn="l" rtl="0" eaLnBrk="0">
              <a:lnSpc>
                <a:spcPct val="132000"/>
              </a:lnSpc>
            </a:pP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上影线</a:t>
            </a:r>
            <a:r>
              <a:rPr sz="2000" b="1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阳线实体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1000"/>
              </a:lnSpc>
              <a:spcBef>
                <a:spcPts val="5"/>
              </a:spcBef>
            </a:pP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下影线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0" name="picture 1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930640" y="3048000"/>
            <a:ext cx="1487423" cy="126491"/>
          </a:xfrm>
          <a:prstGeom prst="rect">
            <a:avLst/>
          </a:prstGeom>
        </p:spPr>
      </p:pic>
      <p:pic>
        <p:nvPicPr>
          <p:cNvPr id="162" name="picture 1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00983" y="3048000"/>
            <a:ext cx="1485900" cy="126491"/>
          </a:xfrm>
          <a:prstGeom prst="rect">
            <a:avLst/>
          </a:prstGeom>
        </p:spPr>
      </p:pic>
      <p:pic>
        <p:nvPicPr>
          <p:cNvPr id="164" name="picture 16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973311" y="5713476"/>
            <a:ext cx="1446276" cy="128016"/>
          </a:xfrm>
          <a:prstGeom prst="rect">
            <a:avLst/>
          </a:prstGeom>
        </p:spPr>
      </p:pic>
      <p:pic>
        <p:nvPicPr>
          <p:cNvPr id="166" name="picture 16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342132" y="5713476"/>
            <a:ext cx="1446276" cy="128016"/>
          </a:xfrm>
          <a:prstGeom prst="rect">
            <a:avLst/>
          </a:prstGeom>
        </p:spPr>
      </p:pic>
      <p:pic>
        <p:nvPicPr>
          <p:cNvPr id="168" name="picture 16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163811" y="4876800"/>
            <a:ext cx="1255776" cy="126492"/>
          </a:xfrm>
          <a:prstGeom prst="rect">
            <a:avLst/>
          </a:prstGeom>
        </p:spPr>
      </p:pic>
      <p:pic>
        <p:nvPicPr>
          <p:cNvPr id="170" name="picture 17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532632" y="4876800"/>
            <a:ext cx="1254251" cy="126492"/>
          </a:xfrm>
          <a:prstGeom prst="rect">
            <a:avLst/>
          </a:prstGeom>
        </p:spPr>
      </p:pic>
      <p:pic>
        <p:nvPicPr>
          <p:cNvPr id="172" name="picture 17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9201911" y="3810000"/>
            <a:ext cx="1217676" cy="126492"/>
          </a:xfrm>
          <a:prstGeom prst="rect">
            <a:avLst/>
          </a:prstGeom>
        </p:spPr>
      </p:pic>
      <p:pic>
        <p:nvPicPr>
          <p:cNvPr id="174" name="picture 17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3570732" y="3810000"/>
            <a:ext cx="1216151" cy="126492"/>
          </a:xfrm>
          <a:prstGeom prst="rect">
            <a:avLst/>
          </a:prstGeom>
        </p:spPr>
      </p:pic>
      <p:pic>
        <p:nvPicPr>
          <p:cNvPr id="176" name="picture 17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7452359" y="3465576"/>
            <a:ext cx="1152143" cy="128015"/>
          </a:xfrm>
          <a:prstGeom prst="rect">
            <a:avLst/>
          </a:prstGeom>
        </p:spPr>
      </p:pic>
      <p:pic>
        <p:nvPicPr>
          <p:cNvPr id="178" name="picture 17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908047" y="5216652"/>
            <a:ext cx="1150620" cy="128016"/>
          </a:xfrm>
          <a:prstGeom prst="rect">
            <a:avLst/>
          </a:prstGeom>
        </p:spPr>
      </p:pic>
      <p:pic>
        <p:nvPicPr>
          <p:cNvPr id="180" name="picture 18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1908047" y="3566159"/>
            <a:ext cx="1150620" cy="128015"/>
          </a:xfrm>
          <a:prstGeom prst="rect">
            <a:avLst/>
          </a:prstGeom>
        </p:spPr>
      </p:pic>
      <p:pic>
        <p:nvPicPr>
          <p:cNvPr id="182" name="picture 18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7452359" y="5117591"/>
            <a:ext cx="1152143" cy="126492"/>
          </a:xfrm>
          <a:prstGeom prst="rect">
            <a:avLst/>
          </a:prstGeom>
        </p:spPr>
      </p:pic>
      <p:pic>
        <p:nvPicPr>
          <p:cNvPr id="184" name="picture 18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8662416" y="4940808"/>
            <a:ext cx="38100" cy="838200"/>
          </a:xfrm>
          <a:prstGeom prst="rect">
            <a:avLst/>
          </a:prstGeom>
        </p:spPr>
      </p:pic>
      <p:pic>
        <p:nvPicPr>
          <p:cNvPr id="186" name="picture 18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3128772" y="4940808"/>
            <a:ext cx="38100" cy="838200"/>
          </a:xfrm>
          <a:prstGeom prst="rect">
            <a:avLst/>
          </a:prstGeom>
        </p:spPr>
      </p:pic>
      <p:pic>
        <p:nvPicPr>
          <p:cNvPr id="188" name="picture 18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8662416" y="3112008"/>
            <a:ext cx="38100" cy="762000"/>
          </a:xfrm>
          <a:prstGeom prst="rect">
            <a:avLst/>
          </a:prstGeom>
        </p:spPr>
      </p:pic>
      <p:pic>
        <p:nvPicPr>
          <p:cNvPr id="190" name="picture 19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3128772" y="3112008"/>
            <a:ext cx="381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box 192"/>
          <p:cNvSpPr/>
          <p:nvPr/>
        </p:nvSpPr>
        <p:spPr>
          <a:xfrm rot="19620000">
            <a:off x="1805468" y="3125655"/>
            <a:ext cx="8372475" cy="932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7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</a:t>
            </a:r>
            <a:r>
              <a:rPr sz="5800" kern="0" spc="12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sz="5800" kern="0" spc="7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4" name="picture 1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495043" y="3311652"/>
            <a:ext cx="1293876" cy="3396995"/>
          </a:xfrm>
          <a:prstGeom prst="rect">
            <a:avLst/>
          </a:prstGeom>
        </p:spPr>
      </p:pic>
      <p:graphicFrame>
        <p:nvGraphicFramePr>
          <p:cNvPr id="196" name="table 196"/>
          <p:cNvGraphicFramePr>
            <a:graphicFrameLocks noGrp="1"/>
          </p:cNvGraphicFramePr>
          <p:nvPr/>
        </p:nvGraphicFramePr>
        <p:xfrm>
          <a:off x="2777883" y="3312896"/>
          <a:ext cx="8335644" cy="1205864"/>
        </p:xfrm>
        <a:graphic>
          <a:graphicData uri="http://schemas.openxmlformats.org/drawingml/2006/table">
            <a:tbl>
              <a:tblPr/>
              <a:tblGrid>
                <a:gridCol w="8335644"/>
              </a:tblGrid>
              <a:tr h="11995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5420" algn="l" rtl="0" eaLnBrk="0">
                        <a:lnSpc>
                          <a:spcPct val="96000"/>
                        </a:lnSpc>
                      </a:pPr>
                      <a:r>
                        <a:rPr sz="17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•</a:t>
                      </a:r>
                      <a:r>
                        <a:rPr sz="1700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7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确定开盘和收盘的价格 ，</a:t>
                      </a:r>
                      <a:r>
                        <a:rPr sz="1700" kern="0" spc="-3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7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将它们之间的部分画成矩形实体</a:t>
                      </a:r>
                      <a:endParaRPr sz="1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85420" algn="l" rtl="0" eaLnBrk="0">
                        <a:lnSpc>
                          <a:spcPct val="96000"/>
                        </a:lnSpc>
                        <a:spcBef>
                          <a:spcPts val="780"/>
                        </a:spcBef>
                      </a:pPr>
                      <a:r>
                        <a:rPr sz="17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•</a:t>
                      </a:r>
                      <a:r>
                        <a:rPr sz="1700" kern="0" spc="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7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如果收盘价格高于开盘价格 ，</a:t>
                      </a:r>
                      <a:r>
                        <a:rPr sz="17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7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用空心或红色的实体表示</a:t>
                      </a:r>
                      <a:endParaRPr sz="1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5420" algn="l" rtl="0" eaLnBrk="0">
                        <a:lnSpc>
                          <a:spcPct val="96000"/>
                        </a:lnSpc>
                        <a:spcBef>
                          <a:spcPts val="0"/>
                        </a:spcBef>
                      </a:pPr>
                      <a:r>
                        <a:rPr sz="17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•</a:t>
                      </a:r>
                      <a:r>
                        <a:rPr sz="1700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7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如果收盘价格低于开盘价格 ，</a:t>
                      </a:r>
                      <a:r>
                        <a:rPr sz="17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7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用黑色或绿色实体表示</a:t>
                      </a:r>
                      <a:endParaRPr sz="1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DD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8" name="table 198"/>
          <p:cNvGraphicFramePr>
            <a:graphicFrameLocks noGrp="1"/>
          </p:cNvGraphicFramePr>
          <p:nvPr/>
        </p:nvGraphicFramePr>
        <p:xfrm>
          <a:off x="2781693" y="4859210"/>
          <a:ext cx="8331834" cy="1205230"/>
        </p:xfrm>
        <a:graphic>
          <a:graphicData uri="http://schemas.openxmlformats.org/drawingml/2006/table">
            <a:tbl>
              <a:tblPr/>
              <a:tblGrid>
                <a:gridCol w="8331834"/>
              </a:tblGrid>
              <a:tr h="11988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1610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</a:pPr>
                      <a:r>
                        <a:rPr sz="17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•</a:t>
                      </a:r>
                      <a:r>
                        <a:rPr sz="17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7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绘制上影线</a:t>
                      </a:r>
                      <a:r>
                        <a:rPr sz="17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7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1700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7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用较细的线</a:t>
                      </a:r>
                      <a:r>
                        <a:rPr sz="1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最高价与实体连接</a:t>
                      </a:r>
                      <a:endParaRPr sz="1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1610" algn="l" rtl="0" eaLnBrk="0">
                        <a:lnSpc>
                          <a:spcPct val="96000"/>
                        </a:lnSpc>
                        <a:spcBef>
                          <a:spcPts val="0"/>
                        </a:spcBef>
                      </a:pPr>
                      <a:r>
                        <a:rPr sz="17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•</a:t>
                      </a:r>
                      <a:r>
                        <a:rPr sz="17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7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绘制下影线</a:t>
                      </a:r>
                      <a:r>
                        <a:rPr sz="17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7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1700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7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用较细的线</a:t>
                      </a:r>
                      <a:r>
                        <a:rPr sz="1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最低价与实体连接</a:t>
                      </a:r>
                      <a:endParaRPr sz="1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4" name="group 14"/>
          <p:cNvGrpSpPr/>
          <p:nvPr/>
        </p:nvGrpSpPr>
        <p:grpSpPr>
          <a:xfrm rot="21600000">
            <a:off x="1175003" y="1225296"/>
            <a:ext cx="1815084" cy="917447"/>
            <a:chOff x="0" y="0"/>
            <a:chExt cx="1815084" cy="917447"/>
          </a:xfrm>
        </p:grpSpPr>
        <p:pic>
          <p:nvPicPr>
            <p:cNvPr id="200" name="picture 2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815084" cy="917447"/>
            </a:xfrm>
            <a:prstGeom prst="rect">
              <a:avLst/>
            </a:prstGeom>
          </p:spPr>
        </p:pic>
        <p:sp>
          <p:nvSpPr>
            <p:cNvPr id="202" name="textbox 202"/>
            <p:cNvSpPr/>
            <p:nvPr/>
          </p:nvSpPr>
          <p:spPr>
            <a:xfrm>
              <a:off x="-12700" y="-12700"/>
              <a:ext cx="1840864" cy="9715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89255" algn="l" rtl="0" eaLnBrk="0">
                <a:lnSpc>
                  <a:spcPct val="91000"/>
                </a:lnSpc>
                <a:spcBef>
                  <a:spcPts val="5"/>
                </a:spcBef>
              </a:pPr>
              <a:r>
                <a:rPr sz="2300" b="1" kern="0" spc="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绘制</a:t>
              </a:r>
              <a:r>
                <a:rPr sz="2300" b="1" kern="0" spc="40" dirty="0">
                  <a:solidFill>
                    <a:srgbClr val="FFFFFF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K</a:t>
              </a:r>
              <a:r>
                <a:rPr sz="2300" b="1" kern="0" spc="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线</a:t>
              </a:r>
              <a:endParaRPr sz="2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04" name="picture 2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 rot="21600000">
            <a:off x="1579245" y="716915"/>
            <a:ext cx="8549639" cy="22859"/>
            <a:chOff x="0" y="0"/>
            <a:chExt cx="8549639" cy="22859"/>
          </a:xfrm>
        </p:grpSpPr>
        <p:sp>
          <p:nvSpPr>
            <p:cNvPr id="206" name="path 206"/>
            <p:cNvSpPr/>
            <p:nvPr/>
          </p:nvSpPr>
          <p:spPr>
            <a:xfrm>
              <a:off x="0" y="0"/>
              <a:ext cx="243204" cy="22859"/>
            </a:xfrm>
            <a:custGeom>
              <a:avLst/>
              <a:gdLst/>
              <a:ahLst/>
              <a:cxnLst/>
              <a:rect l="0" t="0" r="0" b="0"/>
              <a:pathLst>
                <a:path w="382" h="35">
                  <a:moveTo>
                    <a:pt x="0" y="17"/>
                  </a:moveTo>
                  <a:lnTo>
                    <a:pt x="382" y="17"/>
                  </a:lnTo>
                </a:path>
              </a:pathLst>
            </a:custGeom>
            <a:noFill/>
            <a:ln w="22859" cap="flat">
              <a:solidFill>
                <a:srgbClr val="000000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8" name="path 208"/>
            <p:cNvSpPr/>
            <p:nvPr/>
          </p:nvSpPr>
          <p:spPr>
            <a:xfrm>
              <a:off x="243204" y="0"/>
              <a:ext cx="3019425" cy="22859"/>
            </a:xfrm>
            <a:custGeom>
              <a:avLst/>
              <a:gdLst/>
              <a:ahLst/>
              <a:cxnLst/>
              <a:rect l="0" t="0" r="0" b="0"/>
              <a:pathLst>
                <a:path w="4755" h="35">
                  <a:moveTo>
                    <a:pt x="0" y="17"/>
                  </a:moveTo>
                  <a:lnTo>
                    <a:pt x="4755" y="17"/>
                  </a:lnTo>
                </a:path>
              </a:pathLst>
            </a:custGeom>
            <a:noFill/>
            <a:ln w="22859" cap="flat">
              <a:solidFill>
                <a:srgbClr val="C00000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0" name="path 210"/>
            <p:cNvSpPr/>
            <p:nvPr/>
          </p:nvSpPr>
          <p:spPr>
            <a:xfrm>
              <a:off x="3262629" y="0"/>
              <a:ext cx="5287009" cy="22859"/>
            </a:xfrm>
            <a:custGeom>
              <a:avLst/>
              <a:gdLst/>
              <a:ahLst/>
              <a:cxnLst/>
              <a:rect l="0" t="0" r="0" b="0"/>
              <a:pathLst>
                <a:path w="8325" h="35">
                  <a:moveTo>
                    <a:pt x="0" y="17"/>
                  </a:moveTo>
                  <a:lnTo>
                    <a:pt x="8325" y="17"/>
                  </a:lnTo>
                </a:path>
              </a:pathLst>
            </a:custGeom>
            <a:noFill/>
            <a:ln w="22859" cap="flat">
              <a:solidFill>
                <a:srgbClr val="000000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14" name="textbox 214"/>
          <p:cNvSpPr/>
          <p:nvPr/>
        </p:nvSpPr>
        <p:spPr>
          <a:xfrm>
            <a:off x="2664839" y="2520748"/>
            <a:ext cx="7538084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2000"/>
              </a:lnSpc>
            </a:pPr>
            <a:r>
              <a:rPr sz="2000" kern="0" spc="-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K线图以每个分析周期的开盘价、最高价、最低价和收盘价绘</a:t>
            </a:r>
            <a:r>
              <a:rPr sz="2000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制而成。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6" name="textbox 216"/>
          <p:cNvSpPr/>
          <p:nvPr/>
        </p:nvSpPr>
        <p:spPr>
          <a:xfrm>
            <a:off x="1848476" y="249270"/>
            <a:ext cx="3001010" cy="5092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500" b="1" kern="0" spc="-1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K线构成及画法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8" name="textbox 218"/>
          <p:cNvSpPr/>
          <p:nvPr/>
        </p:nvSpPr>
        <p:spPr>
          <a:xfrm>
            <a:off x="1544193" y="4046473"/>
            <a:ext cx="1186180" cy="437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29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先实体</a:t>
            </a:r>
            <a:endParaRPr sz="2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0" name="textbox 220"/>
          <p:cNvSpPr/>
          <p:nvPr/>
        </p:nvSpPr>
        <p:spPr>
          <a:xfrm>
            <a:off x="1544193" y="5590921"/>
            <a:ext cx="1186180" cy="4387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29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后影线</a:t>
            </a:r>
            <a:endParaRPr sz="2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8" name="group 18"/>
          <p:cNvGrpSpPr/>
          <p:nvPr/>
        </p:nvGrpSpPr>
        <p:grpSpPr>
          <a:xfrm rot="21600000">
            <a:off x="1379537" y="2455862"/>
            <a:ext cx="847725" cy="485775"/>
            <a:chOff x="0" y="0"/>
            <a:chExt cx="847725" cy="485775"/>
          </a:xfrm>
        </p:grpSpPr>
        <p:sp>
          <p:nvSpPr>
            <p:cNvPr id="222" name="path 222"/>
            <p:cNvSpPr/>
            <p:nvPr/>
          </p:nvSpPr>
          <p:spPr>
            <a:xfrm>
              <a:off x="0" y="0"/>
              <a:ext cx="522363" cy="485775"/>
            </a:xfrm>
            <a:custGeom>
              <a:avLst/>
              <a:gdLst/>
              <a:ahLst/>
              <a:cxnLst/>
              <a:rect l="0" t="0" r="0" b="0"/>
              <a:pathLst>
                <a:path w="822" h="765">
                  <a:moveTo>
                    <a:pt x="363" y="0"/>
                  </a:moveTo>
                  <a:lnTo>
                    <a:pt x="822" y="765"/>
                  </a:lnTo>
                  <a:lnTo>
                    <a:pt x="442" y="765"/>
                  </a:lnTo>
                  <a:lnTo>
                    <a:pt x="0" y="27"/>
                  </a:lnTo>
                  <a:lnTo>
                    <a:pt x="363" y="0"/>
                  </a:lnTo>
                </a:path>
              </a:pathLst>
            </a:custGeom>
            <a:solidFill>
              <a:srgbClr val="59595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24" name="path 224"/>
            <p:cNvSpPr/>
            <p:nvPr/>
          </p:nvSpPr>
          <p:spPr>
            <a:xfrm>
              <a:off x="325361" y="0"/>
              <a:ext cx="522364" cy="485775"/>
            </a:xfrm>
            <a:custGeom>
              <a:avLst/>
              <a:gdLst/>
              <a:ahLst/>
              <a:cxnLst/>
              <a:rect l="0" t="0" r="0" b="0"/>
              <a:pathLst>
                <a:path w="822" h="765">
                  <a:moveTo>
                    <a:pt x="363" y="0"/>
                  </a:moveTo>
                  <a:lnTo>
                    <a:pt x="822" y="765"/>
                  </a:lnTo>
                  <a:lnTo>
                    <a:pt x="442" y="765"/>
                  </a:lnTo>
                  <a:lnTo>
                    <a:pt x="0" y="27"/>
                  </a:lnTo>
                  <a:lnTo>
                    <a:pt x="363" y="0"/>
                  </a:lnTo>
                </a:path>
              </a:pathLst>
            </a:custGeom>
            <a:solidFill>
              <a:srgbClr val="1D6DC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226" name="picture 2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228" name="picture 2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777883" y="4863020"/>
            <a:ext cx="7620" cy="11982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box 230"/>
          <p:cNvSpPr/>
          <p:nvPr/>
        </p:nvSpPr>
        <p:spPr>
          <a:xfrm rot="19620000">
            <a:off x="1807235" y="3131378"/>
            <a:ext cx="8353425" cy="932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12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</a:t>
            </a:r>
            <a:r>
              <a:rPr sz="5800" kern="0" spc="10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</a:t>
            </a:r>
            <a:r>
              <a:rPr sz="5800" kern="0" spc="12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2" name="textbox 232"/>
          <p:cNvSpPr/>
          <p:nvPr/>
        </p:nvSpPr>
        <p:spPr>
          <a:xfrm>
            <a:off x="1690116" y="3543300"/>
            <a:ext cx="7297419" cy="1638300"/>
          </a:xfrm>
          <a:prstGeom prst="rect">
            <a:avLst/>
          </a:prstGeom>
          <a:solidFill>
            <a:srgbClr val="8497B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3520" indent="12065" algn="l" rtl="0" eaLnBrk="0">
              <a:lnSpc>
                <a:spcPct val="111000"/>
              </a:lnSpc>
              <a:spcBef>
                <a:spcPts val="5"/>
              </a:spcBef>
            </a:pPr>
            <a:r>
              <a:rPr sz="2300" b="1" kern="0" spc="1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月线的可信度最大</a:t>
            </a:r>
            <a:r>
              <a:rPr sz="2300" b="1" kern="0" spc="2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b="1" kern="0" spc="1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300" b="1" kern="0" spc="-2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b="1" kern="0" spc="1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周线</a:t>
            </a:r>
            <a:r>
              <a:rPr sz="2300" b="1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其次</a:t>
            </a:r>
            <a:r>
              <a:rPr sz="2300" b="1" kern="0" spc="2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b="1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300" b="1" kern="0" spc="-2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b="1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最后是日线。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sz="2300" b="1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</a:t>
            </a:r>
            <a:r>
              <a:rPr sz="2300" b="1" kern="0" spc="2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b="1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300" b="1" kern="0" spc="-2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b="1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投资者通过分析日K线预测后市</a:t>
            </a:r>
            <a:r>
              <a:rPr sz="2300" b="1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</a:t>
            </a:r>
            <a:r>
              <a:rPr sz="2300" b="1" kern="0" spc="2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b="1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300" b="1" kern="0" spc="-2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b="1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sz="2300" b="1" kern="0" spc="2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合周线和月线使用效</a:t>
            </a:r>
            <a:r>
              <a:rPr sz="2300" b="1" kern="0" spc="2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果最好。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4" name="textbox 234"/>
          <p:cNvSpPr/>
          <p:nvPr/>
        </p:nvSpPr>
        <p:spPr>
          <a:xfrm>
            <a:off x="2690643" y="1880940"/>
            <a:ext cx="7863840" cy="648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根据K线时间周期的不同，</a:t>
            </a:r>
            <a:r>
              <a:rPr sz="2000" kern="0" spc="-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K线可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以分为1分钟K线、</a:t>
            </a:r>
            <a:r>
              <a:rPr sz="20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5分钟K线、</a:t>
            </a:r>
            <a:r>
              <a:rPr sz="2000" kern="0" spc="-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15分钟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610" algn="l" rtl="0" eaLnBrk="0">
              <a:lnSpc>
                <a:spcPts val="2920"/>
              </a:lnSpc>
            </a:pP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K线、</a:t>
            </a:r>
            <a:r>
              <a:rPr sz="2000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30分钟K线、</a:t>
            </a:r>
            <a:r>
              <a:rPr sz="2000" kern="0" spc="-3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60分钟K线、 日K线、周K线、月</a:t>
            </a: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K线、年K线等。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36" name="picture 2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451847" y="3947159"/>
            <a:ext cx="1604771" cy="1391411"/>
          </a:xfrm>
          <a:prstGeom prst="rect">
            <a:avLst/>
          </a:prstGeom>
        </p:spPr>
      </p:pic>
      <p:pic>
        <p:nvPicPr>
          <p:cNvPr id="238" name="picture 2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pic>
        <p:nvPicPr>
          <p:cNvPr id="242" name="picture 2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  <p:sp>
        <p:nvSpPr>
          <p:cNvPr id="244" name="textbox 244"/>
          <p:cNvSpPr/>
          <p:nvPr/>
        </p:nvSpPr>
        <p:spPr>
          <a:xfrm>
            <a:off x="1848883" y="286546"/>
            <a:ext cx="1633220" cy="508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3500" b="1" kern="0" spc="-70" dirty="0">
                <a:solidFill>
                  <a:srgbClr val="D413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K线分类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0" name="group 20"/>
          <p:cNvGrpSpPr/>
          <p:nvPr/>
        </p:nvGrpSpPr>
        <p:grpSpPr>
          <a:xfrm rot="21600000">
            <a:off x="1592262" y="1811337"/>
            <a:ext cx="846137" cy="485775"/>
            <a:chOff x="0" y="0"/>
            <a:chExt cx="846137" cy="485775"/>
          </a:xfrm>
        </p:grpSpPr>
        <p:sp>
          <p:nvSpPr>
            <p:cNvPr id="246" name="path 246"/>
            <p:cNvSpPr/>
            <p:nvPr/>
          </p:nvSpPr>
          <p:spPr>
            <a:xfrm>
              <a:off x="0" y="0"/>
              <a:ext cx="521385" cy="485775"/>
            </a:xfrm>
            <a:custGeom>
              <a:avLst/>
              <a:gdLst/>
              <a:ahLst/>
              <a:cxnLst/>
              <a:rect l="0" t="0" r="0" b="0"/>
              <a:pathLst>
                <a:path w="821" h="765">
                  <a:moveTo>
                    <a:pt x="362" y="0"/>
                  </a:moveTo>
                  <a:lnTo>
                    <a:pt x="821" y="765"/>
                  </a:lnTo>
                  <a:lnTo>
                    <a:pt x="441" y="765"/>
                  </a:lnTo>
                  <a:lnTo>
                    <a:pt x="0" y="27"/>
                  </a:lnTo>
                  <a:lnTo>
                    <a:pt x="362" y="0"/>
                  </a:lnTo>
                </a:path>
              </a:pathLst>
            </a:custGeom>
            <a:solidFill>
              <a:srgbClr val="59595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48" name="path 248"/>
            <p:cNvSpPr/>
            <p:nvPr/>
          </p:nvSpPr>
          <p:spPr>
            <a:xfrm>
              <a:off x="324751" y="0"/>
              <a:ext cx="521386" cy="485775"/>
            </a:xfrm>
            <a:custGeom>
              <a:avLst/>
              <a:gdLst/>
              <a:ahLst/>
              <a:cxnLst/>
              <a:rect l="0" t="0" r="0" b="0"/>
              <a:pathLst>
                <a:path w="821" h="765">
                  <a:moveTo>
                    <a:pt x="362" y="0"/>
                  </a:moveTo>
                  <a:lnTo>
                    <a:pt x="821" y="765"/>
                  </a:lnTo>
                  <a:lnTo>
                    <a:pt x="441" y="765"/>
                  </a:lnTo>
                  <a:lnTo>
                    <a:pt x="0" y="27"/>
                  </a:lnTo>
                  <a:lnTo>
                    <a:pt x="362" y="0"/>
                  </a:lnTo>
                </a:path>
              </a:pathLst>
            </a:custGeom>
            <a:solidFill>
              <a:srgbClr val="1D6DC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250" name="picture 2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box 252"/>
          <p:cNvSpPr/>
          <p:nvPr/>
        </p:nvSpPr>
        <p:spPr>
          <a:xfrm rot="19620000">
            <a:off x="2177458" y="4384197"/>
            <a:ext cx="3754754" cy="925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  <a:spcBef>
                <a:spcPts val="0"/>
              </a:spcBef>
            </a:pPr>
            <a:r>
              <a:rPr sz="5800" kern="0" spc="7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4" name="textbox 254"/>
          <p:cNvSpPr/>
          <p:nvPr/>
        </p:nvSpPr>
        <p:spPr>
          <a:xfrm rot="19620000">
            <a:off x="6045913" y="1866762"/>
            <a:ext cx="3755390" cy="932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7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6" name="textbox 256"/>
          <p:cNvSpPr/>
          <p:nvPr/>
        </p:nvSpPr>
        <p:spPr>
          <a:xfrm>
            <a:off x="2372508" y="1761288"/>
            <a:ext cx="8053069" cy="6496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根据开盘价、收盘价、最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高价和最低价相互之间的不同的特殊取值，</a:t>
            </a:r>
            <a:r>
              <a:rPr sz="2000" kern="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2920"/>
              </a:lnSpc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具有12种形状。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58" name="picture 2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 rot="21600000">
            <a:off x="1579245" y="714375"/>
            <a:ext cx="8549639" cy="22859"/>
            <a:chOff x="0" y="0"/>
            <a:chExt cx="8549639" cy="22859"/>
          </a:xfrm>
        </p:grpSpPr>
        <p:sp>
          <p:nvSpPr>
            <p:cNvPr id="260" name="path 260"/>
            <p:cNvSpPr/>
            <p:nvPr/>
          </p:nvSpPr>
          <p:spPr>
            <a:xfrm>
              <a:off x="0" y="0"/>
              <a:ext cx="243204" cy="22859"/>
            </a:xfrm>
            <a:custGeom>
              <a:avLst/>
              <a:gdLst/>
              <a:ahLst/>
              <a:cxnLst/>
              <a:rect l="0" t="0" r="0" b="0"/>
              <a:pathLst>
                <a:path w="382" h="35">
                  <a:moveTo>
                    <a:pt x="0" y="17"/>
                  </a:moveTo>
                  <a:lnTo>
                    <a:pt x="382" y="17"/>
                  </a:lnTo>
                </a:path>
              </a:pathLst>
            </a:custGeom>
            <a:noFill/>
            <a:ln w="22859" cap="flat">
              <a:solidFill>
                <a:srgbClr val="000000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62" name="path 262"/>
            <p:cNvSpPr/>
            <p:nvPr/>
          </p:nvSpPr>
          <p:spPr>
            <a:xfrm>
              <a:off x="243204" y="0"/>
              <a:ext cx="2560954" cy="22859"/>
            </a:xfrm>
            <a:custGeom>
              <a:avLst/>
              <a:gdLst/>
              <a:ahLst/>
              <a:cxnLst/>
              <a:rect l="0" t="0" r="0" b="0"/>
              <a:pathLst>
                <a:path w="4032" h="35">
                  <a:moveTo>
                    <a:pt x="0" y="17"/>
                  </a:moveTo>
                  <a:lnTo>
                    <a:pt x="4032" y="17"/>
                  </a:lnTo>
                </a:path>
              </a:pathLst>
            </a:custGeom>
            <a:noFill/>
            <a:ln w="22859" cap="flat">
              <a:solidFill>
                <a:srgbClr val="D4130C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64" name="path 264"/>
            <p:cNvSpPr/>
            <p:nvPr/>
          </p:nvSpPr>
          <p:spPr>
            <a:xfrm>
              <a:off x="2804159" y="0"/>
              <a:ext cx="5745479" cy="22859"/>
            </a:xfrm>
            <a:custGeom>
              <a:avLst/>
              <a:gdLst/>
              <a:ahLst/>
              <a:cxnLst/>
              <a:rect l="0" t="0" r="0" b="0"/>
              <a:pathLst>
                <a:path w="9047" h="35">
                  <a:moveTo>
                    <a:pt x="0" y="17"/>
                  </a:moveTo>
                  <a:lnTo>
                    <a:pt x="9047" y="17"/>
                  </a:lnTo>
                </a:path>
              </a:pathLst>
            </a:custGeom>
            <a:noFill/>
            <a:ln w="22859" cap="flat">
              <a:solidFill>
                <a:srgbClr val="000000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268" name="picture 2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286244" y="3253740"/>
            <a:ext cx="685800" cy="2514600"/>
          </a:xfrm>
          <a:prstGeom prst="rect">
            <a:avLst/>
          </a:prstGeom>
        </p:spPr>
      </p:pic>
      <p:pic>
        <p:nvPicPr>
          <p:cNvPr id="270" name="picture 2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113519" y="3025140"/>
            <a:ext cx="533400" cy="2686811"/>
          </a:xfrm>
          <a:prstGeom prst="rect">
            <a:avLst/>
          </a:prstGeom>
        </p:spPr>
      </p:pic>
      <p:pic>
        <p:nvPicPr>
          <p:cNvPr id="272" name="picture 2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275319" y="3159251"/>
            <a:ext cx="533400" cy="2610611"/>
          </a:xfrm>
          <a:prstGeom prst="rect">
            <a:avLst/>
          </a:prstGeom>
        </p:spPr>
      </p:pic>
      <p:sp>
        <p:nvSpPr>
          <p:cNvPr id="274" name="textbox 274"/>
          <p:cNvSpPr/>
          <p:nvPr/>
        </p:nvSpPr>
        <p:spPr>
          <a:xfrm>
            <a:off x="1848476" y="247175"/>
            <a:ext cx="2543810" cy="5092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500" b="1" kern="0" spc="-20" dirty="0">
                <a:solidFill>
                  <a:srgbClr val="D413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K线基本形态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6" name="picture 27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839467" y="2987040"/>
            <a:ext cx="342900" cy="3162300"/>
          </a:xfrm>
          <a:prstGeom prst="rect">
            <a:avLst/>
          </a:prstGeom>
        </p:spPr>
      </p:pic>
      <p:pic>
        <p:nvPicPr>
          <p:cNvPr id="278" name="picture 27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401887" y="3025140"/>
            <a:ext cx="321944" cy="3124200"/>
          </a:xfrm>
          <a:prstGeom prst="rect">
            <a:avLst/>
          </a:prstGeom>
        </p:spPr>
      </p:pic>
      <p:pic>
        <p:nvPicPr>
          <p:cNvPr id="280" name="picture 28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915852" y="2872740"/>
            <a:ext cx="321944" cy="2749295"/>
          </a:xfrm>
          <a:prstGeom prst="rect">
            <a:avLst/>
          </a:prstGeom>
        </p:spPr>
      </p:pic>
      <p:pic>
        <p:nvPicPr>
          <p:cNvPr id="282" name="picture 28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438264" y="3778884"/>
            <a:ext cx="323850" cy="2522855"/>
          </a:xfrm>
          <a:prstGeom prst="rect">
            <a:avLst/>
          </a:prstGeom>
        </p:spPr>
      </p:pic>
      <p:sp>
        <p:nvSpPr>
          <p:cNvPr id="284" name="rect 284"/>
          <p:cNvSpPr/>
          <p:nvPr/>
        </p:nvSpPr>
        <p:spPr>
          <a:xfrm>
            <a:off x="3153155" y="3692652"/>
            <a:ext cx="342900" cy="1943100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6" name="rect 286"/>
          <p:cNvSpPr/>
          <p:nvPr/>
        </p:nvSpPr>
        <p:spPr>
          <a:xfrm>
            <a:off x="4372355" y="3692652"/>
            <a:ext cx="342900" cy="1943100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8" name="rect 288"/>
          <p:cNvSpPr/>
          <p:nvPr/>
        </p:nvSpPr>
        <p:spPr>
          <a:xfrm>
            <a:off x="5896355" y="3768852"/>
            <a:ext cx="342900" cy="1866900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290" name="table 290"/>
          <p:cNvGraphicFramePr>
            <a:graphicFrameLocks noGrp="1"/>
          </p:cNvGraphicFramePr>
          <p:nvPr/>
        </p:nvGraphicFramePr>
        <p:xfrm>
          <a:off x="3695700" y="3702684"/>
          <a:ext cx="323850" cy="1913889"/>
        </p:xfrm>
        <a:graphic>
          <a:graphicData uri="http://schemas.openxmlformats.org/drawingml/2006/table">
            <a:tbl>
              <a:tblPr>
                <a:solidFill>
                  <a:srgbClr val="00B050"/>
                </a:solidFill>
              </a:tblPr>
              <a:tblGrid>
                <a:gridCol w="323850"/>
              </a:tblGrid>
              <a:tr h="19043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grpSp>
        <p:nvGrpSpPr>
          <p:cNvPr id="24" name="group 24"/>
          <p:cNvGrpSpPr/>
          <p:nvPr/>
        </p:nvGrpSpPr>
        <p:grpSpPr>
          <a:xfrm rot="21600000">
            <a:off x="1273175" y="1693862"/>
            <a:ext cx="847725" cy="485775"/>
            <a:chOff x="0" y="0"/>
            <a:chExt cx="847725" cy="485775"/>
          </a:xfrm>
        </p:grpSpPr>
        <p:sp>
          <p:nvSpPr>
            <p:cNvPr id="292" name="path 292"/>
            <p:cNvSpPr/>
            <p:nvPr/>
          </p:nvSpPr>
          <p:spPr>
            <a:xfrm>
              <a:off x="0" y="0"/>
              <a:ext cx="522363" cy="485775"/>
            </a:xfrm>
            <a:custGeom>
              <a:avLst/>
              <a:gdLst/>
              <a:ahLst/>
              <a:cxnLst/>
              <a:rect l="0" t="0" r="0" b="0"/>
              <a:pathLst>
                <a:path w="822" h="765">
                  <a:moveTo>
                    <a:pt x="363" y="0"/>
                  </a:moveTo>
                  <a:lnTo>
                    <a:pt x="822" y="765"/>
                  </a:lnTo>
                  <a:lnTo>
                    <a:pt x="442" y="765"/>
                  </a:lnTo>
                  <a:lnTo>
                    <a:pt x="0" y="27"/>
                  </a:lnTo>
                  <a:lnTo>
                    <a:pt x="363" y="0"/>
                  </a:lnTo>
                </a:path>
              </a:pathLst>
            </a:custGeom>
            <a:solidFill>
              <a:srgbClr val="59595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94" name="path 294"/>
            <p:cNvSpPr/>
            <p:nvPr/>
          </p:nvSpPr>
          <p:spPr>
            <a:xfrm>
              <a:off x="325361" y="0"/>
              <a:ext cx="522363" cy="485775"/>
            </a:xfrm>
            <a:custGeom>
              <a:avLst/>
              <a:gdLst/>
              <a:ahLst/>
              <a:cxnLst/>
              <a:rect l="0" t="0" r="0" b="0"/>
              <a:pathLst>
                <a:path w="822" h="765">
                  <a:moveTo>
                    <a:pt x="363" y="0"/>
                  </a:moveTo>
                  <a:lnTo>
                    <a:pt x="822" y="765"/>
                  </a:lnTo>
                  <a:lnTo>
                    <a:pt x="442" y="765"/>
                  </a:lnTo>
                  <a:lnTo>
                    <a:pt x="0" y="27"/>
                  </a:lnTo>
                  <a:lnTo>
                    <a:pt x="363" y="0"/>
                  </a:lnTo>
                </a:path>
              </a:pathLst>
            </a:custGeom>
            <a:solidFill>
              <a:srgbClr val="1D6DC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296" name="picture 29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sp>
        <p:nvSpPr>
          <p:cNvPr id="298" name="rect 298"/>
          <p:cNvSpPr/>
          <p:nvPr/>
        </p:nvSpPr>
        <p:spPr>
          <a:xfrm>
            <a:off x="4524755" y="2948940"/>
            <a:ext cx="38100" cy="762000"/>
          </a:xfrm>
          <a:prstGeom prst="rect">
            <a:avLst/>
          </a:prstGeom>
          <a:solidFill>
            <a:srgbClr val="F9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00" name="picture 30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6048755" y="5615940"/>
            <a:ext cx="38100" cy="685800"/>
          </a:xfrm>
          <a:prstGeom prst="rect">
            <a:avLst/>
          </a:prstGeom>
        </p:spPr>
      </p:pic>
      <p:pic>
        <p:nvPicPr>
          <p:cNvPr id="302" name="picture 30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9951719" y="4149852"/>
            <a:ext cx="381000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box 304"/>
          <p:cNvSpPr/>
          <p:nvPr/>
        </p:nvSpPr>
        <p:spPr>
          <a:xfrm rot="19620000">
            <a:off x="1802023" y="3110557"/>
            <a:ext cx="8356600" cy="9537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  <a:spcBef>
                <a:spcPts val="5"/>
              </a:spcBef>
            </a:pPr>
            <a:r>
              <a:rPr sz="5800" kern="0" spc="1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</a:t>
            </a:r>
            <a:r>
              <a:rPr sz="5800" kern="0" spc="2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sz="5800" kern="0" spc="1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6" name="picture 3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849879" y="3596640"/>
            <a:ext cx="7083552" cy="2776727"/>
          </a:xfrm>
          <a:prstGeom prst="rect">
            <a:avLst/>
          </a:prstGeom>
        </p:spPr>
      </p:pic>
      <p:sp>
        <p:nvSpPr>
          <p:cNvPr id="308" name="textbox 308"/>
          <p:cNvSpPr/>
          <p:nvPr/>
        </p:nvSpPr>
        <p:spPr>
          <a:xfrm>
            <a:off x="2372508" y="1832285"/>
            <a:ext cx="8736330" cy="11347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96595" algn="l" rtl="0" eaLnBrk="0">
              <a:lnSpc>
                <a:spcPct val="91000"/>
              </a:lnSpc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一根K线记录的是一个交易单位时间内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价格的变动情况。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9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677545" algn="l" rtl="0" eaLnBrk="0">
              <a:lnSpc>
                <a:spcPct val="120000"/>
              </a:lnSpc>
              <a:spcBef>
                <a:spcPts val="5"/>
              </a:spcBef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将每个交易时间的K线顺序排列在一起 ，就组成该证券价格的历史变动情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况，</a:t>
            </a:r>
            <a:r>
              <a:rPr sz="2000" kern="0" spc="-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叫做K线图。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0" name="picture 3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pic>
        <p:nvPicPr>
          <p:cNvPr id="314" name="picture 3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  <p:sp>
        <p:nvSpPr>
          <p:cNvPr id="316" name="textbox 316"/>
          <p:cNvSpPr/>
          <p:nvPr/>
        </p:nvSpPr>
        <p:spPr>
          <a:xfrm>
            <a:off x="1848883" y="285912"/>
            <a:ext cx="1179830" cy="508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3500" b="1" kern="0" spc="-110" dirty="0">
                <a:solidFill>
                  <a:srgbClr val="D413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K线图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6" name="group 26"/>
          <p:cNvGrpSpPr/>
          <p:nvPr/>
        </p:nvGrpSpPr>
        <p:grpSpPr>
          <a:xfrm rot="21600000">
            <a:off x="1273175" y="1746250"/>
            <a:ext cx="847725" cy="485775"/>
            <a:chOff x="0" y="0"/>
            <a:chExt cx="847725" cy="485775"/>
          </a:xfrm>
        </p:grpSpPr>
        <p:sp>
          <p:nvSpPr>
            <p:cNvPr id="318" name="path 318"/>
            <p:cNvSpPr/>
            <p:nvPr/>
          </p:nvSpPr>
          <p:spPr>
            <a:xfrm>
              <a:off x="0" y="0"/>
              <a:ext cx="522363" cy="485775"/>
            </a:xfrm>
            <a:custGeom>
              <a:avLst/>
              <a:gdLst/>
              <a:ahLst/>
              <a:cxnLst/>
              <a:rect l="0" t="0" r="0" b="0"/>
              <a:pathLst>
                <a:path w="822" h="765">
                  <a:moveTo>
                    <a:pt x="363" y="0"/>
                  </a:moveTo>
                  <a:lnTo>
                    <a:pt x="822" y="765"/>
                  </a:lnTo>
                  <a:lnTo>
                    <a:pt x="442" y="765"/>
                  </a:lnTo>
                  <a:lnTo>
                    <a:pt x="0" y="27"/>
                  </a:lnTo>
                  <a:lnTo>
                    <a:pt x="363" y="0"/>
                  </a:lnTo>
                </a:path>
              </a:pathLst>
            </a:custGeom>
            <a:solidFill>
              <a:srgbClr val="59595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20" name="path 320"/>
            <p:cNvSpPr/>
            <p:nvPr/>
          </p:nvSpPr>
          <p:spPr>
            <a:xfrm>
              <a:off x="325361" y="0"/>
              <a:ext cx="522363" cy="485775"/>
            </a:xfrm>
            <a:custGeom>
              <a:avLst/>
              <a:gdLst/>
              <a:ahLst/>
              <a:cxnLst/>
              <a:rect l="0" t="0" r="0" b="0"/>
              <a:pathLst>
                <a:path w="822" h="765">
                  <a:moveTo>
                    <a:pt x="363" y="0"/>
                  </a:moveTo>
                  <a:lnTo>
                    <a:pt x="822" y="765"/>
                  </a:lnTo>
                  <a:lnTo>
                    <a:pt x="442" y="765"/>
                  </a:lnTo>
                  <a:lnTo>
                    <a:pt x="0" y="27"/>
                  </a:lnTo>
                  <a:lnTo>
                    <a:pt x="363" y="0"/>
                  </a:lnTo>
                </a:path>
              </a:pathLst>
            </a:custGeom>
            <a:solidFill>
              <a:srgbClr val="1D6DC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322" name="picture 3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textbox 324"/>
          <p:cNvSpPr/>
          <p:nvPr/>
        </p:nvSpPr>
        <p:spPr>
          <a:xfrm rot="19620000">
            <a:off x="1805468" y="3126375"/>
            <a:ext cx="8372475" cy="93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 ，</a:t>
            </a:r>
            <a:r>
              <a:rPr sz="5800" kern="0" spc="-14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6" name="textbox 326"/>
          <p:cNvSpPr/>
          <p:nvPr/>
        </p:nvSpPr>
        <p:spPr>
          <a:xfrm>
            <a:off x="5969444" y="1573364"/>
            <a:ext cx="4782820" cy="48698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8895" algn="l" rtl="0" eaLnBrk="0">
              <a:lnSpc>
                <a:spcPct val="75000"/>
              </a:lnSpc>
            </a:pPr>
            <a:r>
              <a:rPr sz="3800" kern="0" spc="-100" dirty="0">
                <a:solidFill>
                  <a:srgbClr val="4276A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r>
              <a:rPr sz="3800" kern="0" spc="110" dirty="0">
                <a:solidFill>
                  <a:srgbClr val="4276A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</a:t>
            </a:r>
            <a:r>
              <a:rPr sz="2300" b="1" kern="0" spc="-100" dirty="0">
                <a:solidFill>
                  <a:srgbClr val="333F5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一字线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955" algn="l" rtl="0" eaLnBrk="0">
              <a:lnSpc>
                <a:spcPct val="75000"/>
              </a:lnSpc>
              <a:spcBef>
                <a:spcPts val="1965"/>
              </a:spcBef>
            </a:pPr>
            <a:r>
              <a:rPr sz="3900" kern="0" spc="40" dirty="0">
                <a:solidFill>
                  <a:srgbClr val="178AA1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   </a:t>
            </a:r>
            <a:r>
              <a:rPr sz="2300" b="1" kern="0" spc="40" dirty="0">
                <a:solidFill>
                  <a:srgbClr val="333F5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光头光脚阳线或</a:t>
            </a:r>
            <a:r>
              <a:rPr sz="2300" b="1" kern="0" spc="30" dirty="0">
                <a:solidFill>
                  <a:srgbClr val="333F5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阴线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" algn="l" rtl="0" eaLnBrk="0">
              <a:lnSpc>
                <a:spcPct val="80000"/>
              </a:lnSpc>
              <a:spcBef>
                <a:spcPts val="1140"/>
              </a:spcBef>
            </a:pPr>
            <a:r>
              <a:rPr sz="3800" kern="0" spc="40" dirty="0">
                <a:solidFill>
                  <a:srgbClr val="40A69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r>
              <a:rPr sz="3800" kern="0" spc="120" dirty="0">
                <a:solidFill>
                  <a:srgbClr val="40A69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</a:t>
            </a:r>
            <a:r>
              <a:rPr sz="2300" b="1" kern="0" spc="40" dirty="0">
                <a:solidFill>
                  <a:srgbClr val="333F5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光头阳线与光头阴线（锤头）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0000"/>
              </a:lnSpc>
              <a:spcBef>
                <a:spcPts val="1140"/>
              </a:spcBef>
            </a:pPr>
            <a:r>
              <a:rPr sz="3800" kern="0" spc="-80" dirty="0">
                <a:solidFill>
                  <a:srgbClr val="5268A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   </a:t>
            </a:r>
            <a:r>
              <a:rPr sz="2300" b="1" kern="0" spc="-80" dirty="0">
                <a:solidFill>
                  <a:srgbClr val="333F5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光脚阳线与</a:t>
            </a:r>
            <a:r>
              <a:rPr sz="2300" b="1" kern="0" spc="-90" dirty="0">
                <a:solidFill>
                  <a:srgbClr val="333F5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光脚阴线（倒锤头）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79000"/>
              </a:lnSpc>
              <a:spcBef>
                <a:spcPts val="2305"/>
              </a:spcBef>
            </a:pPr>
            <a:r>
              <a:rPr sz="3800" kern="0" spc="20" dirty="0">
                <a:solidFill>
                  <a:srgbClr val="47457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r>
              <a:rPr sz="3800" kern="0" spc="120" dirty="0">
                <a:solidFill>
                  <a:srgbClr val="47457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</a:t>
            </a:r>
            <a:r>
              <a:rPr sz="2300" b="1" kern="0" spc="20" dirty="0">
                <a:solidFill>
                  <a:srgbClr val="333F5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无实体线（十字星）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510" algn="l" rtl="0" eaLnBrk="0">
              <a:lnSpc>
                <a:spcPct val="76000"/>
              </a:lnSpc>
              <a:spcBef>
                <a:spcPts val="1930"/>
              </a:spcBef>
            </a:pPr>
            <a:r>
              <a:rPr sz="3800" kern="0" spc="0" dirty="0">
                <a:solidFill>
                  <a:srgbClr val="47457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6   </a:t>
            </a:r>
            <a:r>
              <a:rPr sz="2300" b="1" kern="0" spc="0" dirty="0">
                <a:solidFill>
                  <a:srgbClr val="333F5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T字线、</a:t>
            </a:r>
            <a:r>
              <a:rPr sz="2300" b="1" kern="0" spc="-370" dirty="0">
                <a:solidFill>
                  <a:srgbClr val="333F5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b="1" kern="0" spc="0" dirty="0">
                <a:solidFill>
                  <a:srgbClr val="333F5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倒T字线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5000"/>
              </a:lnSpc>
            </a:pPr>
            <a:endParaRPr sz="1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1910" algn="l" rtl="0" eaLnBrk="0">
              <a:lnSpc>
                <a:spcPct val="75000"/>
              </a:lnSpc>
            </a:pPr>
            <a:r>
              <a:rPr sz="3900" kern="0" spc="0" dirty="0">
                <a:solidFill>
                  <a:srgbClr val="47457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7   </a:t>
            </a:r>
            <a:r>
              <a:rPr sz="2300" b="1" kern="0" spc="0" dirty="0">
                <a:solidFill>
                  <a:srgbClr val="333F5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大阳线、</a:t>
            </a:r>
            <a:r>
              <a:rPr sz="2300" b="1" kern="0" spc="-420" dirty="0">
                <a:solidFill>
                  <a:srgbClr val="333F5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b="1" kern="0" spc="0" dirty="0">
                <a:solidFill>
                  <a:srgbClr val="333F5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大阴线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28" name="picture 3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69619" y="1623060"/>
            <a:ext cx="3924300" cy="4690871"/>
          </a:xfrm>
          <a:prstGeom prst="rect">
            <a:avLst/>
          </a:prstGeom>
        </p:spPr>
      </p:pic>
      <p:pic>
        <p:nvPicPr>
          <p:cNvPr id="330" name="picture 3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 rot="21600000">
            <a:off x="1579245" y="716279"/>
            <a:ext cx="8549639" cy="22860"/>
            <a:chOff x="0" y="0"/>
            <a:chExt cx="8549639" cy="22860"/>
          </a:xfrm>
        </p:grpSpPr>
        <p:sp>
          <p:nvSpPr>
            <p:cNvPr id="332" name="path 332"/>
            <p:cNvSpPr/>
            <p:nvPr/>
          </p:nvSpPr>
          <p:spPr>
            <a:xfrm>
              <a:off x="0" y="0"/>
              <a:ext cx="211454" cy="22860"/>
            </a:xfrm>
            <a:custGeom>
              <a:avLst/>
              <a:gdLst/>
              <a:ahLst/>
              <a:cxnLst/>
              <a:rect l="0" t="0" r="0" b="0"/>
              <a:pathLst>
                <a:path w="332" h="36">
                  <a:moveTo>
                    <a:pt x="0" y="17"/>
                  </a:moveTo>
                  <a:lnTo>
                    <a:pt x="332" y="17"/>
                  </a:lnTo>
                </a:path>
              </a:pathLst>
            </a:custGeom>
            <a:noFill/>
            <a:ln w="22859" cap="flat">
              <a:solidFill>
                <a:srgbClr val="000000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34" name="path 334"/>
            <p:cNvSpPr/>
            <p:nvPr/>
          </p:nvSpPr>
          <p:spPr>
            <a:xfrm>
              <a:off x="211454" y="0"/>
              <a:ext cx="2728594" cy="22860"/>
            </a:xfrm>
            <a:custGeom>
              <a:avLst/>
              <a:gdLst/>
              <a:ahLst/>
              <a:cxnLst/>
              <a:rect l="0" t="0" r="0" b="0"/>
              <a:pathLst>
                <a:path w="4296" h="36">
                  <a:moveTo>
                    <a:pt x="0" y="17"/>
                  </a:moveTo>
                  <a:lnTo>
                    <a:pt x="4296" y="17"/>
                  </a:lnTo>
                </a:path>
              </a:pathLst>
            </a:custGeom>
            <a:noFill/>
            <a:ln w="22859" cap="flat">
              <a:solidFill>
                <a:srgbClr val="C00000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36" name="path 336"/>
            <p:cNvSpPr/>
            <p:nvPr/>
          </p:nvSpPr>
          <p:spPr>
            <a:xfrm>
              <a:off x="2940049" y="0"/>
              <a:ext cx="5609590" cy="22860"/>
            </a:xfrm>
            <a:custGeom>
              <a:avLst/>
              <a:gdLst/>
              <a:ahLst/>
              <a:cxnLst/>
              <a:rect l="0" t="0" r="0" b="0"/>
              <a:pathLst>
                <a:path w="8834" h="36">
                  <a:moveTo>
                    <a:pt x="0" y="17"/>
                  </a:moveTo>
                  <a:lnTo>
                    <a:pt x="8834" y="17"/>
                  </a:lnTo>
                </a:path>
              </a:pathLst>
            </a:custGeom>
            <a:noFill/>
            <a:ln w="22859" cap="flat">
              <a:solidFill>
                <a:srgbClr val="000000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40" name="textbox 340"/>
          <p:cNvSpPr/>
          <p:nvPr/>
        </p:nvSpPr>
        <p:spPr>
          <a:xfrm>
            <a:off x="1786012" y="248190"/>
            <a:ext cx="2713989" cy="5099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500" b="1" kern="0" spc="20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单根K线形态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0" name="group 30"/>
          <p:cNvGrpSpPr/>
          <p:nvPr/>
        </p:nvGrpSpPr>
        <p:grpSpPr>
          <a:xfrm rot="21600000">
            <a:off x="4851400" y="1462087"/>
            <a:ext cx="708025" cy="919162"/>
            <a:chOff x="0" y="0"/>
            <a:chExt cx="708025" cy="919162"/>
          </a:xfrm>
        </p:grpSpPr>
        <p:sp>
          <p:nvSpPr>
            <p:cNvPr id="342" name="path 342"/>
            <p:cNvSpPr/>
            <p:nvPr/>
          </p:nvSpPr>
          <p:spPr>
            <a:xfrm>
              <a:off x="257327" y="467969"/>
              <a:ext cx="450697" cy="451192"/>
            </a:xfrm>
            <a:custGeom>
              <a:avLst/>
              <a:gdLst/>
              <a:ahLst/>
              <a:cxnLst/>
              <a:rect l="0" t="0" r="0" b="0"/>
              <a:pathLst>
                <a:path w="709" h="710">
                  <a:moveTo>
                    <a:pt x="709" y="0"/>
                  </a:moveTo>
                  <a:lnTo>
                    <a:pt x="709" y="710"/>
                  </a:lnTo>
                  <a:lnTo>
                    <a:pt x="0" y="0"/>
                  </a:lnTo>
                  <a:lnTo>
                    <a:pt x="709" y="0"/>
                  </a:lnTo>
                </a:path>
              </a:pathLst>
            </a:custGeom>
            <a:solidFill>
              <a:srgbClr val="C9CED5">
                <a:alpha val="45882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44" name="path 344"/>
            <p:cNvSpPr/>
            <p:nvPr/>
          </p:nvSpPr>
          <p:spPr>
            <a:xfrm>
              <a:off x="0" y="0"/>
              <a:ext cx="708025" cy="708812"/>
            </a:xfrm>
            <a:custGeom>
              <a:avLst/>
              <a:gdLst/>
              <a:ahLst/>
              <a:cxnLst/>
              <a:rect l="0" t="0" r="0" b="0"/>
              <a:pathLst>
                <a:path w="1115" h="1116">
                  <a:moveTo>
                    <a:pt x="1115" y="0"/>
                  </a:moveTo>
                  <a:lnTo>
                    <a:pt x="1115" y="1116"/>
                  </a:lnTo>
                  <a:lnTo>
                    <a:pt x="0" y="0"/>
                  </a:lnTo>
                  <a:lnTo>
                    <a:pt x="1115" y="0"/>
                  </a:lnTo>
                </a:path>
              </a:pathLst>
            </a:custGeom>
            <a:solidFill>
              <a:srgbClr val="58637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346" name="picture 3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textbox 348"/>
          <p:cNvSpPr/>
          <p:nvPr/>
        </p:nvSpPr>
        <p:spPr>
          <a:xfrm rot="19620000">
            <a:off x="4668028" y="2277647"/>
            <a:ext cx="5269229" cy="93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5"/>
              </a:spcBef>
            </a:pPr>
            <a:r>
              <a:rPr sz="5800" kern="0" spc="-15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险 ，</a:t>
            </a:r>
            <a:r>
              <a:rPr sz="5800" kern="0" spc="-154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800" kern="0" spc="-15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2" name="group 32"/>
          <p:cNvGrpSpPr/>
          <p:nvPr/>
        </p:nvGrpSpPr>
        <p:grpSpPr>
          <a:xfrm rot="21600000">
            <a:off x="1028700" y="3957637"/>
            <a:ext cx="8178800" cy="2184400"/>
            <a:chOff x="0" y="0"/>
            <a:chExt cx="8178800" cy="2184400"/>
          </a:xfrm>
        </p:grpSpPr>
        <p:sp>
          <p:nvSpPr>
            <p:cNvPr id="350" name="path 350"/>
            <p:cNvSpPr/>
            <p:nvPr/>
          </p:nvSpPr>
          <p:spPr>
            <a:xfrm>
              <a:off x="0" y="0"/>
              <a:ext cx="8178800" cy="2184400"/>
            </a:xfrm>
            <a:custGeom>
              <a:avLst/>
              <a:gdLst/>
              <a:ahLst/>
              <a:cxnLst/>
              <a:rect l="0" t="0" r="0" b="0"/>
              <a:pathLst>
                <a:path w="12880" h="3440">
                  <a:moveTo>
                    <a:pt x="0" y="0"/>
                  </a:moveTo>
                  <a:lnTo>
                    <a:pt x="12180" y="0"/>
                  </a:lnTo>
                  <a:lnTo>
                    <a:pt x="12180" y="1276"/>
                  </a:lnTo>
                  <a:lnTo>
                    <a:pt x="12880" y="1720"/>
                  </a:lnTo>
                  <a:lnTo>
                    <a:pt x="12180" y="2164"/>
                  </a:lnTo>
                  <a:lnTo>
                    <a:pt x="12180" y="3440"/>
                  </a:lnTo>
                  <a:lnTo>
                    <a:pt x="0" y="3440"/>
                  </a:lnTo>
                  <a:lnTo>
                    <a:pt x="0" y="0"/>
                  </a:lnTo>
                </a:path>
              </a:pathLst>
            </a:custGeom>
            <a:solidFill>
              <a:srgbClr val="8497B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2" name="textbox 352"/>
            <p:cNvSpPr/>
            <p:nvPr/>
          </p:nvSpPr>
          <p:spPr>
            <a:xfrm>
              <a:off x="-12700" y="-12700"/>
              <a:ext cx="8204200" cy="22345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10490" indent="5080" algn="l" rtl="0" eaLnBrk="0">
                <a:lnSpc>
                  <a:spcPct val="120000"/>
                </a:lnSpc>
              </a:pPr>
              <a:r>
                <a:rPr sz="2000" b="1" kern="0" spc="-5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上涨初期出现一字线 ，投资</a:t>
              </a:r>
              <a:r>
                <a:rPr sz="2000" b="1" kern="0" spc="-6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者应该积极跟进</a:t>
              </a:r>
              <a:r>
                <a:rPr sz="2000" b="1" kern="0" spc="-1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2000" b="1" kern="0" spc="-6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，此时</a:t>
              </a:r>
              <a:r>
                <a:rPr sz="2000" b="1" kern="0" spc="-1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2000" b="1" kern="0" spc="-6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，该股上涨动力</a:t>
              </a:r>
              <a:r>
                <a:rPr sz="2000" b="1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  </a:t>
              </a:r>
              <a:r>
                <a:rPr sz="2000" b="1" kern="0" spc="-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强 ，持续上涨的可能性大。如果已经连续出现了多个一字线</a:t>
              </a:r>
              <a:r>
                <a:rPr sz="2000" b="1" kern="0" spc="-9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2000" b="1" kern="0" spc="-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，建议</a:t>
              </a:r>
              <a:r>
                <a:rPr sz="2000" b="1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  </a:t>
              </a:r>
              <a:r>
                <a:rPr sz="2000" b="1" kern="0" spc="-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投资者就不要继续跟进。下跌初期出现一字线</a:t>
              </a:r>
              <a:r>
                <a:rPr sz="2000" b="1" kern="0" spc="-1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2000" b="1" kern="0" spc="-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，投资者应果断平仓</a:t>
              </a:r>
              <a:r>
                <a:rPr sz="2000" b="1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  </a:t>
              </a:r>
              <a:r>
                <a:rPr sz="2000" b="1" kern="0" spc="-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出货 ，如果连续出现多个下跌的一字线</a:t>
              </a:r>
              <a:r>
                <a:rPr sz="2000" b="1" kern="0" spc="-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2000" b="1" kern="0" spc="-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，此时可以等反弹再出货。</a:t>
              </a:r>
              <a:endParaRPr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354" name="textbox 354"/>
          <p:cNvSpPr/>
          <p:nvPr/>
        </p:nvSpPr>
        <p:spPr>
          <a:xfrm>
            <a:off x="2604027" y="1805359"/>
            <a:ext cx="8402955" cy="9378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686435" algn="l" rtl="0" eaLnBrk="0">
              <a:lnSpc>
                <a:spcPct val="100000"/>
              </a:lnSpc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一字线是指以涨停板或跌停板开盘 ，全天基本上都在涨停板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或跌停板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价格成交 ，直到收盘为止 ，即当日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的开盘价、收盘价、最低价、最高价粘连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在一起</a:t>
            </a:r>
            <a:r>
              <a:rPr sz="2000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，形成一字形状。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56" name="picture 3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710927" y="4826507"/>
            <a:ext cx="1705355" cy="1482851"/>
          </a:xfrm>
          <a:prstGeom prst="rect">
            <a:avLst/>
          </a:prstGeom>
        </p:spPr>
      </p:pic>
      <p:pic>
        <p:nvPicPr>
          <p:cNvPr id="358" name="picture 3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pic>
        <p:nvPicPr>
          <p:cNvPr id="362" name="picture 3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  <p:sp>
        <p:nvSpPr>
          <p:cNvPr id="364" name="textbox 364"/>
          <p:cNvSpPr/>
          <p:nvPr/>
        </p:nvSpPr>
        <p:spPr>
          <a:xfrm>
            <a:off x="1796547" y="284474"/>
            <a:ext cx="1362075" cy="5092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500" b="1" kern="0" spc="0" dirty="0">
                <a:solidFill>
                  <a:srgbClr val="D413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一字线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4" name="group 34"/>
          <p:cNvGrpSpPr/>
          <p:nvPr/>
        </p:nvGrpSpPr>
        <p:grpSpPr>
          <a:xfrm rot="21600000">
            <a:off x="1506537" y="1736725"/>
            <a:ext cx="847725" cy="485775"/>
            <a:chOff x="0" y="0"/>
            <a:chExt cx="847725" cy="485775"/>
          </a:xfrm>
        </p:grpSpPr>
        <p:sp>
          <p:nvSpPr>
            <p:cNvPr id="366" name="path 366"/>
            <p:cNvSpPr/>
            <p:nvPr/>
          </p:nvSpPr>
          <p:spPr>
            <a:xfrm>
              <a:off x="0" y="0"/>
              <a:ext cx="522363" cy="485775"/>
            </a:xfrm>
            <a:custGeom>
              <a:avLst/>
              <a:gdLst/>
              <a:ahLst/>
              <a:cxnLst/>
              <a:rect l="0" t="0" r="0" b="0"/>
              <a:pathLst>
                <a:path w="822" h="765">
                  <a:moveTo>
                    <a:pt x="363" y="0"/>
                  </a:moveTo>
                  <a:lnTo>
                    <a:pt x="822" y="765"/>
                  </a:lnTo>
                  <a:lnTo>
                    <a:pt x="442" y="765"/>
                  </a:lnTo>
                  <a:lnTo>
                    <a:pt x="0" y="27"/>
                  </a:lnTo>
                  <a:lnTo>
                    <a:pt x="363" y="0"/>
                  </a:lnTo>
                </a:path>
              </a:pathLst>
            </a:custGeom>
            <a:solidFill>
              <a:srgbClr val="59595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8" name="path 368"/>
            <p:cNvSpPr/>
            <p:nvPr/>
          </p:nvSpPr>
          <p:spPr>
            <a:xfrm>
              <a:off x="325361" y="0"/>
              <a:ext cx="522364" cy="485775"/>
            </a:xfrm>
            <a:custGeom>
              <a:avLst/>
              <a:gdLst/>
              <a:ahLst/>
              <a:cxnLst/>
              <a:rect l="0" t="0" r="0" b="0"/>
              <a:pathLst>
                <a:path w="822" h="765">
                  <a:moveTo>
                    <a:pt x="363" y="0"/>
                  </a:moveTo>
                  <a:lnTo>
                    <a:pt x="822" y="765"/>
                  </a:lnTo>
                  <a:lnTo>
                    <a:pt x="442" y="765"/>
                  </a:lnTo>
                  <a:lnTo>
                    <a:pt x="0" y="27"/>
                  </a:lnTo>
                  <a:lnTo>
                    <a:pt x="363" y="0"/>
                  </a:lnTo>
                </a:path>
              </a:pathLst>
            </a:custGeom>
            <a:solidFill>
              <a:srgbClr val="1D6DC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370" name="picture 3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sp>
        <p:nvSpPr>
          <p:cNvPr id="372" name="path 372"/>
          <p:cNvSpPr/>
          <p:nvPr/>
        </p:nvSpPr>
        <p:spPr>
          <a:xfrm>
            <a:off x="5591555" y="3363467"/>
            <a:ext cx="1583435" cy="48767"/>
          </a:xfrm>
          <a:custGeom>
            <a:avLst/>
            <a:gdLst/>
            <a:ahLst/>
            <a:cxnLst/>
            <a:rect l="0" t="0" r="0" b="0"/>
            <a:pathLst>
              <a:path w="2493" h="76">
                <a:moveTo>
                  <a:pt x="0" y="0"/>
                </a:moveTo>
                <a:lnTo>
                  <a:pt x="794" y="0"/>
                </a:lnTo>
                <a:lnTo>
                  <a:pt x="794" y="76"/>
                </a:lnTo>
                <a:lnTo>
                  <a:pt x="0" y="76"/>
                </a:lnTo>
                <a:lnTo>
                  <a:pt x="0" y="0"/>
                </a:lnTo>
                <a:close/>
              </a:path>
              <a:path w="2493" h="76">
                <a:moveTo>
                  <a:pt x="1699" y="0"/>
                </a:moveTo>
                <a:lnTo>
                  <a:pt x="2493" y="0"/>
                </a:lnTo>
                <a:lnTo>
                  <a:pt x="2493" y="76"/>
                </a:lnTo>
                <a:lnTo>
                  <a:pt x="1699" y="76"/>
                </a:lnTo>
                <a:lnTo>
                  <a:pt x="1699" y="0"/>
                </a:lnTo>
                <a:close/>
              </a:path>
            </a:pathLst>
          </a:custGeom>
          <a:solidFill>
            <a:srgbClr val="00B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4" name="rect 374"/>
          <p:cNvSpPr/>
          <p:nvPr/>
        </p:nvSpPr>
        <p:spPr>
          <a:xfrm>
            <a:off x="6167628" y="3148583"/>
            <a:ext cx="504443" cy="47244"/>
          </a:xfrm>
          <a:prstGeom prst="rect">
            <a:avLst/>
          </a:prstGeom>
          <a:solidFill>
            <a:srgbClr val="00B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6" name="rect 376"/>
          <p:cNvSpPr/>
          <p:nvPr/>
        </p:nvSpPr>
        <p:spPr>
          <a:xfrm>
            <a:off x="5017008" y="3579875"/>
            <a:ext cx="502920" cy="47244"/>
          </a:xfrm>
          <a:prstGeom prst="rect">
            <a:avLst/>
          </a:prstGeom>
          <a:solidFill>
            <a:srgbClr val="00B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picture 37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864096" y="1597152"/>
            <a:ext cx="2892552" cy="1840991"/>
          </a:xfrm>
          <a:prstGeom prst="rect">
            <a:avLst/>
          </a:prstGeom>
        </p:spPr>
      </p:pic>
      <p:sp>
        <p:nvSpPr>
          <p:cNvPr id="380" name="textbox 380"/>
          <p:cNvSpPr/>
          <p:nvPr/>
        </p:nvSpPr>
        <p:spPr>
          <a:xfrm rot="19620000">
            <a:off x="1805468" y="3137170"/>
            <a:ext cx="8372475" cy="93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 ，</a:t>
            </a:r>
            <a:r>
              <a:rPr sz="5800" kern="0" spc="-14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82" name="picture 3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81940" y="3381755"/>
            <a:ext cx="3154680" cy="2668524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 rot="21600000">
            <a:off x="8775192" y="3462528"/>
            <a:ext cx="3145535" cy="2587751"/>
            <a:chOff x="0" y="0"/>
            <a:chExt cx="3145535" cy="2587751"/>
          </a:xfrm>
        </p:grpSpPr>
        <p:pic>
          <p:nvPicPr>
            <p:cNvPr id="384" name="picture 38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3145535" cy="2587751"/>
            </a:xfrm>
            <a:prstGeom prst="rect">
              <a:avLst/>
            </a:prstGeom>
          </p:spPr>
        </p:pic>
        <p:sp>
          <p:nvSpPr>
            <p:cNvPr id="386" name="textbox 386"/>
            <p:cNvSpPr/>
            <p:nvPr/>
          </p:nvSpPr>
          <p:spPr>
            <a:xfrm>
              <a:off x="-12700" y="-12700"/>
              <a:ext cx="3171189" cy="26409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814070" algn="l" rtl="0" eaLnBrk="0">
                <a:lnSpc>
                  <a:spcPct val="91000"/>
                </a:lnSpc>
                <a:spcBef>
                  <a:spcPts val="5"/>
                </a:spcBef>
              </a:pPr>
              <a:r>
                <a:rPr sz="2000" b="1" kern="0" spc="-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卖方占据绝对</a:t>
              </a:r>
              <a:endParaRPr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805180" algn="l" rtl="0" eaLnBrk="0">
                <a:lnSpc>
                  <a:spcPct val="91000"/>
                </a:lnSpc>
                <a:spcBef>
                  <a:spcPts val="210"/>
                </a:spcBef>
              </a:pPr>
              <a:r>
                <a:rPr sz="2000" b="1" kern="0" spc="-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优势；极度脆</a:t>
              </a:r>
              <a:endParaRPr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101725" algn="l" rtl="0" eaLnBrk="0">
                <a:lnSpc>
                  <a:spcPct val="91000"/>
                </a:lnSpc>
                <a:spcBef>
                  <a:spcPts val="210"/>
                </a:spcBef>
              </a:pPr>
              <a:r>
                <a:rPr sz="2000" b="1" kern="0" spc="-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弱的K线</a:t>
              </a:r>
              <a:endParaRPr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 rot="21600000">
            <a:off x="1565147" y="1662684"/>
            <a:ext cx="2894076" cy="1839467"/>
            <a:chOff x="0" y="0"/>
            <a:chExt cx="2894076" cy="1839467"/>
          </a:xfrm>
        </p:grpSpPr>
        <p:pic>
          <p:nvPicPr>
            <p:cNvPr id="388" name="picture 38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2894076" cy="1839467"/>
            </a:xfrm>
            <a:prstGeom prst="rect">
              <a:avLst/>
            </a:prstGeom>
          </p:spPr>
        </p:pic>
        <p:sp>
          <p:nvSpPr>
            <p:cNvPr id="390" name="textbox 390"/>
            <p:cNvSpPr/>
            <p:nvPr/>
          </p:nvSpPr>
          <p:spPr>
            <a:xfrm>
              <a:off x="-12700" y="-12700"/>
              <a:ext cx="2919729" cy="188785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95580" indent="2540" algn="l" rtl="0" eaLnBrk="0">
                <a:lnSpc>
                  <a:spcPct val="101000"/>
                </a:lnSpc>
                <a:spcBef>
                  <a:spcPts val="5"/>
                </a:spcBef>
              </a:pPr>
              <a:r>
                <a:rPr sz="1700" b="1" kern="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光阳线：</a:t>
              </a:r>
              <a:r>
                <a:rPr sz="1700" b="1" kern="0" spc="-2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700" b="1" kern="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价格一路上</a:t>
              </a:r>
              <a:r>
                <a:rPr sz="1700" b="1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   </a:t>
              </a:r>
              <a:r>
                <a:rPr sz="1700" b="1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扬直至收盘 ，</a:t>
              </a:r>
              <a:r>
                <a:rPr sz="1700" b="1" kern="0" spc="-2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700" b="1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买方疯           </a:t>
              </a:r>
              <a:r>
                <a:rPr sz="1700" b="1" kern="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狂涌进 ，不限价买进 ，</a:t>
              </a:r>
              <a:r>
                <a:rPr sz="1700" b="1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</a:t>
              </a:r>
              <a:r>
                <a:rPr sz="1700" b="1" kern="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股市呈现高潮。</a:t>
              </a:r>
              <a:r>
                <a:rPr sz="1700" b="1" kern="0" spc="-2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700" b="1" kern="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股市</a:t>
              </a:r>
              <a:r>
                <a:rPr sz="1700" b="1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   </a:t>
              </a:r>
              <a:r>
                <a:rPr sz="1700" b="1" kern="0" spc="-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出现供不应求的局面。</a:t>
              </a:r>
              <a:endParaRPr sz="1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392" name="textbox 392"/>
          <p:cNvSpPr/>
          <p:nvPr/>
        </p:nvSpPr>
        <p:spPr>
          <a:xfrm>
            <a:off x="7356750" y="1806022"/>
            <a:ext cx="2294254" cy="13385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1000"/>
              </a:lnSpc>
              <a:spcBef>
                <a:spcPts val="0"/>
              </a:spcBef>
            </a:pP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光阴线：</a:t>
            </a:r>
            <a:r>
              <a:rPr sz="1700" b="1" kern="0" spc="-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市场一面倒下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b="1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跌直至收盘 ，握有股票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b="1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者不限价疯狂抛出 ，</a:t>
            </a:r>
            <a:r>
              <a:rPr sz="1700" b="1" kern="0" spc="-2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b="1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造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b="1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成恐慌心理 ，股市处于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低潮。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94" name="picture 3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grpSp>
        <p:nvGrpSpPr>
          <p:cNvPr id="40" name="group 40"/>
          <p:cNvGrpSpPr/>
          <p:nvPr/>
        </p:nvGrpSpPr>
        <p:grpSpPr>
          <a:xfrm rot="21600000">
            <a:off x="1579245" y="716279"/>
            <a:ext cx="8549639" cy="22860"/>
            <a:chOff x="0" y="0"/>
            <a:chExt cx="8549639" cy="22860"/>
          </a:xfrm>
        </p:grpSpPr>
        <p:sp>
          <p:nvSpPr>
            <p:cNvPr id="396" name="path 396"/>
            <p:cNvSpPr/>
            <p:nvPr/>
          </p:nvSpPr>
          <p:spPr>
            <a:xfrm>
              <a:off x="0" y="0"/>
              <a:ext cx="209550" cy="22860"/>
            </a:xfrm>
            <a:custGeom>
              <a:avLst/>
              <a:gdLst/>
              <a:ahLst/>
              <a:cxnLst/>
              <a:rect l="0" t="0" r="0" b="0"/>
              <a:pathLst>
                <a:path w="330" h="36">
                  <a:moveTo>
                    <a:pt x="0" y="17"/>
                  </a:moveTo>
                  <a:lnTo>
                    <a:pt x="330" y="17"/>
                  </a:lnTo>
                </a:path>
              </a:pathLst>
            </a:custGeom>
            <a:noFill/>
            <a:ln w="22859" cap="flat">
              <a:solidFill>
                <a:srgbClr val="000000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98" name="path 398"/>
            <p:cNvSpPr/>
            <p:nvPr/>
          </p:nvSpPr>
          <p:spPr>
            <a:xfrm>
              <a:off x="209550" y="0"/>
              <a:ext cx="4103369" cy="22860"/>
            </a:xfrm>
            <a:custGeom>
              <a:avLst/>
              <a:gdLst/>
              <a:ahLst/>
              <a:cxnLst/>
              <a:rect l="0" t="0" r="0" b="0"/>
              <a:pathLst>
                <a:path w="6461" h="36">
                  <a:moveTo>
                    <a:pt x="0" y="17"/>
                  </a:moveTo>
                  <a:lnTo>
                    <a:pt x="6461" y="17"/>
                  </a:lnTo>
                </a:path>
              </a:pathLst>
            </a:custGeom>
            <a:noFill/>
            <a:ln w="22859" cap="flat">
              <a:solidFill>
                <a:srgbClr val="C00000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00" name="path 400"/>
            <p:cNvSpPr/>
            <p:nvPr/>
          </p:nvSpPr>
          <p:spPr>
            <a:xfrm>
              <a:off x="4312919" y="0"/>
              <a:ext cx="4236720" cy="22860"/>
            </a:xfrm>
            <a:custGeom>
              <a:avLst/>
              <a:gdLst/>
              <a:ahLst/>
              <a:cxnLst/>
              <a:rect l="0" t="0" r="0" b="0"/>
              <a:pathLst>
                <a:path w="6672" h="36">
                  <a:moveTo>
                    <a:pt x="0" y="17"/>
                  </a:moveTo>
                  <a:lnTo>
                    <a:pt x="6672" y="17"/>
                  </a:lnTo>
                </a:path>
              </a:pathLst>
            </a:custGeom>
            <a:noFill/>
            <a:ln w="22859" cap="flat">
              <a:solidFill>
                <a:srgbClr val="000000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404" name="textbox 404"/>
          <p:cNvSpPr/>
          <p:nvPr/>
        </p:nvSpPr>
        <p:spPr>
          <a:xfrm>
            <a:off x="1781881" y="249525"/>
            <a:ext cx="4112259" cy="508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500" b="1" kern="0" spc="7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光头光脚阳线或阴线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6" name="textbox 406"/>
          <p:cNvSpPr/>
          <p:nvPr/>
        </p:nvSpPr>
        <p:spPr>
          <a:xfrm>
            <a:off x="4634252" y="3844726"/>
            <a:ext cx="779780" cy="2007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收盘价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最高价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270" algn="l" rtl="0" eaLnBrk="0">
              <a:lnSpc>
                <a:spcPct val="93000"/>
              </a:lnSpc>
              <a:spcBef>
                <a:spcPts val="5"/>
              </a:spcBef>
            </a:pP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开盘价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最低价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8" name="textbox 408"/>
          <p:cNvSpPr/>
          <p:nvPr/>
        </p:nvSpPr>
        <p:spPr>
          <a:xfrm>
            <a:off x="7701301" y="3897431"/>
            <a:ext cx="779780" cy="2006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270" algn="l" rtl="0" eaLnBrk="0">
              <a:lnSpc>
                <a:spcPct val="93000"/>
              </a:lnSpc>
            </a:pP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开盘价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最高价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  <a:spcBef>
                <a:spcPts val="5"/>
              </a:spcBef>
            </a:pP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收盘价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最低价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0" name="textbox 410"/>
          <p:cNvSpPr/>
          <p:nvPr/>
        </p:nvSpPr>
        <p:spPr>
          <a:xfrm>
            <a:off x="1066300" y="4190969"/>
            <a:ext cx="1543685" cy="9105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" algn="l" rtl="0" eaLnBrk="0">
              <a:lnSpc>
                <a:spcPct val="91000"/>
              </a:lnSpc>
            </a:pPr>
            <a:r>
              <a:rPr sz="20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买方占据绝对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91000"/>
              </a:lnSpc>
              <a:spcBef>
                <a:spcPts val="210"/>
              </a:spcBef>
            </a:pPr>
            <a:r>
              <a:rPr sz="20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优势；极度强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7970" algn="l" rtl="0" eaLnBrk="0">
              <a:lnSpc>
                <a:spcPct val="91000"/>
              </a:lnSpc>
              <a:spcBef>
                <a:spcPts val="210"/>
              </a:spcBef>
            </a:pPr>
            <a:r>
              <a:rPr sz="2000" b="1" kern="0" spc="-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壮的</a:t>
            </a:r>
            <a:r>
              <a:rPr sz="2000" b="1" kern="0" spc="28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2" name="rect 412"/>
          <p:cNvSpPr/>
          <p:nvPr/>
        </p:nvSpPr>
        <p:spPr>
          <a:xfrm>
            <a:off x="3462528" y="4081271"/>
            <a:ext cx="419100" cy="1485900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414" name="table 414"/>
          <p:cNvGraphicFramePr>
            <a:graphicFrameLocks noGrp="1"/>
          </p:cNvGraphicFramePr>
          <p:nvPr/>
        </p:nvGraphicFramePr>
        <p:xfrm>
          <a:off x="6538594" y="4068762"/>
          <a:ext cx="400050" cy="1457960"/>
        </p:xfrm>
        <a:graphic>
          <a:graphicData uri="http://schemas.openxmlformats.org/drawingml/2006/table">
            <a:tbl>
              <a:tblPr>
                <a:solidFill>
                  <a:srgbClr val="00B050"/>
                </a:solidFill>
              </a:tblPr>
              <a:tblGrid>
                <a:gridCol w="400050"/>
              </a:tblGrid>
              <a:tr h="14516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pic>
        <p:nvPicPr>
          <p:cNvPr id="416" name="picture 4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418" name="picture 4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938015" y="5490971"/>
            <a:ext cx="609600" cy="114300"/>
          </a:xfrm>
          <a:prstGeom prst="rect">
            <a:avLst/>
          </a:prstGeom>
        </p:spPr>
      </p:pic>
      <p:pic>
        <p:nvPicPr>
          <p:cNvPr id="420" name="picture 4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938015" y="4043171"/>
            <a:ext cx="533400" cy="114300"/>
          </a:xfrm>
          <a:prstGeom prst="rect">
            <a:avLst/>
          </a:prstGeom>
        </p:spPr>
      </p:pic>
      <p:pic>
        <p:nvPicPr>
          <p:cNvPr id="422" name="picture 4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005827" y="4020311"/>
            <a:ext cx="533400" cy="114300"/>
          </a:xfrm>
          <a:prstGeom prst="rect">
            <a:avLst/>
          </a:prstGeom>
        </p:spPr>
      </p:pic>
      <p:pic>
        <p:nvPicPr>
          <p:cNvPr id="424" name="picture 4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7005827" y="5468111"/>
            <a:ext cx="5334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textbox 426"/>
          <p:cNvSpPr/>
          <p:nvPr/>
        </p:nvSpPr>
        <p:spPr>
          <a:xfrm rot="19620000">
            <a:off x="1802519" y="3128868"/>
            <a:ext cx="8372475" cy="923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  <a:spcBef>
                <a:spcPts val="0"/>
              </a:spcBef>
            </a:pPr>
            <a:r>
              <a:rPr sz="5800" kern="0" spc="-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</a:t>
            </a:r>
            <a:r>
              <a:rPr sz="5800" kern="0" spc="30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5800" kern="0" spc="-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有风险 ，       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8" name="textbox 428"/>
          <p:cNvSpPr/>
          <p:nvPr/>
        </p:nvSpPr>
        <p:spPr>
          <a:xfrm>
            <a:off x="-12700" y="-12700"/>
            <a:ext cx="12217400" cy="13760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91310" algn="l" rtl="0" eaLnBrk="0">
              <a:lnSpc>
                <a:spcPct val="110000"/>
              </a:lnSpc>
              <a:spcBef>
                <a:spcPts val="5"/>
              </a:spcBef>
              <a:tabLst>
                <a:tab pos="1801495" algn="l"/>
                <a:tab pos="9642475" algn="l"/>
              </a:tabLst>
            </a:pPr>
            <a:r>
              <a:rPr sz="3500" u="sng" kern="0" spc="0" dirty="0">
                <a:solidFill>
                  <a:srgbClr val="C00000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3500" b="1" u="sng" kern="0" spc="-94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500" b="1" u="sng" kern="0" spc="-9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光头阳线与光头阴线（锤头）</a:t>
            </a:r>
            <a:r>
              <a:rPr sz="3500" b="1" u="sng" kern="0" spc="0" dirty="0">
                <a:solidFill>
                  <a:srgbClr val="C00000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32" name="picture 4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grpSp>
        <p:nvGrpSpPr>
          <p:cNvPr id="42" name="group 42"/>
          <p:cNvGrpSpPr/>
          <p:nvPr/>
        </p:nvGrpSpPr>
        <p:grpSpPr>
          <a:xfrm rot="21600000">
            <a:off x="2574925" y="4391025"/>
            <a:ext cx="7235825" cy="1857375"/>
            <a:chOff x="0" y="0"/>
            <a:chExt cx="7235825" cy="1857375"/>
          </a:xfrm>
        </p:grpSpPr>
        <p:grpSp>
          <p:nvGrpSpPr>
            <p:cNvPr id="44" name="group 44"/>
            <p:cNvGrpSpPr/>
            <p:nvPr/>
          </p:nvGrpSpPr>
          <p:grpSpPr>
            <a:xfrm rot="21600000">
              <a:off x="0" y="0"/>
              <a:ext cx="7235825" cy="1857375"/>
              <a:chOff x="0" y="0"/>
              <a:chExt cx="7235825" cy="1857375"/>
            </a:xfrm>
          </p:grpSpPr>
          <p:sp>
            <p:nvSpPr>
              <p:cNvPr id="434" name="path 434"/>
              <p:cNvSpPr/>
              <p:nvPr/>
            </p:nvSpPr>
            <p:spPr>
              <a:xfrm>
                <a:off x="0" y="309524"/>
                <a:ext cx="7235825" cy="1547850"/>
              </a:xfrm>
              <a:custGeom>
                <a:avLst/>
                <a:gdLst/>
                <a:ahLst/>
                <a:cxnLst/>
                <a:rect l="0" t="0" r="0" b="0"/>
                <a:pathLst>
                  <a:path w="11395" h="2437">
                    <a:moveTo>
                      <a:pt x="0" y="404"/>
                    </a:moveTo>
                    <a:moveTo>
                      <a:pt x="0" y="404"/>
                    </a:moveTo>
                    <a:cubicBezTo>
                      <a:pt x="1" y="181"/>
                      <a:pt x="182" y="0"/>
                      <a:pt x="407" y="0"/>
                    </a:cubicBezTo>
                    <a:lnTo>
                      <a:pt x="10986" y="0"/>
                    </a:lnTo>
                    <a:cubicBezTo>
                      <a:pt x="11211" y="0"/>
                      <a:pt x="11394" y="181"/>
                      <a:pt x="11395" y="404"/>
                    </a:cubicBezTo>
                    <a:lnTo>
                      <a:pt x="11395" y="2031"/>
                    </a:lnTo>
                    <a:cubicBezTo>
                      <a:pt x="11394" y="2255"/>
                      <a:pt x="11211" y="2437"/>
                      <a:pt x="10986" y="2437"/>
                    </a:cubicBezTo>
                    <a:lnTo>
                      <a:pt x="407" y="2437"/>
                    </a:lnTo>
                    <a:cubicBezTo>
                      <a:pt x="182" y="2437"/>
                      <a:pt x="1" y="2255"/>
                      <a:pt x="0" y="2031"/>
                    </a:cubicBezTo>
                    <a:lnTo>
                      <a:pt x="0" y="404"/>
                    </a:lnTo>
                  </a:path>
                </a:pathLst>
              </a:custGeom>
              <a:solidFill>
                <a:srgbClr val="00B05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6" name="path 436"/>
              <p:cNvSpPr/>
              <p:nvPr/>
            </p:nvSpPr>
            <p:spPr>
              <a:xfrm>
                <a:off x="2438362" y="0"/>
                <a:ext cx="1752562" cy="457301"/>
              </a:xfrm>
              <a:custGeom>
                <a:avLst/>
                <a:gdLst/>
                <a:ahLst/>
                <a:cxnLst/>
                <a:rect l="0" t="0" r="0" b="0"/>
                <a:pathLst>
                  <a:path w="2759" h="720">
                    <a:moveTo>
                      <a:pt x="0" y="120"/>
                    </a:moveTo>
                    <a:moveTo>
                      <a:pt x="0" y="120"/>
                    </a:moveTo>
                    <a:cubicBezTo>
                      <a:pt x="0" y="53"/>
                      <a:pt x="52" y="0"/>
                      <a:pt x="119" y="0"/>
                    </a:cubicBezTo>
                    <a:lnTo>
                      <a:pt x="2639" y="0"/>
                    </a:lnTo>
                    <a:cubicBezTo>
                      <a:pt x="2704" y="0"/>
                      <a:pt x="2758" y="53"/>
                      <a:pt x="2759" y="120"/>
                    </a:cubicBezTo>
                    <a:lnTo>
                      <a:pt x="2759" y="600"/>
                    </a:lnTo>
                    <a:cubicBezTo>
                      <a:pt x="2758" y="666"/>
                      <a:pt x="2704" y="720"/>
                      <a:pt x="2639" y="720"/>
                    </a:cubicBezTo>
                    <a:lnTo>
                      <a:pt x="119" y="720"/>
                    </a:lnTo>
                    <a:cubicBezTo>
                      <a:pt x="52" y="720"/>
                      <a:pt x="0" y="666"/>
                      <a:pt x="0" y="600"/>
                    </a:cubicBezTo>
                    <a:lnTo>
                      <a:pt x="0" y="120"/>
                    </a:lnTo>
                  </a:path>
                </a:pathLst>
              </a:custGeom>
              <a:solidFill>
                <a:srgbClr val="FFFFFF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38" name="textbox 438"/>
            <p:cNvSpPr/>
            <p:nvPr/>
          </p:nvSpPr>
          <p:spPr>
            <a:xfrm>
              <a:off x="-12700" y="-12700"/>
              <a:ext cx="7261225" cy="19081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1000"/>
                </a:lnSpc>
              </a:pPr>
              <a:endParaRPr sz="5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673985" algn="l" rtl="0" eaLnBrk="0">
                <a:lnSpc>
                  <a:spcPct val="90000"/>
                </a:lnSpc>
                <a:spcBef>
                  <a:spcPts val="5"/>
                </a:spcBef>
              </a:pPr>
              <a:r>
                <a:rPr sz="2600" b="1" kern="0" spc="-20" dirty="0">
                  <a:solidFill>
                    <a:srgbClr val="00B05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光头阴线</a:t>
              </a:r>
              <a:endParaRPr sz="2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054735" algn="l" rtl="0" eaLnBrk="0">
                <a:lnSpc>
                  <a:spcPct val="91000"/>
                </a:lnSpc>
                <a:spcBef>
                  <a:spcPts val="1395"/>
                </a:spcBef>
              </a:pPr>
              <a:r>
                <a:rPr sz="2300" b="1" kern="0" spc="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下影线表示股价在低</a:t>
              </a:r>
              <a:r>
                <a:rPr sz="2300" b="1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位获得买方支撑。</a:t>
              </a:r>
              <a:endParaRPr sz="2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299720" algn="l" rtl="0" eaLnBrk="0">
                <a:lnSpc>
                  <a:spcPct val="95000"/>
                </a:lnSpc>
                <a:spcBef>
                  <a:spcPts val="1125"/>
                </a:spcBef>
              </a:pPr>
              <a:r>
                <a:rPr sz="2000" b="1" kern="0" spc="1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常常出现在下跌途中、 市</a:t>
              </a:r>
              <a:r>
                <a:rPr sz="2000" b="1" kern="0" spc="1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场顶部或整体震荡的行情中，</a:t>
              </a:r>
              <a:endParaRPr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05000"/>
                </a:lnSpc>
              </a:pPr>
              <a:endParaRPr sz="9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402080" algn="l" rtl="0" eaLnBrk="0">
                <a:lnSpc>
                  <a:spcPct val="95000"/>
                </a:lnSpc>
                <a:spcBef>
                  <a:spcPts val="5"/>
                </a:spcBef>
              </a:pPr>
              <a:r>
                <a:rPr sz="2000" b="1" kern="0" spc="1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在下跌的过程中受到了买方的抵抗。</a:t>
              </a:r>
              <a:endParaRPr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 rot="21600000">
            <a:off x="4556125" y="1957387"/>
            <a:ext cx="5842000" cy="1600200"/>
            <a:chOff x="0" y="0"/>
            <a:chExt cx="5842000" cy="1600200"/>
          </a:xfrm>
        </p:grpSpPr>
        <p:grpSp>
          <p:nvGrpSpPr>
            <p:cNvPr id="48" name="group 48"/>
            <p:cNvGrpSpPr/>
            <p:nvPr/>
          </p:nvGrpSpPr>
          <p:grpSpPr>
            <a:xfrm rot="21600000">
              <a:off x="0" y="0"/>
              <a:ext cx="5842000" cy="1600200"/>
              <a:chOff x="0" y="0"/>
              <a:chExt cx="5842000" cy="1600200"/>
            </a:xfrm>
          </p:grpSpPr>
          <p:sp>
            <p:nvSpPr>
              <p:cNvPr id="440" name="path 440"/>
              <p:cNvSpPr/>
              <p:nvPr/>
            </p:nvSpPr>
            <p:spPr>
              <a:xfrm>
                <a:off x="0" y="304927"/>
                <a:ext cx="5842000" cy="1295272"/>
              </a:xfrm>
              <a:custGeom>
                <a:avLst/>
                <a:gdLst/>
                <a:ahLst/>
                <a:cxnLst/>
                <a:rect l="0" t="0" r="0" b="0"/>
                <a:pathLst>
                  <a:path w="9200" h="2039">
                    <a:moveTo>
                      <a:pt x="0" y="339"/>
                    </a:moveTo>
                    <a:moveTo>
                      <a:pt x="0" y="339"/>
                    </a:moveTo>
                    <a:cubicBezTo>
                      <a:pt x="0" y="152"/>
                      <a:pt x="153" y="0"/>
                      <a:pt x="340" y="0"/>
                    </a:cubicBezTo>
                    <a:lnTo>
                      <a:pt x="8858" y="0"/>
                    </a:lnTo>
                    <a:cubicBezTo>
                      <a:pt x="9046" y="0"/>
                      <a:pt x="9200" y="152"/>
                      <a:pt x="9200" y="339"/>
                    </a:cubicBezTo>
                    <a:lnTo>
                      <a:pt x="9200" y="1701"/>
                    </a:lnTo>
                    <a:cubicBezTo>
                      <a:pt x="9200" y="1887"/>
                      <a:pt x="9046" y="2039"/>
                      <a:pt x="8858" y="2039"/>
                    </a:cubicBezTo>
                    <a:lnTo>
                      <a:pt x="340" y="2039"/>
                    </a:lnTo>
                    <a:cubicBezTo>
                      <a:pt x="153" y="2039"/>
                      <a:pt x="0" y="1887"/>
                      <a:pt x="0" y="1701"/>
                    </a:cubicBezTo>
                    <a:lnTo>
                      <a:pt x="0" y="339"/>
                    </a:lnTo>
                  </a:path>
                </a:pathLst>
              </a:custGeom>
              <a:solidFill>
                <a:srgbClr val="FF000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2" name="path 442"/>
              <p:cNvSpPr/>
              <p:nvPr/>
            </p:nvSpPr>
            <p:spPr>
              <a:xfrm>
                <a:off x="1752752" y="0"/>
                <a:ext cx="1752752" cy="458013"/>
              </a:xfrm>
              <a:custGeom>
                <a:avLst/>
                <a:gdLst/>
                <a:ahLst/>
                <a:cxnLst/>
                <a:rect l="0" t="0" r="0" b="0"/>
                <a:pathLst>
                  <a:path w="2760" h="721">
                    <a:moveTo>
                      <a:pt x="0" y="120"/>
                    </a:moveTo>
                    <a:moveTo>
                      <a:pt x="0" y="120"/>
                    </a:moveTo>
                    <a:cubicBezTo>
                      <a:pt x="0" y="53"/>
                      <a:pt x="52" y="0"/>
                      <a:pt x="120" y="0"/>
                    </a:cubicBezTo>
                    <a:lnTo>
                      <a:pt x="2640" y="0"/>
                    </a:lnTo>
                    <a:cubicBezTo>
                      <a:pt x="2705" y="0"/>
                      <a:pt x="2759" y="53"/>
                      <a:pt x="2760" y="120"/>
                    </a:cubicBezTo>
                    <a:lnTo>
                      <a:pt x="2760" y="601"/>
                    </a:lnTo>
                    <a:cubicBezTo>
                      <a:pt x="2759" y="667"/>
                      <a:pt x="2705" y="721"/>
                      <a:pt x="2640" y="721"/>
                    </a:cubicBezTo>
                    <a:lnTo>
                      <a:pt x="120" y="721"/>
                    </a:lnTo>
                    <a:cubicBezTo>
                      <a:pt x="52" y="721"/>
                      <a:pt x="0" y="667"/>
                      <a:pt x="0" y="601"/>
                    </a:cubicBezTo>
                    <a:lnTo>
                      <a:pt x="0" y="120"/>
                    </a:lnTo>
                  </a:path>
                </a:pathLst>
              </a:custGeom>
              <a:solidFill>
                <a:srgbClr val="FFFFFF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44" name="textbox 444"/>
            <p:cNvSpPr/>
            <p:nvPr/>
          </p:nvSpPr>
          <p:spPr>
            <a:xfrm>
              <a:off x="-12700" y="-12700"/>
              <a:ext cx="5867400" cy="16554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1000"/>
                </a:lnSpc>
              </a:pPr>
              <a:endParaRPr sz="5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988185" algn="l" rtl="0" eaLnBrk="0">
                <a:lnSpc>
                  <a:spcPct val="90000"/>
                </a:lnSpc>
                <a:spcBef>
                  <a:spcPts val="5"/>
                </a:spcBef>
              </a:pPr>
              <a:r>
                <a:rPr sz="2600" b="1" kern="0" spc="-20" dirty="0">
                  <a:solidFill>
                    <a:srgbClr val="FF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光头阳线</a:t>
              </a:r>
              <a:endParaRPr sz="2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358140" algn="l" rtl="0" eaLnBrk="0">
                <a:lnSpc>
                  <a:spcPct val="91000"/>
                </a:lnSpc>
                <a:spcBef>
                  <a:spcPts val="1330"/>
                </a:spcBef>
              </a:pPr>
              <a:r>
                <a:rPr sz="2300" b="1" kern="0" spc="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下影线表示股价在低</a:t>
              </a:r>
              <a:r>
                <a:rPr sz="2300" b="1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位获得买方支撑。</a:t>
              </a:r>
              <a:endParaRPr sz="2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08000"/>
                </a:lnSpc>
              </a:pPr>
              <a:endParaRPr sz="9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68325" algn="l" rtl="0" eaLnBrk="0">
                <a:lnSpc>
                  <a:spcPct val="91000"/>
                </a:lnSpc>
                <a:spcBef>
                  <a:spcPts val="5"/>
                </a:spcBef>
              </a:pPr>
              <a:r>
                <a:rPr sz="2300" b="1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常常出现在底部或是市场调整完毕</a:t>
              </a:r>
              <a:r>
                <a:rPr sz="2300" b="1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。</a:t>
              </a:r>
              <a:endParaRPr sz="2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446" name="rect 446"/>
          <p:cNvSpPr/>
          <p:nvPr/>
        </p:nvSpPr>
        <p:spPr>
          <a:xfrm>
            <a:off x="3332988" y="1876044"/>
            <a:ext cx="315467" cy="166115"/>
          </a:xfrm>
          <a:prstGeom prst="rect">
            <a:avLst/>
          </a:prstGeom>
          <a:solidFill>
            <a:srgbClr val="00B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48" name="picture 4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432" y="2037079"/>
            <a:ext cx="314325" cy="1140460"/>
          </a:xfrm>
          <a:prstGeom prst="rect">
            <a:avLst/>
          </a:prstGeom>
        </p:spPr>
      </p:pic>
      <p:pic>
        <p:nvPicPr>
          <p:cNvPr id="450" name="picture 4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sp>
        <p:nvSpPr>
          <p:cNvPr id="452" name="rect 452"/>
          <p:cNvSpPr/>
          <p:nvPr/>
        </p:nvSpPr>
        <p:spPr>
          <a:xfrm>
            <a:off x="2709672" y="1862328"/>
            <a:ext cx="342900" cy="202691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54" name="picture 4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862072" y="2046732"/>
            <a:ext cx="59435" cy="1130808"/>
          </a:xfrm>
          <a:prstGeom prst="rect">
            <a:avLst/>
          </a:prstGeom>
        </p:spPr>
      </p:pic>
      <p:pic>
        <p:nvPicPr>
          <p:cNvPr id="456" name="picture 4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333432" y="1871979"/>
            <a:ext cx="314325" cy="9525"/>
          </a:xfrm>
          <a:prstGeom prst="rect">
            <a:avLst/>
          </a:prstGeom>
        </p:spPr>
      </p:pic>
      <p:pic>
        <p:nvPicPr>
          <p:cNvPr id="458" name="picture 45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642994" y="1876742"/>
            <a:ext cx="9525" cy="165100"/>
          </a:xfrm>
          <a:prstGeom prst="rect">
            <a:avLst/>
          </a:prstGeom>
        </p:spPr>
      </p:pic>
      <p:pic>
        <p:nvPicPr>
          <p:cNvPr id="460" name="picture 46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328670" y="1876742"/>
            <a:ext cx="9524" cy="1651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textbox 462"/>
          <p:cNvSpPr/>
          <p:nvPr/>
        </p:nvSpPr>
        <p:spPr>
          <a:xfrm rot="19620000">
            <a:off x="1805404" y="3126190"/>
            <a:ext cx="8373109" cy="93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-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</a:t>
            </a:r>
            <a:r>
              <a:rPr sz="5800" kern="0" spc="3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5800" kern="0" spc="-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 ，</a:t>
            </a:r>
            <a:r>
              <a:rPr sz="5800" kern="0" spc="-145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800" kern="0" spc="-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</a:t>
            </a:r>
            <a:r>
              <a:rPr sz="5800" kern="0" spc="-4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4" name="textbox 464"/>
          <p:cNvSpPr/>
          <p:nvPr/>
        </p:nvSpPr>
        <p:spPr>
          <a:xfrm>
            <a:off x="-12700" y="-12700"/>
            <a:ext cx="12217400" cy="13760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91310" algn="l" rtl="0" eaLnBrk="0">
              <a:lnSpc>
                <a:spcPct val="110000"/>
              </a:lnSpc>
              <a:spcBef>
                <a:spcPts val="5"/>
              </a:spcBef>
              <a:tabLst>
                <a:tab pos="1801495" algn="l"/>
                <a:tab pos="9642475" algn="l"/>
              </a:tabLst>
            </a:pPr>
            <a:r>
              <a:rPr sz="3500" u="sng" kern="0" spc="0" dirty="0">
                <a:solidFill>
                  <a:srgbClr val="C00000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3500" b="1" u="sng" kern="0" spc="-92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500" b="1" u="sng" kern="0" spc="-8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光脚阳线与光脚阴线（倒锤头）</a:t>
            </a:r>
            <a:r>
              <a:rPr sz="3500" b="1" u="sng" kern="0" spc="0" dirty="0">
                <a:solidFill>
                  <a:srgbClr val="C00000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68" name="picture 4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sp>
        <p:nvSpPr>
          <p:cNvPr id="470" name="textbox 470"/>
          <p:cNvSpPr/>
          <p:nvPr/>
        </p:nvSpPr>
        <p:spPr>
          <a:xfrm>
            <a:off x="2473451" y="4326635"/>
            <a:ext cx="7246619" cy="1075055"/>
          </a:xfrm>
          <a:prstGeom prst="rect">
            <a:avLst/>
          </a:prstGeom>
          <a:solidFill>
            <a:srgbClr val="F0680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42950" algn="l" rtl="0" eaLnBrk="0">
              <a:lnSpc>
                <a:spcPct val="91000"/>
              </a:lnSpc>
              <a:spcBef>
                <a:spcPts val="5"/>
              </a:spcBef>
            </a:pPr>
            <a:r>
              <a:rPr sz="2300" b="1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上影线表示大市的上档有卖方</a:t>
            </a:r>
            <a:r>
              <a:rPr sz="2300" b="1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强烈的抛压；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52550" algn="l" rtl="0" eaLnBrk="0">
              <a:lnSpc>
                <a:spcPct val="91000"/>
              </a:lnSpc>
              <a:spcBef>
                <a:spcPts val="5"/>
              </a:spcBef>
            </a:pPr>
            <a:r>
              <a:rPr sz="2300" b="1" kern="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上影线越长 ，表明这种</a:t>
            </a:r>
            <a:r>
              <a:rPr sz="23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抛压越重。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72" name="picture 4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35052" y="1839467"/>
            <a:ext cx="317500" cy="1600327"/>
          </a:xfrm>
          <a:prstGeom prst="rect">
            <a:avLst/>
          </a:prstGeom>
        </p:spPr>
      </p:pic>
      <p:pic>
        <p:nvPicPr>
          <p:cNvPr id="474" name="picture 4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sp>
        <p:nvSpPr>
          <p:cNvPr id="476" name="rect 476"/>
          <p:cNvSpPr/>
          <p:nvPr/>
        </p:nvSpPr>
        <p:spPr>
          <a:xfrm>
            <a:off x="5359908" y="3060191"/>
            <a:ext cx="342900" cy="399288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78" name="picture 4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512308" y="1839468"/>
            <a:ext cx="38100" cy="1240535"/>
          </a:xfrm>
          <a:prstGeom prst="rect">
            <a:avLst/>
          </a:prstGeom>
        </p:spPr>
      </p:pic>
      <p:pic>
        <p:nvPicPr>
          <p:cNvPr id="480" name="picture 48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131242" y="3074987"/>
            <a:ext cx="7619" cy="36004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textbox 482"/>
          <p:cNvSpPr/>
          <p:nvPr/>
        </p:nvSpPr>
        <p:spPr>
          <a:xfrm rot="19620000">
            <a:off x="4668028" y="2277647"/>
            <a:ext cx="5269229" cy="93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5"/>
              </a:spcBef>
            </a:pPr>
            <a:r>
              <a:rPr sz="5800" kern="0" spc="-15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险 ，</a:t>
            </a:r>
            <a:r>
              <a:rPr sz="5800" kern="0" spc="-154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800" kern="0" spc="-15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0" name="group 50"/>
          <p:cNvGrpSpPr/>
          <p:nvPr/>
        </p:nvGrpSpPr>
        <p:grpSpPr>
          <a:xfrm rot="21600000">
            <a:off x="1028700" y="3913187"/>
            <a:ext cx="8178800" cy="2185987"/>
            <a:chOff x="0" y="0"/>
            <a:chExt cx="8178800" cy="2185987"/>
          </a:xfrm>
        </p:grpSpPr>
        <p:sp>
          <p:nvSpPr>
            <p:cNvPr id="484" name="path 484"/>
            <p:cNvSpPr/>
            <p:nvPr/>
          </p:nvSpPr>
          <p:spPr>
            <a:xfrm>
              <a:off x="0" y="0"/>
              <a:ext cx="8178800" cy="2185987"/>
            </a:xfrm>
            <a:custGeom>
              <a:avLst/>
              <a:gdLst/>
              <a:ahLst/>
              <a:cxnLst/>
              <a:rect l="0" t="0" r="0" b="0"/>
              <a:pathLst>
                <a:path w="12880" h="3442">
                  <a:moveTo>
                    <a:pt x="0" y="0"/>
                  </a:moveTo>
                  <a:lnTo>
                    <a:pt x="12180" y="0"/>
                  </a:lnTo>
                  <a:lnTo>
                    <a:pt x="12180" y="1276"/>
                  </a:lnTo>
                  <a:lnTo>
                    <a:pt x="12880" y="1720"/>
                  </a:lnTo>
                  <a:lnTo>
                    <a:pt x="12180" y="2164"/>
                  </a:lnTo>
                  <a:lnTo>
                    <a:pt x="12180" y="3442"/>
                  </a:lnTo>
                  <a:lnTo>
                    <a:pt x="0" y="3442"/>
                  </a:lnTo>
                  <a:lnTo>
                    <a:pt x="0" y="0"/>
                  </a:lnTo>
                </a:path>
              </a:pathLst>
            </a:custGeom>
            <a:solidFill>
              <a:srgbClr val="8497B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86" name="textbox 486"/>
            <p:cNvSpPr/>
            <p:nvPr/>
          </p:nvSpPr>
          <p:spPr>
            <a:xfrm>
              <a:off x="-12700" y="-12700"/>
              <a:ext cx="8204200" cy="22364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10490" algn="l" rtl="0" eaLnBrk="0">
                <a:lnSpc>
                  <a:spcPct val="92000"/>
                </a:lnSpc>
              </a:pPr>
              <a:r>
                <a:rPr sz="2000" b="1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无实体意味着买卖双方力量对比</a:t>
              </a:r>
              <a:r>
                <a:rPr sz="2000" b="1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的不确定性。</a:t>
              </a:r>
              <a:endParaRPr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293370" algn="l" rtl="0" eaLnBrk="0">
                <a:lnSpc>
                  <a:spcPct val="91000"/>
                </a:lnSpc>
                <a:spcBef>
                  <a:spcPts val="1030"/>
                </a:spcBef>
                <a:tabLst>
                  <a:tab pos="450850" algn="l"/>
                </a:tabLst>
              </a:pPr>
              <a:r>
                <a:rPr sz="2000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	</a:t>
              </a:r>
              <a:r>
                <a:rPr sz="2000" b="1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无实体线通常出现在盘局震荡整</a:t>
              </a:r>
              <a:r>
                <a:rPr sz="2000" b="1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体的行情中。</a:t>
              </a:r>
              <a:endParaRPr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6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54660" indent="-161290" algn="l" rtl="0" eaLnBrk="0">
                <a:lnSpc>
                  <a:spcPct val="101000"/>
                </a:lnSpc>
                <a:tabLst>
                  <a:tab pos="452755" algn="l"/>
                </a:tabLst>
              </a:pPr>
              <a:r>
                <a:rPr sz="2000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	</a:t>
              </a:r>
              <a:r>
                <a:rPr sz="2000" b="1" kern="0" spc="-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如果无实体单独出现</a:t>
              </a:r>
              <a:r>
                <a:rPr sz="2000" b="1" kern="0" spc="-1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2000" b="1" kern="0" spc="-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，那么它将是一个不能被忽视的有关“不</a:t>
              </a:r>
              <a:r>
                <a:rPr sz="2000" b="1" kern="0" spc="-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可</a:t>
              </a:r>
              <a:r>
                <a:rPr sz="2000" b="1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 </a:t>
              </a:r>
              <a:r>
                <a:rPr sz="2000" b="1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靠因素出现”的信号。是即将到来的</a:t>
              </a:r>
              <a:r>
                <a:rPr sz="2000" b="1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趋势改变的信号。</a:t>
              </a:r>
              <a:endParaRPr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488" name="picture 48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122586" y="1041535"/>
              <a:ext cx="158686" cy="196132"/>
            </a:xfrm>
            <a:prstGeom prst="rect">
              <a:avLst/>
            </a:prstGeom>
          </p:spPr>
        </p:pic>
        <p:pic>
          <p:nvPicPr>
            <p:cNvPr id="490" name="picture 49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122586" y="657553"/>
              <a:ext cx="158686" cy="183873"/>
            </a:xfrm>
            <a:prstGeom prst="rect">
              <a:avLst/>
            </a:prstGeom>
          </p:spPr>
        </p:pic>
      </p:grpSp>
      <p:pic>
        <p:nvPicPr>
          <p:cNvPr id="492" name="picture 4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710927" y="4783835"/>
            <a:ext cx="1705355" cy="1481327"/>
          </a:xfrm>
          <a:prstGeom prst="rect">
            <a:avLst/>
          </a:prstGeom>
        </p:spPr>
      </p:pic>
      <p:sp>
        <p:nvSpPr>
          <p:cNvPr id="494" name="textbox 494"/>
          <p:cNvSpPr/>
          <p:nvPr/>
        </p:nvSpPr>
        <p:spPr>
          <a:xfrm>
            <a:off x="1600782" y="171667"/>
            <a:ext cx="3785870" cy="612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4625"/>
              </a:lnSpc>
            </a:pPr>
            <a:r>
              <a:rPr sz="3400" b="1" kern="0" spc="-31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无实体线（十字星）</a:t>
            </a:r>
            <a:endParaRPr sz="3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96" name="picture 49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grpSp>
        <p:nvGrpSpPr>
          <p:cNvPr id="52" name="group 52"/>
          <p:cNvGrpSpPr/>
          <p:nvPr/>
        </p:nvGrpSpPr>
        <p:grpSpPr>
          <a:xfrm rot="21600000">
            <a:off x="1605915" y="732790"/>
            <a:ext cx="8522969" cy="22859"/>
            <a:chOff x="0" y="0"/>
            <a:chExt cx="8522969" cy="22859"/>
          </a:xfrm>
        </p:grpSpPr>
        <p:sp>
          <p:nvSpPr>
            <p:cNvPr id="498" name="path 498"/>
            <p:cNvSpPr/>
            <p:nvPr/>
          </p:nvSpPr>
          <p:spPr>
            <a:xfrm>
              <a:off x="0" y="0"/>
              <a:ext cx="3806189" cy="22859"/>
            </a:xfrm>
            <a:custGeom>
              <a:avLst/>
              <a:gdLst/>
              <a:ahLst/>
              <a:cxnLst/>
              <a:rect l="0" t="0" r="0" b="0"/>
              <a:pathLst>
                <a:path w="5993" h="35">
                  <a:moveTo>
                    <a:pt x="0" y="17"/>
                  </a:moveTo>
                  <a:lnTo>
                    <a:pt x="5993" y="17"/>
                  </a:lnTo>
                </a:path>
              </a:pathLst>
            </a:custGeom>
            <a:noFill/>
            <a:ln w="22859" cap="flat">
              <a:solidFill>
                <a:srgbClr val="C00000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00" name="path 500"/>
            <p:cNvSpPr/>
            <p:nvPr/>
          </p:nvSpPr>
          <p:spPr>
            <a:xfrm>
              <a:off x="3806189" y="0"/>
              <a:ext cx="4716779" cy="22859"/>
            </a:xfrm>
            <a:custGeom>
              <a:avLst/>
              <a:gdLst/>
              <a:ahLst/>
              <a:cxnLst/>
              <a:rect l="0" t="0" r="0" b="0"/>
              <a:pathLst>
                <a:path w="7427" h="35">
                  <a:moveTo>
                    <a:pt x="0" y="17"/>
                  </a:moveTo>
                  <a:lnTo>
                    <a:pt x="7427" y="17"/>
                  </a:lnTo>
                </a:path>
              </a:pathLst>
            </a:custGeom>
            <a:noFill/>
            <a:ln w="22859" cap="flat">
              <a:solidFill>
                <a:srgbClr val="000000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504" name="textbox 504"/>
          <p:cNvSpPr/>
          <p:nvPr/>
        </p:nvSpPr>
        <p:spPr>
          <a:xfrm>
            <a:off x="3302379" y="1888035"/>
            <a:ext cx="4746625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1000"/>
              </a:lnSpc>
            </a:pPr>
            <a:r>
              <a:rPr sz="2000" kern="0" spc="-1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K线的实体小到开盘和收盘几乎相等的程度。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4" name="group 54"/>
          <p:cNvGrpSpPr/>
          <p:nvPr/>
        </p:nvGrpSpPr>
        <p:grpSpPr>
          <a:xfrm rot="21600000">
            <a:off x="1506537" y="1736725"/>
            <a:ext cx="847725" cy="485775"/>
            <a:chOff x="0" y="0"/>
            <a:chExt cx="847725" cy="485775"/>
          </a:xfrm>
        </p:grpSpPr>
        <p:sp>
          <p:nvSpPr>
            <p:cNvPr id="506" name="path 506"/>
            <p:cNvSpPr/>
            <p:nvPr/>
          </p:nvSpPr>
          <p:spPr>
            <a:xfrm>
              <a:off x="0" y="0"/>
              <a:ext cx="522363" cy="485775"/>
            </a:xfrm>
            <a:custGeom>
              <a:avLst/>
              <a:gdLst/>
              <a:ahLst/>
              <a:cxnLst/>
              <a:rect l="0" t="0" r="0" b="0"/>
              <a:pathLst>
                <a:path w="822" h="765">
                  <a:moveTo>
                    <a:pt x="363" y="0"/>
                  </a:moveTo>
                  <a:lnTo>
                    <a:pt x="822" y="765"/>
                  </a:lnTo>
                  <a:lnTo>
                    <a:pt x="442" y="765"/>
                  </a:lnTo>
                  <a:lnTo>
                    <a:pt x="0" y="27"/>
                  </a:lnTo>
                  <a:lnTo>
                    <a:pt x="363" y="0"/>
                  </a:lnTo>
                </a:path>
              </a:pathLst>
            </a:custGeom>
            <a:solidFill>
              <a:srgbClr val="59595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08" name="path 508"/>
            <p:cNvSpPr/>
            <p:nvPr/>
          </p:nvSpPr>
          <p:spPr>
            <a:xfrm>
              <a:off x="325361" y="0"/>
              <a:ext cx="522364" cy="485775"/>
            </a:xfrm>
            <a:custGeom>
              <a:avLst/>
              <a:gdLst/>
              <a:ahLst/>
              <a:cxnLst/>
              <a:rect l="0" t="0" r="0" b="0"/>
              <a:pathLst>
                <a:path w="822" h="765">
                  <a:moveTo>
                    <a:pt x="363" y="0"/>
                  </a:moveTo>
                  <a:lnTo>
                    <a:pt x="822" y="765"/>
                  </a:lnTo>
                  <a:lnTo>
                    <a:pt x="442" y="765"/>
                  </a:lnTo>
                  <a:lnTo>
                    <a:pt x="0" y="27"/>
                  </a:lnTo>
                  <a:lnTo>
                    <a:pt x="363" y="0"/>
                  </a:lnTo>
                </a:path>
              </a:pathLst>
            </a:custGeom>
            <a:solidFill>
              <a:srgbClr val="1D6DC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510" name="picture 5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553200" y="2520695"/>
            <a:ext cx="304800" cy="1295400"/>
          </a:xfrm>
          <a:prstGeom prst="rect">
            <a:avLst/>
          </a:prstGeom>
        </p:spPr>
      </p:pic>
      <p:pic>
        <p:nvPicPr>
          <p:cNvPr id="512" name="picture 5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334000" y="2749295"/>
            <a:ext cx="304800" cy="609600"/>
          </a:xfrm>
          <a:prstGeom prst="rect">
            <a:avLst/>
          </a:prstGeom>
        </p:spPr>
      </p:pic>
      <p:pic>
        <p:nvPicPr>
          <p:cNvPr id="514" name="picture 5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picture 5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083307" y="4255007"/>
            <a:ext cx="7888223" cy="2423160"/>
          </a:xfrm>
          <a:prstGeom prst="rect">
            <a:avLst/>
          </a:prstGeom>
        </p:spPr>
      </p:pic>
      <p:sp>
        <p:nvSpPr>
          <p:cNvPr id="518" name="textbox 518"/>
          <p:cNvSpPr/>
          <p:nvPr/>
        </p:nvSpPr>
        <p:spPr>
          <a:xfrm rot="19620000">
            <a:off x="1805468" y="3126375"/>
            <a:ext cx="8372475" cy="93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 ，</a:t>
            </a:r>
            <a:r>
              <a:rPr sz="5800" kern="0" spc="-14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0" name="textbox 520"/>
          <p:cNvSpPr/>
          <p:nvPr/>
        </p:nvSpPr>
        <p:spPr>
          <a:xfrm>
            <a:off x="5284880" y="4412582"/>
            <a:ext cx="4605654" cy="2150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44370" algn="l" rtl="0" eaLnBrk="0">
              <a:lnSpc>
                <a:spcPct val="103000"/>
              </a:lnSpc>
            </a:pPr>
            <a:r>
              <a:rPr sz="1700" b="1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在股价大幅下跌之后出现，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通常意味着股价基本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见底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6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37515" indent="-424815" algn="l" rtl="0" eaLnBrk="0">
              <a:lnSpc>
                <a:spcPct val="100000"/>
              </a:lnSpc>
              <a:spcBef>
                <a:spcPts val="690"/>
              </a:spcBef>
            </a:pPr>
            <a:r>
              <a:rPr sz="23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出现位置及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</a:t>
            </a:r>
            <a:r>
              <a:rPr sz="23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含义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05635" algn="l" rtl="0" eaLnBrk="0">
              <a:lnSpc>
                <a:spcPct val="107000"/>
              </a:lnSpc>
              <a:spcBef>
                <a:spcPts val="20"/>
              </a:spcBef>
            </a:pPr>
            <a:r>
              <a:rPr sz="1700" b="1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在股价下跌过程中出现</a:t>
            </a:r>
            <a:r>
              <a:rPr sz="1700" b="1" kern="0" spc="-2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b="1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通常是继续下跌的信号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2" name="textbox 522"/>
          <p:cNvSpPr/>
          <p:nvPr/>
        </p:nvSpPr>
        <p:spPr>
          <a:xfrm>
            <a:off x="2442614" y="2475663"/>
            <a:ext cx="6334759" cy="12077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3000"/>
              </a:lnSpc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T字线是指当日开盘价、收盘价、最高价相同，</a:t>
            </a:r>
            <a:r>
              <a:rPr sz="2000" kern="0" spc="-2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K线上只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17780" algn="l" rtl="0" eaLnBrk="0">
              <a:lnSpc>
                <a:spcPct val="152000"/>
              </a:lnSpc>
              <a:spcBef>
                <a:spcPts val="15"/>
              </a:spcBef>
            </a:pP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留下影线 ，如果有上影线也是很短很短， T字线信号强弱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与下影线成正比 ，下影线越长</a:t>
            </a:r>
            <a:r>
              <a:rPr sz="2000" kern="0" spc="-3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，则信号</a:t>
            </a: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越强。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4" name="textbox 524"/>
          <p:cNvSpPr/>
          <p:nvPr/>
        </p:nvSpPr>
        <p:spPr>
          <a:xfrm>
            <a:off x="2068711" y="4456079"/>
            <a:ext cx="2793364" cy="2131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1300" indent="-228600" algn="l" rtl="0" eaLnBrk="0">
              <a:lnSpc>
                <a:spcPct val="103000"/>
              </a:lnSpc>
            </a:pP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在股价大幅上涨之后出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 ，</a:t>
            </a: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通常意味着股价基本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见顶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20700" indent="-228600" algn="l" rtl="0" eaLnBrk="0">
              <a:lnSpc>
                <a:spcPct val="108000"/>
              </a:lnSpc>
              <a:spcBef>
                <a:spcPts val="5"/>
              </a:spcBef>
            </a:pP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在股价上涨过程中出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</a:t>
            </a:r>
            <a:r>
              <a:rPr sz="1700" b="1" kern="0" spc="-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通常是继续上涨的信号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26" name="picture 5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grpSp>
        <p:nvGrpSpPr>
          <p:cNvPr id="56" name="group 56"/>
          <p:cNvGrpSpPr/>
          <p:nvPr/>
        </p:nvGrpSpPr>
        <p:grpSpPr>
          <a:xfrm rot="21600000">
            <a:off x="1579245" y="712470"/>
            <a:ext cx="8549639" cy="22859"/>
            <a:chOff x="0" y="0"/>
            <a:chExt cx="8549639" cy="22859"/>
          </a:xfrm>
        </p:grpSpPr>
        <p:sp>
          <p:nvSpPr>
            <p:cNvPr id="528" name="path 528"/>
            <p:cNvSpPr/>
            <p:nvPr/>
          </p:nvSpPr>
          <p:spPr>
            <a:xfrm>
              <a:off x="0" y="0"/>
              <a:ext cx="211454" cy="22859"/>
            </a:xfrm>
            <a:custGeom>
              <a:avLst/>
              <a:gdLst/>
              <a:ahLst/>
              <a:cxnLst/>
              <a:rect l="0" t="0" r="0" b="0"/>
              <a:pathLst>
                <a:path w="332" h="35">
                  <a:moveTo>
                    <a:pt x="0" y="17"/>
                  </a:moveTo>
                  <a:lnTo>
                    <a:pt x="332" y="17"/>
                  </a:lnTo>
                </a:path>
              </a:pathLst>
            </a:custGeom>
            <a:noFill/>
            <a:ln w="22859" cap="flat">
              <a:solidFill>
                <a:srgbClr val="000000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30" name="path 530"/>
            <p:cNvSpPr/>
            <p:nvPr/>
          </p:nvSpPr>
          <p:spPr>
            <a:xfrm>
              <a:off x="211454" y="0"/>
              <a:ext cx="1642109" cy="22859"/>
            </a:xfrm>
            <a:custGeom>
              <a:avLst/>
              <a:gdLst/>
              <a:ahLst/>
              <a:cxnLst/>
              <a:rect l="0" t="0" r="0" b="0"/>
              <a:pathLst>
                <a:path w="2585" h="35">
                  <a:moveTo>
                    <a:pt x="0" y="17"/>
                  </a:moveTo>
                  <a:lnTo>
                    <a:pt x="2585" y="17"/>
                  </a:lnTo>
                </a:path>
              </a:pathLst>
            </a:custGeom>
            <a:noFill/>
            <a:ln w="22859" cap="flat">
              <a:solidFill>
                <a:srgbClr val="C00000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32" name="path 532"/>
            <p:cNvSpPr/>
            <p:nvPr/>
          </p:nvSpPr>
          <p:spPr>
            <a:xfrm>
              <a:off x="1853564" y="0"/>
              <a:ext cx="20320" cy="22859"/>
            </a:xfrm>
            <a:custGeom>
              <a:avLst/>
              <a:gdLst/>
              <a:ahLst/>
              <a:cxnLst/>
              <a:rect l="0" t="0" r="0" b="0"/>
              <a:pathLst>
                <a:path w="32" h="35">
                  <a:moveTo>
                    <a:pt x="0" y="17"/>
                  </a:moveTo>
                  <a:lnTo>
                    <a:pt x="32" y="17"/>
                  </a:lnTo>
                </a:path>
              </a:pathLst>
            </a:custGeom>
            <a:noFill/>
            <a:ln w="22859" cap="flat">
              <a:solidFill>
                <a:srgbClr val="000000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34" name="path 534"/>
            <p:cNvSpPr/>
            <p:nvPr/>
          </p:nvSpPr>
          <p:spPr>
            <a:xfrm>
              <a:off x="1873884" y="0"/>
              <a:ext cx="1642110" cy="22859"/>
            </a:xfrm>
            <a:custGeom>
              <a:avLst/>
              <a:gdLst/>
              <a:ahLst/>
              <a:cxnLst/>
              <a:rect l="0" t="0" r="0" b="0"/>
              <a:pathLst>
                <a:path w="2586" h="35">
                  <a:moveTo>
                    <a:pt x="0" y="17"/>
                  </a:moveTo>
                  <a:lnTo>
                    <a:pt x="2586" y="17"/>
                  </a:lnTo>
                </a:path>
              </a:pathLst>
            </a:custGeom>
            <a:noFill/>
            <a:ln w="22859" cap="flat">
              <a:solidFill>
                <a:srgbClr val="C00000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36" name="path 536"/>
            <p:cNvSpPr/>
            <p:nvPr/>
          </p:nvSpPr>
          <p:spPr>
            <a:xfrm>
              <a:off x="3515995" y="0"/>
              <a:ext cx="5033644" cy="22859"/>
            </a:xfrm>
            <a:custGeom>
              <a:avLst/>
              <a:gdLst/>
              <a:ahLst/>
              <a:cxnLst/>
              <a:rect l="0" t="0" r="0" b="0"/>
              <a:pathLst>
                <a:path w="7926" h="35">
                  <a:moveTo>
                    <a:pt x="0" y="17"/>
                  </a:moveTo>
                  <a:lnTo>
                    <a:pt x="7926" y="17"/>
                  </a:lnTo>
                </a:path>
              </a:pathLst>
            </a:custGeom>
            <a:noFill/>
            <a:ln w="22859" cap="flat">
              <a:solidFill>
                <a:srgbClr val="000000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540" name="picture 5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078467" y="2313431"/>
            <a:ext cx="1295400" cy="1502664"/>
          </a:xfrm>
          <a:prstGeom prst="rect">
            <a:avLst/>
          </a:prstGeom>
        </p:spPr>
      </p:pic>
      <p:grpSp>
        <p:nvGrpSpPr>
          <p:cNvPr id="58" name="group 58"/>
          <p:cNvGrpSpPr/>
          <p:nvPr/>
        </p:nvGrpSpPr>
        <p:grpSpPr>
          <a:xfrm rot="21600000">
            <a:off x="1175003" y="1225296"/>
            <a:ext cx="1815084" cy="917447"/>
            <a:chOff x="0" y="0"/>
            <a:chExt cx="1815084" cy="917447"/>
          </a:xfrm>
        </p:grpSpPr>
        <p:pic>
          <p:nvPicPr>
            <p:cNvPr id="542" name="picture 54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815084" cy="917447"/>
            </a:xfrm>
            <a:prstGeom prst="rect">
              <a:avLst/>
            </a:prstGeom>
          </p:spPr>
        </p:pic>
        <p:sp>
          <p:nvSpPr>
            <p:cNvPr id="544" name="textbox 544"/>
            <p:cNvSpPr/>
            <p:nvPr/>
          </p:nvSpPr>
          <p:spPr>
            <a:xfrm>
              <a:off x="-12700" y="-12700"/>
              <a:ext cx="1840864" cy="9747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46100" algn="l" rtl="0" eaLnBrk="0">
                <a:lnSpc>
                  <a:spcPct val="91000"/>
                </a:lnSpc>
              </a:pPr>
              <a:r>
                <a:rPr sz="2300" b="1" kern="0" spc="40" dirty="0">
                  <a:solidFill>
                    <a:srgbClr val="FFFFFF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T</a:t>
              </a:r>
              <a:r>
                <a:rPr sz="2300" b="1" kern="0" spc="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字线</a:t>
              </a:r>
              <a:endParaRPr sz="2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546" name="textbox 546"/>
          <p:cNvSpPr/>
          <p:nvPr/>
        </p:nvSpPr>
        <p:spPr>
          <a:xfrm>
            <a:off x="1785567" y="244825"/>
            <a:ext cx="3315970" cy="5092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500" b="1" kern="0" spc="2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T字线、</a:t>
            </a:r>
            <a:r>
              <a:rPr sz="3500" b="1" kern="0" spc="-69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500" b="1" kern="0" spc="2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倒T字线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8" name="textbox 548"/>
          <p:cNvSpPr/>
          <p:nvPr/>
        </p:nvSpPr>
        <p:spPr>
          <a:xfrm>
            <a:off x="10430531" y="2300024"/>
            <a:ext cx="808990" cy="16344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最高价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收盘价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1910" algn="l" rtl="0" eaLnBrk="0">
              <a:lnSpc>
                <a:spcPct val="91000"/>
              </a:lnSpc>
              <a:spcBef>
                <a:spcPts val="5"/>
              </a:spcBef>
            </a:pP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最低价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0" name="group 60"/>
          <p:cNvGrpSpPr/>
          <p:nvPr/>
        </p:nvGrpSpPr>
        <p:grpSpPr>
          <a:xfrm rot="21600000">
            <a:off x="1341437" y="2357437"/>
            <a:ext cx="847725" cy="485775"/>
            <a:chOff x="0" y="0"/>
            <a:chExt cx="847725" cy="485775"/>
          </a:xfrm>
        </p:grpSpPr>
        <p:sp>
          <p:nvSpPr>
            <p:cNvPr id="550" name="path 550"/>
            <p:cNvSpPr/>
            <p:nvPr/>
          </p:nvSpPr>
          <p:spPr>
            <a:xfrm>
              <a:off x="0" y="0"/>
              <a:ext cx="522363" cy="485775"/>
            </a:xfrm>
            <a:custGeom>
              <a:avLst/>
              <a:gdLst/>
              <a:ahLst/>
              <a:cxnLst/>
              <a:rect l="0" t="0" r="0" b="0"/>
              <a:pathLst>
                <a:path w="822" h="765">
                  <a:moveTo>
                    <a:pt x="363" y="0"/>
                  </a:moveTo>
                  <a:lnTo>
                    <a:pt x="822" y="765"/>
                  </a:lnTo>
                  <a:lnTo>
                    <a:pt x="442" y="765"/>
                  </a:lnTo>
                  <a:lnTo>
                    <a:pt x="0" y="27"/>
                  </a:lnTo>
                  <a:lnTo>
                    <a:pt x="363" y="0"/>
                  </a:lnTo>
                </a:path>
              </a:pathLst>
            </a:custGeom>
            <a:solidFill>
              <a:srgbClr val="59595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52" name="path 552"/>
            <p:cNvSpPr/>
            <p:nvPr/>
          </p:nvSpPr>
          <p:spPr>
            <a:xfrm>
              <a:off x="325361" y="0"/>
              <a:ext cx="522364" cy="485775"/>
            </a:xfrm>
            <a:custGeom>
              <a:avLst/>
              <a:gdLst/>
              <a:ahLst/>
              <a:cxnLst/>
              <a:rect l="0" t="0" r="0" b="0"/>
              <a:pathLst>
                <a:path w="822" h="765">
                  <a:moveTo>
                    <a:pt x="363" y="0"/>
                  </a:moveTo>
                  <a:lnTo>
                    <a:pt x="822" y="765"/>
                  </a:lnTo>
                  <a:lnTo>
                    <a:pt x="442" y="765"/>
                  </a:lnTo>
                  <a:lnTo>
                    <a:pt x="0" y="27"/>
                  </a:lnTo>
                  <a:lnTo>
                    <a:pt x="363" y="0"/>
                  </a:lnTo>
                </a:path>
              </a:pathLst>
            </a:custGeom>
            <a:solidFill>
              <a:srgbClr val="1D6DC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554" name="textbox 554"/>
          <p:cNvSpPr/>
          <p:nvPr/>
        </p:nvSpPr>
        <p:spPr>
          <a:xfrm>
            <a:off x="10432566" y="1986716"/>
            <a:ext cx="778509" cy="3035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开盘价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56" name="picture 5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textbox 558"/>
          <p:cNvSpPr/>
          <p:nvPr/>
        </p:nvSpPr>
        <p:spPr>
          <a:xfrm rot="19620000">
            <a:off x="3902612" y="2496541"/>
            <a:ext cx="6099809" cy="93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-6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 ，</a:t>
            </a:r>
            <a:r>
              <a:rPr sz="5800" kern="0" spc="-148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800" kern="0" spc="-6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0" name="textbox 560"/>
          <p:cNvSpPr/>
          <p:nvPr/>
        </p:nvSpPr>
        <p:spPr>
          <a:xfrm>
            <a:off x="-12700" y="-12700"/>
            <a:ext cx="12217400" cy="28657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25600" algn="l" rtl="0" eaLnBrk="0">
              <a:lnSpc>
                <a:spcPct val="82000"/>
              </a:lnSpc>
              <a:tabLst>
                <a:tab pos="9642475" algn="l"/>
              </a:tabLst>
            </a:pPr>
            <a:r>
              <a:rPr sz="3500" b="1" u="sng" kern="0" spc="3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T字线、</a:t>
            </a:r>
            <a:r>
              <a:rPr sz="3500" b="1" u="sng" kern="0" spc="-93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500" b="1" kern="0" spc="-88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500" b="1" u="sng" kern="0" spc="3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倒T字线</a:t>
            </a:r>
            <a:r>
              <a:rPr sz="3500" b="1" u="sng" kern="0" spc="-99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500" b="1" u="sng" kern="0" spc="0" dirty="0">
                <a:solidFill>
                  <a:srgbClr val="C00000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521950" algn="l" rtl="0" eaLnBrk="0">
              <a:lnSpc>
                <a:spcPct val="86000"/>
              </a:lnSpc>
              <a:spcBef>
                <a:spcPts val="605"/>
              </a:spcBef>
              <a:tabLst>
                <a:tab pos="1064958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最高价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2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31695" algn="l" rtl="0" eaLnBrk="0">
              <a:lnSpc>
                <a:spcPct val="91000"/>
              </a:lnSpc>
              <a:spcBef>
                <a:spcPts val="5"/>
              </a:spcBef>
              <a:tabLst>
                <a:tab pos="305752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倒T字线是指开盘价、收盘价、最低价粘连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在一起，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2" name="group 62"/>
          <p:cNvGrpSpPr/>
          <p:nvPr/>
        </p:nvGrpSpPr>
        <p:grpSpPr>
          <a:xfrm rot="21600000">
            <a:off x="1273175" y="2351087"/>
            <a:ext cx="846137" cy="463550"/>
            <a:chOff x="0" y="0"/>
            <a:chExt cx="846137" cy="463550"/>
          </a:xfrm>
        </p:grpSpPr>
        <p:sp>
          <p:nvSpPr>
            <p:cNvPr id="562" name="path 562"/>
            <p:cNvSpPr/>
            <p:nvPr/>
          </p:nvSpPr>
          <p:spPr>
            <a:xfrm>
              <a:off x="0" y="0"/>
              <a:ext cx="521385" cy="463550"/>
            </a:xfrm>
            <a:custGeom>
              <a:avLst/>
              <a:gdLst/>
              <a:ahLst/>
              <a:cxnLst/>
              <a:rect l="0" t="0" r="0" b="0"/>
              <a:pathLst>
                <a:path w="821" h="730">
                  <a:moveTo>
                    <a:pt x="362" y="0"/>
                  </a:moveTo>
                  <a:lnTo>
                    <a:pt x="821" y="729"/>
                  </a:lnTo>
                  <a:lnTo>
                    <a:pt x="441" y="730"/>
                  </a:lnTo>
                  <a:lnTo>
                    <a:pt x="0" y="25"/>
                  </a:lnTo>
                  <a:lnTo>
                    <a:pt x="362" y="0"/>
                  </a:lnTo>
                </a:path>
              </a:pathLst>
            </a:custGeom>
            <a:solidFill>
              <a:srgbClr val="59595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64" name="path 564"/>
            <p:cNvSpPr/>
            <p:nvPr/>
          </p:nvSpPr>
          <p:spPr>
            <a:xfrm>
              <a:off x="324751" y="0"/>
              <a:ext cx="521386" cy="463550"/>
            </a:xfrm>
            <a:custGeom>
              <a:avLst/>
              <a:gdLst/>
              <a:ahLst/>
              <a:cxnLst/>
              <a:rect l="0" t="0" r="0" b="0"/>
              <a:pathLst>
                <a:path w="821" h="730">
                  <a:moveTo>
                    <a:pt x="362" y="0"/>
                  </a:moveTo>
                  <a:lnTo>
                    <a:pt x="821" y="729"/>
                  </a:lnTo>
                  <a:lnTo>
                    <a:pt x="441" y="730"/>
                  </a:lnTo>
                  <a:lnTo>
                    <a:pt x="0" y="25"/>
                  </a:lnTo>
                  <a:lnTo>
                    <a:pt x="362" y="0"/>
                  </a:lnTo>
                </a:path>
              </a:pathLst>
            </a:custGeom>
            <a:solidFill>
              <a:srgbClr val="1D6DC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566" name="picture 56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976104" y="2206751"/>
            <a:ext cx="533400" cy="105155"/>
          </a:xfrm>
          <a:prstGeom prst="rect">
            <a:avLst/>
          </a:prstGeom>
        </p:spPr>
      </p:pic>
      <p:sp>
        <p:nvSpPr>
          <p:cNvPr id="570" name="path 570"/>
          <p:cNvSpPr/>
          <p:nvPr/>
        </p:nvSpPr>
        <p:spPr>
          <a:xfrm>
            <a:off x="3254957" y="700404"/>
            <a:ext cx="20319" cy="22860"/>
          </a:xfrm>
          <a:custGeom>
            <a:avLst/>
            <a:gdLst/>
            <a:ahLst/>
            <a:cxnLst/>
            <a:rect l="0" t="0" r="0" b="0"/>
            <a:pathLst>
              <a:path w="31" h="36">
                <a:moveTo>
                  <a:pt x="0" y="17"/>
                </a:moveTo>
                <a:lnTo>
                  <a:pt x="31" y="17"/>
                </a:lnTo>
              </a:path>
            </a:pathLst>
          </a:custGeom>
          <a:noFill/>
          <a:ln w="22859" cap="flat">
            <a:solidFill>
              <a:srgbClr val="000000"/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72" name="picture 5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sp>
        <p:nvSpPr>
          <p:cNvPr id="574" name="textbox 574"/>
          <p:cNvSpPr/>
          <p:nvPr/>
        </p:nvSpPr>
        <p:spPr>
          <a:xfrm>
            <a:off x="1251203" y="4285488"/>
            <a:ext cx="7693659" cy="2054860"/>
          </a:xfrm>
          <a:prstGeom prst="rect">
            <a:avLst/>
          </a:prstGeom>
          <a:solidFill>
            <a:srgbClr val="8497B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4140" algn="l" rtl="0" eaLnBrk="0">
              <a:lnSpc>
                <a:spcPct val="91000"/>
              </a:lnSpc>
            </a:pPr>
            <a:r>
              <a:rPr sz="20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上影线表示上方所受卖方的抛压较重。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4185" indent="-194310" algn="l" rtl="0" eaLnBrk="0">
              <a:lnSpc>
                <a:spcPct val="99000"/>
              </a:lnSpc>
              <a:spcBef>
                <a:spcPts val="935"/>
              </a:spcBef>
              <a:tabLst>
                <a:tab pos="438150" algn="l"/>
              </a:tabLst>
            </a:pP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000" b="1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价格开盘后全天在高位进行交易</a:t>
            </a:r>
            <a:r>
              <a:rPr sz="2000" b="1" kern="0" spc="-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，但收盘又回到了开盘。</a:t>
            </a:r>
            <a:r>
              <a:rPr sz="2000" b="1" kern="0" spc="-3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sz="2000" b="1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时也是当天的最低价格 ，意味着当天反弹失败。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9875" algn="l" rtl="0" eaLnBrk="0">
              <a:lnSpc>
                <a:spcPct val="91000"/>
              </a:lnSpc>
              <a:tabLst>
                <a:tab pos="447675" algn="l"/>
              </a:tabLst>
            </a:pP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0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具有强烈的下降含义。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76" name="picture 5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363980" y="5753298"/>
            <a:ext cx="157175" cy="196132"/>
          </a:xfrm>
          <a:prstGeom prst="rect">
            <a:avLst/>
          </a:prstGeom>
        </p:spPr>
      </p:pic>
      <p:pic>
        <p:nvPicPr>
          <p:cNvPr id="578" name="picture 5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63980" y="5023104"/>
            <a:ext cx="157175" cy="182879"/>
          </a:xfrm>
          <a:prstGeom prst="rect">
            <a:avLst/>
          </a:prstGeom>
        </p:spPr>
      </p:pic>
      <p:sp>
        <p:nvSpPr>
          <p:cNvPr id="580" name="textbox 580"/>
          <p:cNvSpPr/>
          <p:nvPr/>
        </p:nvSpPr>
        <p:spPr>
          <a:xfrm>
            <a:off x="2347980" y="2849678"/>
            <a:ext cx="6534784" cy="10401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成为“一”字 ，但最高价与之有相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当距离，</a:t>
            </a:r>
            <a:r>
              <a:rPr sz="2000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因而在K线上留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1590" algn="l" rtl="0" eaLnBrk="0">
              <a:lnSpc>
                <a:spcPct val="124000"/>
              </a:lnSpc>
              <a:spcBef>
                <a:spcPts val="35"/>
              </a:spcBef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下一根上影线 ，构成倒“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T” 字状图形。倒T字线上影线越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</a:t>
            </a:r>
            <a:r>
              <a:rPr sz="2000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，力度越大，信号越可靠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82" name="picture 58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412223" y="4975859"/>
            <a:ext cx="1612392" cy="1399032"/>
          </a:xfrm>
          <a:prstGeom prst="rect">
            <a:avLst/>
          </a:prstGeom>
        </p:spPr>
      </p:pic>
      <p:pic>
        <p:nvPicPr>
          <p:cNvPr id="584" name="picture 58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75003" y="1225296"/>
            <a:ext cx="1815084" cy="917447"/>
          </a:xfrm>
          <a:prstGeom prst="rect">
            <a:avLst/>
          </a:prstGeom>
        </p:spPr>
      </p:pic>
      <p:sp>
        <p:nvSpPr>
          <p:cNvPr id="586" name="textbox 586"/>
          <p:cNvSpPr/>
          <p:nvPr/>
        </p:nvSpPr>
        <p:spPr>
          <a:xfrm>
            <a:off x="10661671" y="3207186"/>
            <a:ext cx="779780" cy="894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270" algn="l" rtl="0" eaLnBrk="0">
              <a:lnSpc>
                <a:spcPct val="95000"/>
              </a:lnSpc>
            </a:pP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开盘价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收盘价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最低价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8" name="textbox 588"/>
          <p:cNvSpPr/>
          <p:nvPr/>
        </p:nvSpPr>
        <p:spPr>
          <a:xfrm>
            <a:off x="1548202" y="1545610"/>
            <a:ext cx="1069975" cy="3435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2300" b="1" kern="0" spc="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倒</a:t>
            </a:r>
            <a:r>
              <a:rPr sz="2300" b="1" kern="0" spc="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</a:t>
            </a:r>
            <a:r>
              <a:rPr sz="2300" b="1" kern="0" spc="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字线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90" name="picture 59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592" name="picture 59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272016" y="3579875"/>
            <a:ext cx="1312164" cy="114300"/>
          </a:xfrm>
          <a:prstGeom prst="rect">
            <a:avLst/>
          </a:prstGeom>
        </p:spPr>
      </p:pic>
      <p:pic>
        <p:nvPicPr>
          <p:cNvPr id="594" name="picture 59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9634727" y="2165603"/>
            <a:ext cx="38100" cy="1447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6" name="picture 5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474976" y="3884676"/>
            <a:ext cx="7002780" cy="2506979"/>
          </a:xfrm>
          <a:prstGeom prst="rect">
            <a:avLst/>
          </a:prstGeom>
        </p:spPr>
      </p:pic>
      <p:sp>
        <p:nvSpPr>
          <p:cNvPr id="598" name="textbox 598"/>
          <p:cNvSpPr/>
          <p:nvPr/>
        </p:nvSpPr>
        <p:spPr>
          <a:xfrm rot="19620000">
            <a:off x="1805468" y="3126375"/>
            <a:ext cx="8372475" cy="93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 ，</a:t>
            </a:r>
            <a:r>
              <a:rPr sz="5800" kern="0" spc="-14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0" name="textbox 600"/>
          <p:cNvSpPr/>
          <p:nvPr/>
        </p:nvSpPr>
        <p:spPr>
          <a:xfrm>
            <a:off x="2229507" y="1630123"/>
            <a:ext cx="8829675" cy="14585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682625" algn="l" rtl="0" eaLnBrk="0">
              <a:lnSpc>
                <a:spcPct val="115000"/>
              </a:lnSpc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大阳线是指最高价与收盘价相同（或略高于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收盘价</a:t>
            </a:r>
            <a:r>
              <a:rPr sz="20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sz="2000" kern="0" spc="-4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最低价与开盘价一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样（或略低于开盘价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sz="2000" kern="0" spc="-4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上下没有影线或影线很短。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682625" algn="l" rtl="0" eaLnBrk="0">
              <a:lnSpc>
                <a:spcPct val="115000"/>
              </a:lnSpc>
              <a:spcBef>
                <a:spcPts val="235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大阴线是指最高价与开盘价相同（或略高于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开盘价</a:t>
            </a:r>
            <a:r>
              <a:rPr sz="20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sz="2000" kern="0" spc="-4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最低价与收盘价一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样（或略低于收盘价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sz="2000" kern="0" spc="-4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上下没有影线或影线很短。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2" name="textbox 602"/>
          <p:cNvSpPr/>
          <p:nvPr/>
        </p:nvSpPr>
        <p:spPr>
          <a:xfrm>
            <a:off x="7041079" y="3995070"/>
            <a:ext cx="2447289" cy="22218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862" rIns="0" bIns="0"/>
          <a:lstStyle/>
          <a:p>
            <a:pPr marL="52070" indent="22225" algn="l" rtl="0" eaLnBrk="0">
              <a:lnSpc>
                <a:spcPct val="108000"/>
              </a:lnSpc>
              <a:spcBef>
                <a:spcPts val="5"/>
              </a:spcBef>
            </a:pPr>
            <a:r>
              <a:rPr sz="1700" b="1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出现在上涨过程中</a:t>
            </a:r>
            <a:r>
              <a:rPr sz="1700" b="1" kern="0" spc="-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b="1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sz="1700" b="1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投资者可继续持有。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22225" algn="l" rtl="0" eaLnBrk="0">
              <a:lnSpc>
                <a:spcPct val="106000"/>
              </a:lnSpc>
              <a:spcBef>
                <a:spcPts val="0"/>
              </a:spcBef>
            </a:pPr>
            <a:r>
              <a:rPr sz="1700" b="1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出现在股价大幅上涨后，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应尽早落袋为安。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4" name="textbox 604"/>
          <p:cNvSpPr/>
          <p:nvPr/>
        </p:nvSpPr>
        <p:spPr>
          <a:xfrm>
            <a:off x="2667856" y="4042092"/>
            <a:ext cx="259079" cy="5734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700" b="1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</a:t>
            </a:r>
            <a:r>
              <a:rPr sz="1700" b="1" kern="0" spc="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b="1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6" name="textbox 606"/>
          <p:cNvSpPr/>
          <p:nvPr/>
        </p:nvSpPr>
        <p:spPr>
          <a:xfrm>
            <a:off x="2797557" y="4039710"/>
            <a:ext cx="3543300" cy="1165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果出现在长期横盘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6525" algn="l" rtl="0" eaLnBrk="0">
              <a:lnSpc>
                <a:spcPts val="2435"/>
              </a:lnSpc>
            </a:pPr>
            <a:r>
              <a:rPr sz="17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底部，是上涨信号。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4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0000"/>
              </a:lnSpc>
              <a:spcBef>
                <a:spcPts val="0"/>
              </a:spcBef>
            </a:pPr>
            <a:r>
              <a:rPr sz="2300" b="1" kern="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大阳线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08" name="picture 6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grpSp>
        <p:nvGrpSpPr>
          <p:cNvPr id="64" name="group 64"/>
          <p:cNvGrpSpPr/>
          <p:nvPr/>
        </p:nvGrpSpPr>
        <p:grpSpPr>
          <a:xfrm rot="21600000">
            <a:off x="1579245" y="712470"/>
            <a:ext cx="8549639" cy="22859"/>
            <a:chOff x="0" y="0"/>
            <a:chExt cx="8549639" cy="22859"/>
          </a:xfrm>
        </p:grpSpPr>
        <p:sp>
          <p:nvSpPr>
            <p:cNvPr id="610" name="path 610"/>
            <p:cNvSpPr/>
            <p:nvPr/>
          </p:nvSpPr>
          <p:spPr>
            <a:xfrm>
              <a:off x="0" y="0"/>
              <a:ext cx="210184" cy="22859"/>
            </a:xfrm>
            <a:custGeom>
              <a:avLst/>
              <a:gdLst/>
              <a:ahLst/>
              <a:cxnLst/>
              <a:rect l="0" t="0" r="0" b="0"/>
              <a:pathLst>
                <a:path w="330" h="35">
                  <a:moveTo>
                    <a:pt x="0" y="17"/>
                  </a:moveTo>
                  <a:lnTo>
                    <a:pt x="330" y="17"/>
                  </a:lnTo>
                </a:path>
              </a:pathLst>
            </a:custGeom>
            <a:noFill/>
            <a:ln w="22859" cap="flat">
              <a:solidFill>
                <a:srgbClr val="000000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12" name="path 612"/>
            <p:cNvSpPr/>
            <p:nvPr/>
          </p:nvSpPr>
          <p:spPr>
            <a:xfrm>
              <a:off x="210184" y="0"/>
              <a:ext cx="1808479" cy="22859"/>
            </a:xfrm>
            <a:custGeom>
              <a:avLst/>
              <a:gdLst/>
              <a:ahLst/>
              <a:cxnLst/>
              <a:rect l="0" t="0" r="0" b="0"/>
              <a:pathLst>
                <a:path w="2847" h="35">
                  <a:moveTo>
                    <a:pt x="0" y="17"/>
                  </a:moveTo>
                  <a:lnTo>
                    <a:pt x="2847" y="17"/>
                  </a:lnTo>
                </a:path>
              </a:pathLst>
            </a:custGeom>
            <a:noFill/>
            <a:ln w="22859" cap="flat">
              <a:solidFill>
                <a:srgbClr val="C00000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14" name="path 614"/>
            <p:cNvSpPr/>
            <p:nvPr/>
          </p:nvSpPr>
          <p:spPr>
            <a:xfrm>
              <a:off x="2018664" y="0"/>
              <a:ext cx="26670" cy="22859"/>
            </a:xfrm>
            <a:custGeom>
              <a:avLst/>
              <a:gdLst/>
              <a:ahLst/>
              <a:cxnLst/>
              <a:rect l="0" t="0" r="0" b="0"/>
              <a:pathLst>
                <a:path w="42" h="35">
                  <a:moveTo>
                    <a:pt x="0" y="17"/>
                  </a:moveTo>
                  <a:lnTo>
                    <a:pt x="42" y="17"/>
                  </a:lnTo>
                </a:path>
              </a:pathLst>
            </a:custGeom>
            <a:noFill/>
            <a:ln w="22859" cap="flat">
              <a:solidFill>
                <a:srgbClr val="000000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16" name="path 616"/>
            <p:cNvSpPr/>
            <p:nvPr/>
          </p:nvSpPr>
          <p:spPr>
            <a:xfrm>
              <a:off x="2045334" y="0"/>
              <a:ext cx="1356360" cy="22859"/>
            </a:xfrm>
            <a:custGeom>
              <a:avLst/>
              <a:gdLst/>
              <a:ahLst/>
              <a:cxnLst/>
              <a:rect l="0" t="0" r="0" b="0"/>
              <a:pathLst>
                <a:path w="2136" h="35">
                  <a:moveTo>
                    <a:pt x="0" y="17"/>
                  </a:moveTo>
                  <a:lnTo>
                    <a:pt x="2136" y="17"/>
                  </a:lnTo>
                </a:path>
              </a:pathLst>
            </a:custGeom>
            <a:noFill/>
            <a:ln w="22859" cap="flat">
              <a:solidFill>
                <a:srgbClr val="C00000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18" name="path 618"/>
            <p:cNvSpPr/>
            <p:nvPr/>
          </p:nvSpPr>
          <p:spPr>
            <a:xfrm>
              <a:off x="3401695" y="0"/>
              <a:ext cx="5147944" cy="22859"/>
            </a:xfrm>
            <a:custGeom>
              <a:avLst/>
              <a:gdLst/>
              <a:ahLst/>
              <a:cxnLst/>
              <a:rect l="0" t="0" r="0" b="0"/>
              <a:pathLst>
                <a:path w="8106" h="35">
                  <a:moveTo>
                    <a:pt x="0" y="17"/>
                  </a:moveTo>
                  <a:lnTo>
                    <a:pt x="8106" y="17"/>
                  </a:lnTo>
                </a:path>
              </a:pathLst>
            </a:custGeom>
            <a:noFill/>
            <a:ln w="22859" cap="flat">
              <a:solidFill>
                <a:srgbClr val="000000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622" name="textbox 622"/>
          <p:cNvSpPr/>
          <p:nvPr/>
        </p:nvSpPr>
        <p:spPr>
          <a:xfrm>
            <a:off x="1783852" y="246160"/>
            <a:ext cx="3202939" cy="508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3500" b="1" kern="0" spc="1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大阳线、</a:t>
            </a:r>
            <a:r>
              <a:rPr sz="3500" b="1" kern="0" spc="-61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500" b="1" kern="0" spc="1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大阴线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4" name="textbox 624"/>
          <p:cNvSpPr/>
          <p:nvPr/>
        </p:nvSpPr>
        <p:spPr>
          <a:xfrm>
            <a:off x="2786517" y="5650936"/>
            <a:ext cx="1830070" cy="563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940" indent="-15240" algn="l" rtl="0" eaLnBrk="0">
              <a:lnSpc>
                <a:spcPct val="106000"/>
              </a:lnSpc>
            </a:pP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大阴线则刚好与大</a:t>
            </a:r>
            <a:r>
              <a:rPr sz="1700" b="1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b="1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阳线相反。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26" name="picture 6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6220" y="3939540"/>
            <a:ext cx="324611" cy="1905000"/>
          </a:xfrm>
          <a:prstGeom prst="rect">
            <a:avLst/>
          </a:prstGeom>
        </p:spPr>
      </p:pic>
      <p:pic>
        <p:nvPicPr>
          <p:cNvPr id="628" name="picture 6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826752" y="3787140"/>
            <a:ext cx="313943" cy="1905000"/>
          </a:xfrm>
          <a:prstGeom prst="rect">
            <a:avLst/>
          </a:prstGeom>
        </p:spPr>
      </p:pic>
      <p:pic>
        <p:nvPicPr>
          <p:cNvPr id="630" name="picture 6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776983" y="4098035"/>
            <a:ext cx="324611" cy="1760220"/>
          </a:xfrm>
          <a:prstGeom prst="rect">
            <a:avLst/>
          </a:prstGeom>
        </p:spPr>
      </p:pic>
      <p:sp>
        <p:nvSpPr>
          <p:cNvPr id="632" name="rect 632"/>
          <p:cNvSpPr/>
          <p:nvPr/>
        </p:nvSpPr>
        <p:spPr>
          <a:xfrm>
            <a:off x="1005839" y="4099559"/>
            <a:ext cx="324611" cy="1607820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634" name="table 634"/>
          <p:cNvGraphicFramePr>
            <a:graphicFrameLocks noGrp="1"/>
          </p:cNvGraphicFramePr>
          <p:nvPr/>
        </p:nvGraphicFramePr>
        <p:xfrm>
          <a:off x="996950" y="4089400"/>
          <a:ext cx="342900" cy="1626870"/>
        </p:xfrm>
        <a:graphic>
          <a:graphicData uri="http://schemas.openxmlformats.org/drawingml/2006/table">
            <a:tbl>
              <a:tblPr/>
              <a:tblGrid>
                <a:gridCol w="342900"/>
              </a:tblGrid>
              <a:tr h="16078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36" name="picture 6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367516" y="3950208"/>
            <a:ext cx="313944" cy="1755647"/>
          </a:xfrm>
          <a:prstGeom prst="rect">
            <a:avLst/>
          </a:prstGeom>
        </p:spPr>
      </p:pic>
      <p:sp>
        <p:nvSpPr>
          <p:cNvPr id="638" name="path 638"/>
          <p:cNvSpPr/>
          <p:nvPr/>
        </p:nvSpPr>
        <p:spPr>
          <a:xfrm>
            <a:off x="10596371" y="3794759"/>
            <a:ext cx="313943" cy="1755647"/>
          </a:xfrm>
          <a:custGeom>
            <a:avLst/>
            <a:gdLst/>
            <a:ahLst/>
            <a:cxnLst/>
            <a:rect l="0" t="0" r="0" b="0"/>
            <a:pathLst>
              <a:path w="494" h="2764">
                <a:moveTo>
                  <a:pt x="0" y="240"/>
                </a:moveTo>
                <a:lnTo>
                  <a:pt x="494" y="240"/>
                </a:lnTo>
                <a:lnTo>
                  <a:pt x="494" y="2764"/>
                </a:lnTo>
                <a:lnTo>
                  <a:pt x="0" y="2764"/>
                </a:lnTo>
                <a:lnTo>
                  <a:pt x="0" y="240"/>
                </a:lnTo>
                <a:close/>
              </a:path>
              <a:path w="494" h="2764">
                <a:moveTo>
                  <a:pt x="232" y="0"/>
                </a:moveTo>
                <a:lnTo>
                  <a:pt x="292" y="0"/>
                </a:lnTo>
                <a:lnTo>
                  <a:pt x="292" y="240"/>
                </a:lnTo>
                <a:lnTo>
                  <a:pt x="232" y="240"/>
                </a:lnTo>
                <a:lnTo>
                  <a:pt x="232" y="0"/>
                </a:lnTo>
                <a:close/>
              </a:path>
            </a:pathLst>
          </a:custGeom>
          <a:solidFill>
            <a:srgbClr val="00B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640" name="table 640"/>
          <p:cNvGraphicFramePr>
            <a:graphicFrameLocks noGrp="1"/>
          </p:cNvGraphicFramePr>
          <p:nvPr/>
        </p:nvGraphicFramePr>
        <p:xfrm>
          <a:off x="10592752" y="3941762"/>
          <a:ext cx="320675" cy="1613535"/>
        </p:xfrm>
        <a:graphic>
          <a:graphicData uri="http://schemas.openxmlformats.org/drawingml/2006/table">
            <a:tbl>
              <a:tblPr/>
              <a:tblGrid>
                <a:gridCol w="320675"/>
              </a:tblGrid>
              <a:tr h="16040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66" name="group 66"/>
          <p:cNvGrpSpPr/>
          <p:nvPr/>
        </p:nvGrpSpPr>
        <p:grpSpPr>
          <a:xfrm rot="21600000">
            <a:off x="1130300" y="1595437"/>
            <a:ext cx="846137" cy="485775"/>
            <a:chOff x="0" y="0"/>
            <a:chExt cx="846137" cy="485775"/>
          </a:xfrm>
        </p:grpSpPr>
        <p:sp>
          <p:nvSpPr>
            <p:cNvPr id="642" name="path 642"/>
            <p:cNvSpPr/>
            <p:nvPr/>
          </p:nvSpPr>
          <p:spPr>
            <a:xfrm>
              <a:off x="0" y="0"/>
              <a:ext cx="521385" cy="485775"/>
            </a:xfrm>
            <a:custGeom>
              <a:avLst/>
              <a:gdLst/>
              <a:ahLst/>
              <a:cxnLst/>
              <a:rect l="0" t="0" r="0" b="0"/>
              <a:pathLst>
                <a:path w="821" h="765">
                  <a:moveTo>
                    <a:pt x="362" y="0"/>
                  </a:moveTo>
                  <a:lnTo>
                    <a:pt x="821" y="765"/>
                  </a:lnTo>
                  <a:lnTo>
                    <a:pt x="441" y="765"/>
                  </a:lnTo>
                  <a:lnTo>
                    <a:pt x="0" y="27"/>
                  </a:lnTo>
                  <a:lnTo>
                    <a:pt x="362" y="0"/>
                  </a:lnTo>
                </a:path>
              </a:pathLst>
            </a:custGeom>
            <a:solidFill>
              <a:srgbClr val="59595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44" name="path 644"/>
            <p:cNvSpPr/>
            <p:nvPr/>
          </p:nvSpPr>
          <p:spPr>
            <a:xfrm>
              <a:off x="324751" y="0"/>
              <a:ext cx="521386" cy="485775"/>
            </a:xfrm>
            <a:custGeom>
              <a:avLst/>
              <a:gdLst/>
              <a:ahLst/>
              <a:cxnLst/>
              <a:rect l="0" t="0" r="0" b="0"/>
              <a:pathLst>
                <a:path w="821" h="765">
                  <a:moveTo>
                    <a:pt x="362" y="0"/>
                  </a:moveTo>
                  <a:lnTo>
                    <a:pt x="821" y="765"/>
                  </a:lnTo>
                  <a:lnTo>
                    <a:pt x="441" y="765"/>
                  </a:lnTo>
                  <a:lnTo>
                    <a:pt x="0" y="27"/>
                  </a:lnTo>
                  <a:lnTo>
                    <a:pt x="362" y="0"/>
                  </a:lnTo>
                </a:path>
              </a:pathLst>
            </a:custGeom>
            <a:solidFill>
              <a:srgbClr val="1D6DC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646" name="picture 64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648" name="picture 64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158239" y="3947159"/>
            <a:ext cx="381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textbox 650"/>
          <p:cNvSpPr/>
          <p:nvPr/>
        </p:nvSpPr>
        <p:spPr>
          <a:xfrm rot="19620000">
            <a:off x="1805468" y="3126375"/>
            <a:ext cx="8372475" cy="93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 ，</a:t>
            </a:r>
            <a:r>
              <a:rPr sz="5800" kern="0" spc="-14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52" name="picture 6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69619" y="1623060"/>
            <a:ext cx="3924300" cy="4690871"/>
          </a:xfrm>
          <a:prstGeom prst="rect">
            <a:avLst/>
          </a:prstGeom>
        </p:spPr>
      </p:pic>
      <p:sp>
        <p:nvSpPr>
          <p:cNvPr id="654" name="textbox 654"/>
          <p:cNvSpPr/>
          <p:nvPr/>
        </p:nvSpPr>
        <p:spPr>
          <a:xfrm>
            <a:off x="6113411" y="2461729"/>
            <a:ext cx="2951479" cy="26962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4295" algn="l" rtl="0" eaLnBrk="0">
              <a:lnSpc>
                <a:spcPct val="75000"/>
              </a:lnSpc>
            </a:pPr>
            <a:r>
              <a:rPr sz="3800" kern="0" spc="0" dirty="0">
                <a:solidFill>
                  <a:srgbClr val="4276A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r>
              <a:rPr sz="3800" kern="0" spc="100" dirty="0">
                <a:solidFill>
                  <a:srgbClr val="4276A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</a:t>
            </a:r>
            <a:r>
              <a:rPr sz="2300" b="1" kern="0" spc="0" dirty="0">
                <a:solidFill>
                  <a:srgbClr val="333F5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见顶信号K线组合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355" algn="l" rtl="0" eaLnBrk="0">
              <a:lnSpc>
                <a:spcPct val="75000"/>
              </a:lnSpc>
              <a:spcBef>
                <a:spcPts val="1975"/>
              </a:spcBef>
            </a:pPr>
            <a:r>
              <a:rPr sz="3900" kern="0" spc="10" dirty="0">
                <a:solidFill>
                  <a:srgbClr val="178AA1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r>
              <a:rPr sz="3900" kern="0" spc="110" dirty="0">
                <a:solidFill>
                  <a:srgbClr val="178AA1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</a:t>
            </a:r>
            <a:r>
              <a:rPr sz="2300" b="1" kern="0" spc="10" dirty="0">
                <a:solidFill>
                  <a:srgbClr val="333F5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见底信号K线组合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9370" algn="l" rtl="0" eaLnBrk="0">
              <a:lnSpc>
                <a:spcPct val="76000"/>
              </a:lnSpc>
              <a:spcBef>
                <a:spcPts val="1140"/>
              </a:spcBef>
            </a:pPr>
            <a:r>
              <a:rPr sz="3800" kern="0" spc="20" dirty="0">
                <a:solidFill>
                  <a:srgbClr val="40A69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r>
              <a:rPr sz="3800" kern="0" spc="120" dirty="0">
                <a:solidFill>
                  <a:srgbClr val="40A69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</a:t>
            </a:r>
            <a:r>
              <a:rPr sz="2300" b="1" kern="0" spc="20" dirty="0">
                <a:solidFill>
                  <a:srgbClr val="333F5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上升形态K线组合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5000"/>
              </a:lnSpc>
            </a:pPr>
            <a:r>
              <a:rPr sz="3800" kern="0" spc="120" dirty="0">
                <a:solidFill>
                  <a:srgbClr val="5268A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r>
              <a:rPr sz="3800" kern="0" spc="140" dirty="0">
                <a:solidFill>
                  <a:srgbClr val="5268A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</a:t>
            </a:r>
            <a:r>
              <a:rPr sz="2000" b="1" kern="0" spc="120" dirty="0">
                <a:solidFill>
                  <a:srgbClr val="333F5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下降形态K线组合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56" name="picture 6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sp>
        <p:nvSpPr>
          <p:cNvPr id="660" name="textbox 660"/>
          <p:cNvSpPr/>
          <p:nvPr/>
        </p:nvSpPr>
        <p:spPr>
          <a:xfrm>
            <a:off x="1781207" y="283672"/>
            <a:ext cx="1795779" cy="510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500" b="1" kern="0" spc="25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组合K线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62" name="picture 6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  <p:grpSp>
        <p:nvGrpSpPr>
          <p:cNvPr id="68" name="group 68"/>
          <p:cNvGrpSpPr/>
          <p:nvPr/>
        </p:nvGrpSpPr>
        <p:grpSpPr>
          <a:xfrm rot="21600000">
            <a:off x="5019675" y="2349500"/>
            <a:ext cx="709612" cy="919162"/>
            <a:chOff x="0" y="0"/>
            <a:chExt cx="709612" cy="919162"/>
          </a:xfrm>
        </p:grpSpPr>
        <p:sp>
          <p:nvSpPr>
            <p:cNvPr id="664" name="path 664"/>
            <p:cNvSpPr/>
            <p:nvPr/>
          </p:nvSpPr>
          <p:spPr>
            <a:xfrm>
              <a:off x="257898" y="467969"/>
              <a:ext cx="451713" cy="451193"/>
            </a:xfrm>
            <a:custGeom>
              <a:avLst/>
              <a:gdLst/>
              <a:ahLst/>
              <a:cxnLst/>
              <a:rect l="0" t="0" r="0" b="0"/>
              <a:pathLst>
                <a:path w="711" h="710">
                  <a:moveTo>
                    <a:pt x="711" y="0"/>
                  </a:moveTo>
                  <a:lnTo>
                    <a:pt x="711" y="710"/>
                  </a:lnTo>
                  <a:lnTo>
                    <a:pt x="0" y="0"/>
                  </a:lnTo>
                  <a:lnTo>
                    <a:pt x="711" y="0"/>
                  </a:lnTo>
                </a:path>
              </a:pathLst>
            </a:custGeom>
            <a:solidFill>
              <a:srgbClr val="C9CED5">
                <a:alpha val="45882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66" name="path 666"/>
            <p:cNvSpPr/>
            <p:nvPr/>
          </p:nvSpPr>
          <p:spPr>
            <a:xfrm>
              <a:off x="0" y="0"/>
              <a:ext cx="709612" cy="708812"/>
            </a:xfrm>
            <a:custGeom>
              <a:avLst/>
              <a:gdLst/>
              <a:ahLst/>
              <a:cxnLst/>
              <a:rect l="0" t="0" r="0" b="0"/>
              <a:pathLst>
                <a:path w="1117" h="1116">
                  <a:moveTo>
                    <a:pt x="1117" y="0"/>
                  </a:moveTo>
                  <a:lnTo>
                    <a:pt x="1117" y="1116"/>
                  </a:lnTo>
                  <a:lnTo>
                    <a:pt x="0" y="0"/>
                  </a:lnTo>
                  <a:lnTo>
                    <a:pt x="1117" y="0"/>
                  </a:lnTo>
                </a:path>
              </a:pathLst>
            </a:custGeom>
            <a:solidFill>
              <a:srgbClr val="58637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668" name="picture 66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0" name="picture 6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175003" y="1225296"/>
            <a:ext cx="1982724" cy="917447"/>
          </a:xfrm>
          <a:prstGeom prst="rect">
            <a:avLst/>
          </a:prstGeom>
        </p:spPr>
      </p:pic>
      <p:sp>
        <p:nvSpPr>
          <p:cNvPr id="672" name="textbox 672"/>
          <p:cNvSpPr/>
          <p:nvPr/>
        </p:nvSpPr>
        <p:spPr>
          <a:xfrm>
            <a:off x="-12700" y="-12700"/>
            <a:ext cx="12217400" cy="18903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19885" algn="l" rtl="0" eaLnBrk="0">
              <a:lnSpc>
                <a:spcPct val="82000"/>
              </a:lnSpc>
              <a:spcBef>
                <a:spcPts val="5"/>
              </a:spcBef>
              <a:tabLst>
                <a:tab pos="9642475" algn="l"/>
              </a:tabLst>
            </a:pPr>
            <a:r>
              <a:rPr sz="3500" b="1" u="sng" kern="0" spc="7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见顶信号K线组合</a:t>
            </a:r>
            <a:r>
              <a:rPr sz="3500" b="1" u="sng" kern="0" spc="-94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500" b="1" u="sng" kern="0" spc="0" dirty="0">
                <a:solidFill>
                  <a:srgbClr val="C00000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28115" algn="l" rtl="0" eaLnBrk="0">
              <a:lnSpc>
                <a:spcPct val="91000"/>
              </a:lnSpc>
              <a:spcBef>
                <a:spcPts val="5"/>
              </a:spcBef>
            </a:pPr>
            <a:r>
              <a:rPr sz="2300" b="1" kern="0" spc="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黄昏十字星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76" name="picture 6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sp>
        <p:nvSpPr>
          <p:cNvPr id="678" name="textbox 678"/>
          <p:cNvSpPr/>
          <p:nvPr/>
        </p:nvSpPr>
        <p:spPr>
          <a:xfrm rot="19620000">
            <a:off x="5996730" y="1886515"/>
            <a:ext cx="3796029" cy="932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1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0" name="textbox 680"/>
          <p:cNvSpPr/>
          <p:nvPr/>
        </p:nvSpPr>
        <p:spPr>
          <a:xfrm>
            <a:off x="4963667" y="2458211"/>
            <a:ext cx="5975984" cy="661669"/>
          </a:xfrm>
          <a:prstGeom prst="rect">
            <a:avLst/>
          </a:prstGeom>
          <a:solidFill>
            <a:srgbClr val="DD232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65785" algn="l" rtl="0" eaLnBrk="0">
              <a:lnSpc>
                <a:spcPct val="91000"/>
              </a:lnSpc>
            </a:pP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出现在涨势中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82" name="picture 6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544567" y="2186940"/>
            <a:ext cx="838200" cy="3186683"/>
          </a:xfrm>
          <a:prstGeom prst="rect">
            <a:avLst/>
          </a:prstGeom>
        </p:spPr>
      </p:pic>
      <p:grpSp>
        <p:nvGrpSpPr>
          <p:cNvPr id="70" name="group 70"/>
          <p:cNvGrpSpPr/>
          <p:nvPr/>
        </p:nvGrpSpPr>
        <p:grpSpPr>
          <a:xfrm rot="21600000">
            <a:off x="3157727" y="5789676"/>
            <a:ext cx="7367016" cy="658367"/>
            <a:chOff x="0" y="0"/>
            <a:chExt cx="7367016" cy="658367"/>
          </a:xfrm>
        </p:grpSpPr>
        <p:pic>
          <p:nvPicPr>
            <p:cNvPr id="684" name="picture 68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7367016" cy="658367"/>
            </a:xfrm>
            <a:prstGeom prst="rect">
              <a:avLst/>
            </a:prstGeom>
          </p:spPr>
        </p:pic>
        <p:sp>
          <p:nvSpPr>
            <p:cNvPr id="686" name="textbox 686"/>
            <p:cNvSpPr/>
            <p:nvPr/>
          </p:nvSpPr>
          <p:spPr>
            <a:xfrm>
              <a:off x="-12700" y="-12700"/>
              <a:ext cx="7392669" cy="7061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3000"/>
                </a:lnSpc>
              </a:pPr>
              <a:endParaRPr sz="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15570" indent="-1270" algn="l" rtl="0" eaLnBrk="0">
                <a:lnSpc>
                  <a:spcPct val="96000"/>
                </a:lnSpc>
              </a:pPr>
              <a:r>
                <a:rPr sz="1700" kern="0" spc="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股价已经见顶或离顶部不远 ，股价可能会反转</a:t>
              </a:r>
              <a:r>
                <a:rPr sz="1700" kern="0" spc="-1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700" kern="0" spc="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 由强转弱 ，后市看跌。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</a:t>
              </a:r>
              <a:r>
                <a:rPr sz="17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投资者尽早出货或轻仓。</a:t>
              </a:r>
              <a:endParaRPr sz="1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688" name="textbox 688"/>
          <p:cNvSpPr/>
          <p:nvPr/>
        </p:nvSpPr>
        <p:spPr>
          <a:xfrm rot="19620000">
            <a:off x="2163479" y="4354838"/>
            <a:ext cx="3795395" cy="925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  <a:spcBef>
                <a:spcPts val="0"/>
              </a:spcBef>
            </a:pPr>
            <a:r>
              <a:rPr sz="5800" kern="0" spc="1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2" name="group 72"/>
          <p:cNvGrpSpPr/>
          <p:nvPr/>
        </p:nvGrpSpPr>
        <p:grpSpPr>
          <a:xfrm rot="21600000">
            <a:off x="4544567" y="3360420"/>
            <a:ext cx="6400799" cy="1831847"/>
            <a:chOff x="0" y="0"/>
            <a:chExt cx="6400799" cy="1831847"/>
          </a:xfrm>
        </p:grpSpPr>
        <p:pic>
          <p:nvPicPr>
            <p:cNvPr id="690" name="picture 69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6400799" cy="1831847"/>
            </a:xfrm>
            <a:prstGeom prst="rect">
              <a:avLst/>
            </a:prstGeom>
          </p:spPr>
        </p:pic>
        <p:sp>
          <p:nvSpPr>
            <p:cNvPr id="692" name="textbox 692"/>
            <p:cNvSpPr/>
            <p:nvPr/>
          </p:nvSpPr>
          <p:spPr>
            <a:xfrm>
              <a:off x="-12700" y="-12700"/>
              <a:ext cx="6426200" cy="18789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199515" indent="40005" algn="l" rtl="0" eaLnBrk="0">
                <a:lnSpc>
                  <a:spcPct val="96000"/>
                </a:lnSpc>
                <a:spcBef>
                  <a:spcPts val="5"/>
                </a:spcBef>
              </a:pPr>
              <a:r>
                <a:rPr sz="1700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由</a:t>
              </a:r>
              <a:r>
                <a:rPr sz="1700" kern="0" spc="-10" dirty="0">
                  <a:solidFill>
                    <a:srgbClr val="FFFFFF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3</a:t>
              </a:r>
              <a:r>
                <a:rPr sz="1700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根</a:t>
              </a:r>
              <a:r>
                <a:rPr sz="1700" kern="0" spc="-10" dirty="0">
                  <a:solidFill>
                    <a:srgbClr val="FFFFFF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K</a:t>
              </a:r>
              <a:r>
                <a:rPr sz="1700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线组成</a:t>
              </a:r>
              <a:r>
                <a:rPr sz="1700" kern="0" spc="1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700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，第一根</a:t>
              </a:r>
              <a:r>
                <a:rPr sz="1700" kern="0" spc="-10" dirty="0">
                  <a:solidFill>
                    <a:srgbClr val="FFFFFF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K</a:t>
              </a:r>
              <a:r>
                <a:rPr sz="1700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线为阳线</a:t>
              </a:r>
              <a:r>
                <a:rPr sz="1700" kern="0" spc="-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，第二根为十字星，</a:t>
              </a:r>
              <a:r>
                <a:rPr sz="1700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700" kern="0" spc="5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第三根为阴线</a:t>
              </a:r>
              <a:endParaRPr sz="1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2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959485" algn="l" rtl="0" eaLnBrk="0">
                <a:lnSpc>
                  <a:spcPct val="91000"/>
                </a:lnSpc>
                <a:spcBef>
                  <a:spcPts val="5"/>
                </a:spcBef>
              </a:pPr>
              <a:r>
                <a:rPr sz="1700" kern="0" spc="9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第三根阴线的实体深入到第一根</a:t>
              </a:r>
              <a:r>
                <a:rPr sz="1700" kern="0" spc="90" dirty="0">
                  <a:solidFill>
                    <a:srgbClr val="FFFFFF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K</a:t>
              </a:r>
              <a:r>
                <a:rPr sz="1700" kern="0" spc="9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线的内部</a:t>
              </a:r>
              <a:endParaRPr sz="1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694" name="rect 694"/>
          <p:cNvSpPr/>
          <p:nvPr/>
        </p:nvSpPr>
        <p:spPr>
          <a:xfrm>
            <a:off x="2020824" y="3101340"/>
            <a:ext cx="419100" cy="1485900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96" name="picture 69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328672" y="5713475"/>
            <a:ext cx="762000" cy="812292"/>
          </a:xfrm>
          <a:prstGeom prst="rect">
            <a:avLst/>
          </a:prstGeom>
        </p:spPr>
      </p:pic>
      <p:graphicFrame>
        <p:nvGraphicFramePr>
          <p:cNvPr id="698" name="table 698"/>
          <p:cNvGraphicFramePr>
            <a:graphicFrameLocks noGrp="1"/>
          </p:cNvGraphicFramePr>
          <p:nvPr/>
        </p:nvGraphicFramePr>
        <p:xfrm>
          <a:off x="3325812" y="3112134"/>
          <a:ext cx="397509" cy="1456689"/>
        </p:xfrm>
        <a:graphic>
          <a:graphicData uri="http://schemas.openxmlformats.org/drawingml/2006/table">
            <a:tbl>
              <a:tblPr>
                <a:solidFill>
                  <a:srgbClr val="00B050"/>
                </a:solidFill>
              </a:tblPr>
              <a:tblGrid>
                <a:gridCol w="397509"/>
              </a:tblGrid>
              <a:tr h="14471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pic>
        <p:nvPicPr>
          <p:cNvPr id="700" name="picture 70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711195" y="2403347"/>
            <a:ext cx="452627" cy="864108"/>
          </a:xfrm>
          <a:prstGeom prst="rect">
            <a:avLst/>
          </a:prstGeom>
        </p:spPr>
      </p:pic>
      <p:pic>
        <p:nvPicPr>
          <p:cNvPr id="702" name="picture 70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4" name="picture 7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628900" y="5615939"/>
            <a:ext cx="7367016" cy="656844"/>
          </a:xfrm>
          <a:prstGeom prst="rect">
            <a:avLst/>
          </a:prstGeom>
        </p:spPr>
      </p:pic>
      <p:sp>
        <p:nvSpPr>
          <p:cNvPr id="706" name="textbox 706"/>
          <p:cNvSpPr/>
          <p:nvPr/>
        </p:nvSpPr>
        <p:spPr>
          <a:xfrm rot="19620000">
            <a:off x="1805468" y="3126375"/>
            <a:ext cx="8372475" cy="93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 ，</a:t>
            </a:r>
            <a:r>
              <a:rPr sz="5800" kern="0" spc="-14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4" name="group 74"/>
          <p:cNvGrpSpPr/>
          <p:nvPr/>
        </p:nvGrpSpPr>
        <p:grpSpPr>
          <a:xfrm rot="21600000">
            <a:off x="4410455" y="2186940"/>
            <a:ext cx="6393179" cy="3186683"/>
            <a:chOff x="0" y="0"/>
            <a:chExt cx="6393179" cy="3186683"/>
          </a:xfrm>
        </p:grpSpPr>
        <p:pic>
          <p:nvPicPr>
            <p:cNvPr id="708" name="picture 70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6393179" cy="3186683"/>
            </a:xfrm>
            <a:prstGeom prst="rect">
              <a:avLst/>
            </a:prstGeom>
          </p:spPr>
        </p:pic>
        <p:sp>
          <p:nvSpPr>
            <p:cNvPr id="710" name="textbox 710"/>
            <p:cNvSpPr/>
            <p:nvPr/>
          </p:nvSpPr>
          <p:spPr>
            <a:xfrm>
              <a:off x="-12700" y="-12700"/>
              <a:ext cx="6418579" cy="323405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995045" algn="l" rtl="0" eaLnBrk="0">
                <a:lnSpc>
                  <a:spcPct val="91000"/>
                </a:lnSpc>
              </a:pPr>
              <a:r>
                <a:rPr sz="1700" kern="0" spc="30" dirty="0">
                  <a:solidFill>
                    <a:srgbClr val="44546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出现在涨势中</a:t>
              </a:r>
              <a:endParaRPr sz="1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2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02055" indent="36195" algn="l" rtl="0" eaLnBrk="0">
                <a:lnSpc>
                  <a:spcPct val="96000"/>
                </a:lnSpc>
                <a:spcBef>
                  <a:spcPts val="515"/>
                </a:spcBef>
              </a:pPr>
              <a:r>
                <a:rPr sz="1700" kern="0" spc="30" dirty="0">
                  <a:solidFill>
                    <a:srgbClr val="44546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由</a:t>
              </a:r>
              <a:r>
                <a:rPr sz="1700" kern="0" spc="30" dirty="0">
                  <a:solidFill>
                    <a:srgbClr val="44546A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3</a:t>
              </a:r>
              <a:r>
                <a:rPr sz="1700" kern="0" spc="30" dirty="0">
                  <a:solidFill>
                    <a:srgbClr val="44546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根</a:t>
              </a:r>
              <a:r>
                <a:rPr sz="1700" kern="0" spc="30" dirty="0">
                  <a:solidFill>
                    <a:srgbClr val="44546A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K</a:t>
              </a:r>
              <a:r>
                <a:rPr sz="1700" kern="0" spc="30" dirty="0">
                  <a:solidFill>
                    <a:srgbClr val="44546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线组成</a:t>
              </a:r>
              <a:r>
                <a:rPr sz="1700" kern="0" spc="140" dirty="0">
                  <a:solidFill>
                    <a:srgbClr val="44546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700" kern="0" spc="30" dirty="0">
                  <a:solidFill>
                    <a:srgbClr val="44546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，第一根</a:t>
              </a:r>
              <a:r>
                <a:rPr sz="1700" kern="0" spc="30" dirty="0">
                  <a:solidFill>
                    <a:srgbClr val="44546A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K</a:t>
              </a:r>
              <a:r>
                <a:rPr sz="1700" kern="0" spc="30" dirty="0">
                  <a:solidFill>
                    <a:srgbClr val="44546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线为</a:t>
              </a:r>
              <a:r>
                <a:rPr sz="1700" kern="0" spc="20" dirty="0">
                  <a:solidFill>
                    <a:srgbClr val="44546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阳线 ，第二根为小阳线</a:t>
              </a:r>
              <a:r>
                <a:rPr sz="1700" kern="0" spc="0" dirty="0">
                  <a:solidFill>
                    <a:srgbClr val="44546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sz="1700" kern="0" spc="30" dirty="0">
                  <a:solidFill>
                    <a:srgbClr val="44546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或小阴线 ，第三根为阴线</a:t>
              </a:r>
              <a:endParaRPr sz="1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2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956945" algn="l" rtl="0" eaLnBrk="0">
                <a:lnSpc>
                  <a:spcPct val="91000"/>
                </a:lnSpc>
                <a:spcBef>
                  <a:spcPts val="0"/>
                </a:spcBef>
              </a:pPr>
              <a:r>
                <a:rPr sz="1700" kern="0" spc="90" dirty="0">
                  <a:solidFill>
                    <a:srgbClr val="44546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第三根阴线的实体深入到第一根</a:t>
              </a:r>
              <a:r>
                <a:rPr sz="1700" kern="0" spc="90" dirty="0">
                  <a:solidFill>
                    <a:srgbClr val="44546A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K</a:t>
              </a:r>
              <a:r>
                <a:rPr sz="1700" kern="0" spc="90" dirty="0">
                  <a:solidFill>
                    <a:srgbClr val="44546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线的内部</a:t>
              </a:r>
              <a:endParaRPr sz="1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712" name="textbox 712"/>
          <p:cNvSpPr/>
          <p:nvPr/>
        </p:nvSpPr>
        <p:spPr>
          <a:xfrm>
            <a:off x="2717616" y="5710520"/>
            <a:ext cx="7023100" cy="5245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indent="-1270" algn="l" rtl="0" eaLnBrk="0">
              <a:lnSpc>
                <a:spcPct val="96000"/>
              </a:lnSpc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股价已经见顶或离顶部不远 ，股价可能会反转</a:t>
            </a:r>
            <a:r>
              <a:rPr sz="1700" kern="0" spc="-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 由强转弱 ，后市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看跌。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投资者尽早出货或轻仓。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6" name="group 76"/>
          <p:cNvGrpSpPr/>
          <p:nvPr/>
        </p:nvGrpSpPr>
        <p:grpSpPr>
          <a:xfrm rot="21600000">
            <a:off x="1175003" y="1225296"/>
            <a:ext cx="1982724" cy="917447"/>
            <a:chOff x="0" y="0"/>
            <a:chExt cx="1982724" cy="917447"/>
          </a:xfrm>
        </p:grpSpPr>
        <p:pic>
          <p:nvPicPr>
            <p:cNvPr id="714" name="picture 7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982724" cy="917447"/>
            </a:xfrm>
            <a:prstGeom prst="rect">
              <a:avLst/>
            </a:prstGeom>
          </p:spPr>
        </p:pic>
        <p:sp>
          <p:nvSpPr>
            <p:cNvPr id="716" name="textbox 716"/>
            <p:cNvSpPr/>
            <p:nvPr/>
          </p:nvSpPr>
          <p:spPr>
            <a:xfrm>
              <a:off x="-12700" y="-12700"/>
              <a:ext cx="2008504" cy="97408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54000" algn="l" rtl="0" eaLnBrk="0">
                <a:lnSpc>
                  <a:spcPct val="91000"/>
                </a:lnSpc>
                <a:spcBef>
                  <a:spcPts val="0"/>
                </a:spcBef>
              </a:pPr>
              <a:r>
                <a:rPr sz="2300" b="1" kern="0" spc="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黄昏之星</a:t>
              </a:r>
              <a:endParaRPr sz="2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718" name="picture 7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pic>
        <p:nvPicPr>
          <p:cNvPr id="722" name="picture 7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724" name="picture 7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  <p:sp>
        <p:nvSpPr>
          <p:cNvPr id="726" name="rect 726"/>
          <p:cNvSpPr/>
          <p:nvPr/>
        </p:nvSpPr>
        <p:spPr>
          <a:xfrm>
            <a:off x="1491996" y="2929128"/>
            <a:ext cx="419100" cy="1485900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728" name="picture 7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799844" y="5539740"/>
            <a:ext cx="762000" cy="810767"/>
          </a:xfrm>
          <a:prstGeom prst="rect">
            <a:avLst/>
          </a:prstGeom>
        </p:spPr>
      </p:pic>
      <p:graphicFrame>
        <p:nvGraphicFramePr>
          <p:cNvPr id="730" name="table 730"/>
          <p:cNvGraphicFramePr>
            <a:graphicFrameLocks noGrp="1"/>
          </p:cNvGraphicFramePr>
          <p:nvPr/>
        </p:nvGraphicFramePr>
        <p:xfrm>
          <a:off x="2795905" y="2938779"/>
          <a:ext cx="400050" cy="1455420"/>
        </p:xfrm>
        <a:graphic>
          <a:graphicData uri="http://schemas.openxmlformats.org/drawingml/2006/table">
            <a:tbl>
              <a:tblPr>
                <a:solidFill>
                  <a:srgbClr val="00B050"/>
                </a:solidFill>
              </a:tblPr>
              <a:tblGrid>
                <a:gridCol w="400050"/>
              </a:tblGrid>
              <a:tr h="14458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pic>
        <p:nvPicPr>
          <p:cNvPr id="732" name="picture 7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202179" y="2302764"/>
            <a:ext cx="390144" cy="71780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4" name="picture 7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605528" y="2272283"/>
            <a:ext cx="684276" cy="3186684"/>
          </a:xfrm>
          <a:prstGeom prst="rect">
            <a:avLst/>
          </a:prstGeom>
        </p:spPr>
      </p:pic>
      <p:pic>
        <p:nvPicPr>
          <p:cNvPr id="736" name="picture 7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828544" y="5750051"/>
            <a:ext cx="7367016" cy="656844"/>
          </a:xfrm>
          <a:prstGeom prst="rect">
            <a:avLst/>
          </a:prstGeom>
        </p:spPr>
      </p:pic>
      <p:sp>
        <p:nvSpPr>
          <p:cNvPr id="738" name="textbox 738"/>
          <p:cNvSpPr/>
          <p:nvPr/>
        </p:nvSpPr>
        <p:spPr>
          <a:xfrm rot="19620000">
            <a:off x="2163479" y="4354838"/>
            <a:ext cx="3795395" cy="925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  <a:spcBef>
                <a:spcPts val="0"/>
              </a:spcBef>
            </a:pPr>
            <a:r>
              <a:rPr sz="5800" kern="0" spc="1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0" name="textbox 740"/>
          <p:cNvSpPr/>
          <p:nvPr/>
        </p:nvSpPr>
        <p:spPr>
          <a:xfrm rot="19620000">
            <a:off x="5996730" y="1886515"/>
            <a:ext cx="3796029" cy="932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1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42" name="picture 7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835652" y="3444239"/>
            <a:ext cx="6160008" cy="839723"/>
          </a:xfrm>
          <a:prstGeom prst="rect">
            <a:avLst/>
          </a:prstGeom>
        </p:spPr>
      </p:pic>
      <p:pic>
        <p:nvPicPr>
          <p:cNvPr id="744" name="picture 7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594859" y="2452116"/>
            <a:ext cx="6399275" cy="839723"/>
          </a:xfrm>
          <a:prstGeom prst="rect">
            <a:avLst/>
          </a:prstGeom>
        </p:spPr>
      </p:pic>
      <p:pic>
        <p:nvPicPr>
          <p:cNvPr id="746" name="picture 7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594859" y="4436364"/>
            <a:ext cx="6400799" cy="839723"/>
          </a:xfrm>
          <a:prstGeom prst="rect">
            <a:avLst/>
          </a:prstGeom>
        </p:spPr>
      </p:pic>
      <p:sp>
        <p:nvSpPr>
          <p:cNvPr id="748" name="textbox 748"/>
          <p:cNvSpPr/>
          <p:nvPr/>
        </p:nvSpPr>
        <p:spPr>
          <a:xfrm>
            <a:off x="5529064" y="2759056"/>
            <a:ext cx="5387340" cy="23793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0800" algn="l" rtl="0" eaLnBrk="0">
              <a:lnSpc>
                <a:spcPct val="91000"/>
              </a:lnSpc>
            </a:pP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出现在涨势中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4005" algn="l" rtl="0" eaLnBrk="0">
              <a:lnSpc>
                <a:spcPct val="91000"/>
              </a:lnSpc>
              <a:spcBef>
                <a:spcPts val="515"/>
              </a:spcBef>
            </a:pP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K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线组成 ，第一根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K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线为阳线 </a:t>
            </a:r>
            <a:r>
              <a:rPr sz="1700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，第二根为阴线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indent="-3810" algn="l" rtl="0" eaLnBrk="0">
              <a:lnSpc>
                <a:spcPct val="96000"/>
              </a:lnSpc>
              <a:spcBef>
                <a:spcPts val="5"/>
              </a:spcBef>
            </a:pPr>
            <a:r>
              <a:rPr sz="1700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第二根阴线高开低走</a:t>
            </a:r>
            <a:r>
              <a:rPr sz="1700" kern="0" spc="-1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700" kern="0" spc="-2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收盘价在前一</a:t>
            </a:r>
            <a:r>
              <a:rPr sz="1700" kern="0" spc="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</a:t>
            </a:r>
            <a:r>
              <a:rPr sz="1700" kern="0" spc="6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K</a:t>
            </a:r>
            <a:r>
              <a:rPr sz="1700" kern="0" spc="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线收盘价相同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或相近的位置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0" name="textbox 750"/>
          <p:cNvSpPr/>
          <p:nvPr/>
        </p:nvSpPr>
        <p:spPr>
          <a:xfrm>
            <a:off x="2920692" y="5844314"/>
            <a:ext cx="7089140" cy="523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65405" algn="l" rtl="0" eaLnBrk="0">
              <a:lnSpc>
                <a:spcPct val="96000"/>
              </a:lnSpc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股价已经见顶或离顶部不远 ，股价随时会反转</a:t>
            </a:r>
            <a:r>
              <a:rPr sz="1700" kern="0" spc="-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 由涨转跌 ，后市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看跌。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投资者尽早出货或轻仓。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8" name="group 78"/>
          <p:cNvGrpSpPr/>
          <p:nvPr/>
        </p:nvGrpSpPr>
        <p:grpSpPr>
          <a:xfrm rot="21600000">
            <a:off x="1175003" y="1225296"/>
            <a:ext cx="1982724" cy="917447"/>
            <a:chOff x="0" y="0"/>
            <a:chExt cx="1982724" cy="917447"/>
          </a:xfrm>
        </p:grpSpPr>
        <p:pic>
          <p:nvPicPr>
            <p:cNvPr id="752" name="picture 75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1982724" cy="917447"/>
            </a:xfrm>
            <a:prstGeom prst="rect">
              <a:avLst/>
            </a:prstGeom>
          </p:spPr>
        </p:pic>
        <p:sp>
          <p:nvSpPr>
            <p:cNvPr id="754" name="textbox 754"/>
            <p:cNvSpPr/>
            <p:nvPr/>
          </p:nvSpPr>
          <p:spPr>
            <a:xfrm>
              <a:off x="-12700" y="-12700"/>
              <a:ext cx="2008504" cy="9734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46380" algn="l" rtl="0" eaLnBrk="0">
                <a:lnSpc>
                  <a:spcPct val="91000"/>
                </a:lnSpc>
                <a:spcBef>
                  <a:spcPts val="5"/>
                </a:spcBef>
              </a:pPr>
              <a:r>
                <a:rPr sz="2300" b="1" kern="0" spc="5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淡友反攻</a:t>
              </a:r>
              <a:endParaRPr sz="2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756" name="picture 75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pic>
        <p:nvPicPr>
          <p:cNvPr id="760" name="picture 76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762" name="picture 76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  <p:pic>
        <p:nvPicPr>
          <p:cNvPr id="764" name="picture 76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2002536" y="5673852"/>
            <a:ext cx="762000" cy="812292"/>
          </a:xfrm>
          <a:prstGeom prst="rect">
            <a:avLst/>
          </a:prstGeom>
        </p:spPr>
      </p:pic>
      <p:sp>
        <p:nvSpPr>
          <p:cNvPr id="766" name="rect 766"/>
          <p:cNvSpPr/>
          <p:nvPr/>
        </p:nvSpPr>
        <p:spPr>
          <a:xfrm>
            <a:off x="1691639" y="3422903"/>
            <a:ext cx="419100" cy="1124711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768" name="table 768"/>
          <p:cNvGraphicFramePr>
            <a:graphicFrameLocks noGrp="1"/>
          </p:cNvGraphicFramePr>
          <p:nvPr/>
        </p:nvGraphicFramePr>
        <p:xfrm>
          <a:off x="2455862" y="2339975"/>
          <a:ext cx="397510" cy="1101725"/>
        </p:xfrm>
        <a:graphic>
          <a:graphicData uri="http://schemas.openxmlformats.org/drawingml/2006/table">
            <a:tbl>
              <a:tblPr>
                <a:solidFill>
                  <a:srgbClr val="00B050"/>
                </a:solidFill>
              </a:tblPr>
              <a:tblGrid>
                <a:gridCol w="397510"/>
              </a:tblGrid>
              <a:tr h="1092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textbox 770"/>
          <p:cNvSpPr/>
          <p:nvPr/>
        </p:nvSpPr>
        <p:spPr>
          <a:xfrm rot="19620000">
            <a:off x="2163479" y="4354838"/>
            <a:ext cx="3795395" cy="925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  <a:spcBef>
                <a:spcPts val="0"/>
              </a:spcBef>
            </a:pPr>
            <a:r>
              <a:rPr sz="5800" kern="0" spc="1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2" name="textbox 772"/>
          <p:cNvSpPr/>
          <p:nvPr/>
        </p:nvSpPr>
        <p:spPr>
          <a:xfrm rot="19620000">
            <a:off x="5996730" y="1886515"/>
            <a:ext cx="3796029" cy="932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1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74" name="table 774"/>
          <p:cNvGraphicFramePr>
            <a:graphicFrameLocks noGrp="1"/>
          </p:cNvGraphicFramePr>
          <p:nvPr/>
        </p:nvGraphicFramePr>
        <p:xfrm>
          <a:off x="2645410" y="5728970"/>
          <a:ext cx="7375525" cy="658494"/>
        </p:xfrm>
        <a:graphic>
          <a:graphicData uri="http://schemas.openxmlformats.org/drawingml/2006/table">
            <a:tbl>
              <a:tblPr/>
              <a:tblGrid>
                <a:gridCol w="7375525"/>
              </a:tblGrid>
              <a:tr h="6521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6680" indent="-1270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股价已经见顶或离顶部不远 ，股价随时会反转</a:t>
                      </a:r>
                      <a:r>
                        <a:rPr sz="1700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 由涨转跌 ，后市看跌。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投资者尽早出货或轻仓。</a:t>
                      </a:r>
                      <a:endParaRPr sz="1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DD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23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76" name="textbox 776"/>
          <p:cNvSpPr/>
          <p:nvPr/>
        </p:nvSpPr>
        <p:spPr>
          <a:xfrm>
            <a:off x="5253228" y="2458211"/>
            <a:ext cx="5974715" cy="661669"/>
          </a:xfrm>
          <a:prstGeom prst="rect">
            <a:avLst/>
          </a:prstGeom>
          <a:solidFill>
            <a:srgbClr val="27272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65150" algn="l" rtl="0" eaLnBrk="0">
              <a:lnSpc>
                <a:spcPct val="91000"/>
              </a:lnSpc>
            </a:pP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出现在涨势中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8" name="textbox 778"/>
          <p:cNvSpPr/>
          <p:nvPr/>
        </p:nvSpPr>
        <p:spPr>
          <a:xfrm>
            <a:off x="5253228" y="4442459"/>
            <a:ext cx="5974715" cy="660400"/>
          </a:xfrm>
          <a:prstGeom prst="rect">
            <a:avLst/>
          </a:prstGeom>
          <a:solidFill>
            <a:srgbClr val="B72A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27050" algn="l" rtl="0" eaLnBrk="0">
              <a:lnSpc>
                <a:spcPct val="92000"/>
              </a:lnSpc>
            </a:pPr>
            <a:r>
              <a:rPr sz="1700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第二根阴线高开低走</a:t>
            </a:r>
            <a:r>
              <a:rPr sz="1700" kern="0" spc="-1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700" kern="0" spc="-2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收盘价深</a:t>
            </a:r>
            <a:r>
              <a:rPr sz="1700" kern="0" spc="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入第一根阳线的内部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0" name="textbox 780"/>
          <p:cNvSpPr/>
          <p:nvPr/>
        </p:nvSpPr>
        <p:spPr>
          <a:xfrm>
            <a:off x="5494020" y="3450335"/>
            <a:ext cx="5733415" cy="661669"/>
          </a:xfrm>
          <a:prstGeom prst="rect">
            <a:avLst/>
          </a:prstGeom>
          <a:solidFill>
            <a:srgbClr val="6F3A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68325" algn="l" rtl="0" eaLnBrk="0">
              <a:lnSpc>
                <a:spcPct val="91000"/>
              </a:lnSpc>
              <a:spcBef>
                <a:spcPts val="5"/>
              </a:spcBef>
            </a:pP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K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线组成 ，第一根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K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线为阳线 </a:t>
            </a:r>
            <a:r>
              <a:rPr sz="1700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，第二根为阴线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82" name="picture 78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834128" y="2186940"/>
            <a:ext cx="1078991" cy="3186683"/>
          </a:xfrm>
          <a:prstGeom prst="rect">
            <a:avLst/>
          </a:prstGeom>
        </p:spPr>
      </p:pic>
      <p:grpSp>
        <p:nvGrpSpPr>
          <p:cNvPr id="80" name="group 80"/>
          <p:cNvGrpSpPr/>
          <p:nvPr/>
        </p:nvGrpSpPr>
        <p:grpSpPr>
          <a:xfrm rot="21600000">
            <a:off x="1175003" y="1225296"/>
            <a:ext cx="1982724" cy="917447"/>
            <a:chOff x="0" y="0"/>
            <a:chExt cx="1982724" cy="917447"/>
          </a:xfrm>
        </p:grpSpPr>
        <p:pic>
          <p:nvPicPr>
            <p:cNvPr id="784" name="picture 78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982724" cy="917447"/>
            </a:xfrm>
            <a:prstGeom prst="rect">
              <a:avLst/>
            </a:prstGeom>
          </p:spPr>
        </p:pic>
        <p:sp>
          <p:nvSpPr>
            <p:cNvPr id="786" name="textbox 786"/>
            <p:cNvSpPr/>
            <p:nvPr/>
          </p:nvSpPr>
          <p:spPr>
            <a:xfrm>
              <a:off x="-12700" y="-12700"/>
              <a:ext cx="2008504" cy="9728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48920" algn="l" rtl="0" eaLnBrk="0">
                <a:lnSpc>
                  <a:spcPct val="91000"/>
                </a:lnSpc>
                <a:spcBef>
                  <a:spcPts val="5"/>
                </a:spcBef>
              </a:pPr>
              <a:r>
                <a:rPr sz="2300" b="1" kern="0" spc="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乌云压顶</a:t>
              </a:r>
              <a:endParaRPr sz="2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788" name="picture 7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pic>
        <p:nvPicPr>
          <p:cNvPr id="792" name="picture 7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794" name="picture 7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  <p:sp>
        <p:nvSpPr>
          <p:cNvPr id="796" name="rect 796"/>
          <p:cNvSpPr/>
          <p:nvPr/>
        </p:nvSpPr>
        <p:spPr>
          <a:xfrm>
            <a:off x="1513331" y="3044952"/>
            <a:ext cx="419100" cy="1485900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798" name="picture 79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822704" y="5655564"/>
            <a:ext cx="762000" cy="810767"/>
          </a:xfrm>
          <a:prstGeom prst="rect">
            <a:avLst/>
          </a:prstGeom>
        </p:spPr>
      </p:pic>
      <p:graphicFrame>
        <p:nvGraphicFramePr>
          <p:cNvPr id="800" name="table 800"/>
          <p:cNvGraphicFramePr>
            <a:graphicFrameLocks noGrp="1"/>
          </p:cNvGraphicFramePr>
          <p:nvPr/>
        </p:nvGraphicFramePr>
        <p:xfrm>
          <a:off x="2237105" y="2331084"/>
          <a:ext cx="400050" cy="1456689"/>
        </p:xfrm>
        <a:graphic>
          <a:graphicData uri="http://schemas.openxmlformats.org/drawingml/2006/table">
            <a:tbl>
              <a:tblPr>
                <a:solidFill>
                  <a:srgbClr val="00B050"/>
                </a:solidFill>
              </a:tblPr>
              <a:tblGrid>
                <a:gridCol w="400050"/>
              </a:tblGrid>
              <a:tr h="14471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2" name="picture 8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712720" y="5711951"/>
            <a:ext cx="7367016" cy="656844"/>
          </a:xfrm>
          <a:prstGeom prst="rect">
            <a:avLst/>
          </a:prstGeom>
        </p:spPr>
      </p:pic>
      <p:sp>
        <p:nvSpPr>
          <p:cNvPr id="804" name="textbox 804"/>
          <p:cNvSpPr/>
          <p:nvPr/>
        </p:nvSpPr>
        <p:spPr>
          <a:xfrm rot="19620000">
            <a:off x="1805468" y="3126375"/>
            <a:ext cx="8372475" cy="93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 ，</a:t>
            </a:r>
            <a:r>
              <a:rPr sz="5800" kern="0" spc="-14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82" name="group 82"/>
          <p:cNvGrpSpPr/>
          <p:nvPr/>
        </p:nvGrpSpPr>
        <p:grpSpPr>
          <a:xfrm rot="21600000">
            <a:off x="4530852" y="2247900"/>
            <a:ext cx="6024371" cy="713232"/>
            <a:chOff x="0" y="0"/>
            <a:chExt cx="6024371" cy="713232"/>
          </a:xfrm>
        </p:grpSpPr>
        <p:pic>
          <p:nvPicPr>
            <p:cNvPr id="806" name="picture 80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6024371" cy="713232"/>
            </a:xfrm>
            <a:prstGeom prst="rect">
              <a:avLst/>
            </a:prstGeom>
          </p:spPr>
        </p:pic>
        <p:sp>
          <p:nvSpPr>
            <p:cNvPr id="808" name="textbox 808"/>
            <p:cNvSpPr/>
            <p:nvPr/>
          </p:nvSpPr>
          <p:spPr>
            <a:xfrm>
              <a:off x="-12700" y="-12700"/>
              <a:ext cx="6050279" cy="7613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6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603250" algn="l" rtl="0" eaLnBrk="0">
                <a:lnSpc>
                  <a:spcPct val="91000"/>
                </a:lnSpc>
              </a:pPr>
              <a:r>
                <a:rPr sz="1700" kern="0" spc="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出现在涨势中</a:t>
              </a:r>
              <a:endParaRPr sz="1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84" name="group 84"/>
          <p:cNvGrpSpPr/>
          <p:nvPr/>
        </p:nvGrpSpPr>
        <p:grpSpPr>
          <a:xfrm rot="21600000">
            <a:off x="4139183" y="1984247"/>
            <a:ext cx="6416040" cy="3185160"/>
            <a:chOff x="0" y="0"/>
            <a:chExt cx="6416040" cy="3185160"/>
          </a:xfrm>
        </p:grpSpPr>
        <p:pic>
          <p:nvPicPr>
            <p:cNvPr id="810" name="picture 8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416040" cy="3185160"/>
            </a:xfrm>
            <a:prstGeom prst="rect">
              <a:avLst/>
            </a:prstGeom>
          </p:spPr>
        </p:pic>
        <p:sp>
          <p:nvSpPr>
            <p:cNvPr id="812" name="textbox 812"/>
            <p:cNvSpPr/>
            <p:nvPr/>
          </p:nvSpPr>
          <p:spPr>
            <a:xfrm>
              <a:off x="-12700" y="-12700"/>
              <a:ext cx="6442075" cy="32327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38250" algn="l" rtl="0" eaLnBrk="0">
                <a:lnSpc>
                  <a:spcPct val="91000"/>
                </a:lnSpc>
                <a:spcBef>
                  <a:spcPts val="5"/>
                </a:spcBef>
              </a:pPr>
              <a:r>
                <a:rPr sz="1700" kern="0" spc="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由</a:t>
              </a:r>
              <a:r>
                <a:rPr sz="1700" kern="0" spc="30" dirty="0">
                  <a:solidFill>
                    <a:srgbClr val="FFFFFF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2</a:t>
              </a:r>
              <a:r>
                <a:rPr sz="1700" kern="0" spc="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根</a:t>
              </a:r>
              <a:r>
                <a:rPr sz="1700" kern="0" spc="30" dirty="0">
                  <a:solidFill>
                    <a:srgbClr val="FFFFFF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K</a:t>
              </a:r>
              <a:r>
                <a:rPr sz="1700" kern="0" spc="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线组成 ，第一根</a:t>
              </a:r>
              <a:r>
                <a:rPr sz="1700" kern="0" spc="30" dirty="0">
                  <a:solidFill>
                    <a:srgbClr val="FFFFFF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K</a:t>
              </a:r>
              <a:r>
                <a:rPr sz="1700" kern="0" spc="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线为阳线 </a:t>
              </a:r>
              <a:r>
                <a:rPr sz="1700" kern="0" spc="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，第二根为阴线</a:t>
              </a:r>
              <a:endParaRPr sz="1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2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7000"/>
                </a:lnSpc>
              </a:pPr>
              <a:endParaRPr sz="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956945" indent="-1270" algn="l" rtl="0" eaLnBrk="0">
                <a:lnSpc>
                  <a:spcPct val="96000"/>
                </a:lnSpc>
                <a:spcBef>
                  <a:spcPts val="0"/>
                </a:spcBef>
              </a:pPr>
              <a:r>
                <a:rPr sz="1700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第二根阴线低开低走</a:t>
              </a:r>
              <a:r>
                <a:rPr sz="1700" kern="0" spc="-1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700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</a:t>
              </a:r>
              <a:r>
                <a:rPr sz="1700" kern="0" spc="-2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700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收盘价低</a:t>
              </a:r>
              <a:r>
                <a:rPr sz="1700" kern="0" spc="6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于第一根阳线的开盘</a:t>
              </a:r>
              <a:r>
                <a:rPr sz="1700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</a:t>
              </a:r>
              <a:r>
                <a:rPr sz="1700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价</a:t>
              </a:r>
              <a:endParaRPr sz="1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14" name="textbox 814"/>
          <p:cNvSpPr/>
          <p:nvPr/>
        </p:nvSpPr>
        <p:spPr>
          <a:xfrm>
            <a:off x="2802071" y="5805579"/>
            <a:ext cx="7023100" cy="523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indent="-1270" algn="l" rtl="0" eaLnBrk="0">
              <a:lnSpc>
                <a:spcPct val="96000"/>
              </a:lnSpc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股价已经见顶或离顶部不远 ，股价随时会反转</a:t>
            </a:r>
            <a:r>
              <a:rPr sz="1700" kern="0" spc="-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 由涨转跌 ，后市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看跌。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投资者尽早出货或轻仓。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86" name="group 86"/>
          <p:cNvGrpSpPr/>
          <p:nvPr/>
        </p:nvGrpSpPr>
        <p:grpSpPr>
          <a:xfrm rot="21600000">
            <a:off x="1175003" y="1225296"/>
            <a:ext cx="1982724" cy="917447"/>
            <a:chOff x="0" y="0"/>
            <a:chExt cx="1982724" cy="917447"/>
          </a:xfrm>
        </p:grpSpPr>
        <p:pic>
          <p:nvPicPr>
            <p:cNvPr id="816" name="picture 8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982724" cy="917447"/>
            </a:xfrm>
            <a:prstGeom prst="rect">
              <a:avLst/>
            </a:prstGeom>
          </p:spPr>
        </p:pic>
        <p:sp>
          <p:nvSpPr>
            <p:cNvPr id="818" name="textbox 818"/>
            <p:cNvSpPr/>
            <p:nvPr/>
          </p:nvSpPr>
          <p:spPr>
            <a:xfrm>
              <a:off x="-12700" y="-12700"/>
              <a:ext cx="2008504" cy="9734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45110" algn="l" rtl="0" eaLnBrk="0">
                <a:lnSpc>
                  <a:spcPct val="91000"/>
                </a:lnSpc>
              </a:pPr>
              <a:r>
                <a:rPr sz="2300" b="1" kern="0" spc="5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倾盆大雨</a:t>
              </a:r>
              <a:endParaRPr sz="2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820" name="picture 8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pic>
        <p:nvPicPr>
          <p:cNvPr id="824" name="picture 8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826" name="picture 8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  <p:sp>
        <p:nvSpPr>
          <p:cNvPr id="828" name="rect 828"/>
          <p:cNvSpPr/>
          <p:nvPr/>
        </p:nvSpPr>
        <p:spPr>
          <a:xfrm>
            <a:off x="1626107" y="2592323"/>
            <a:ext cx="419100" cy="1484376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830" name="picture 8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883664" y="5634228"/>
            <a:ext cx="762000" cy="812292"/>
          </a:xfrm>
          <a:prstGeom prst="rect">
            <a:avLst/>
          </a:prstGeom>
        </p:spPr>
      </p:pic>
      <p:graphicFrame>
        <p:nvGraphicFramePr>
          <p:cNvPr id="832" name="table 832"/>
          <p:cNvGraphicFramePr>
            <a:graphicFrameLocks noGrp="1"/>
          </p:cNvGraphicFramePr>
          <p:nvPr/>
        </p:nvGraphicFramePr>
        <p:xfrm>
          <a:off x="2282189" y="3315970"/>
          <a:ext cx="400050" cy="1456054"/>
        </p:xfrm>
        <a:graphic>
          <a:graphicData uri="http://schemas.openxmlformats.org/drawingml/2006/table">
            <a:tbl>
              <a:tblPr>
                <a:solidFill>
                  <a:srgbClr val="00B050"/>
                </a:solidFill>
              </a:tblPr>
              <a:tblGrid>
                <a:gridCol w="400050"/>
              </a:tblGrid>
              <a:tr h="14465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4" name="picture 8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040379" y="5414772"/>
            <a:ext cx="7367015" cy="658367"/>
          </a:xfrm>
          <a:prstGeom prst="rect">
            <a:avLst/>
          </a:prstGeom>
        </p:spPr>
      </p:pic>
      <p:sp>
        <p:nvSpPr>
          <p:cNvPr id="836" name="textbox 836"/>
          <p:cNvSpPr/>
          <p:nvPr/>
        </p:nvSpPr>
        <p:spPr>
          <a:xfrm rot="19620000">
            <a:off x="1805468" y="3126375"/>
            <a:ext cx="8372475" cy="93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 ，</a:t>
            </a:r>
            <a:r>
              <a:rPr sz="5800" kern="0" spc="-14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38" name="picture 8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33044" y="2727959"/>
            <a:ext cx="3230879" cy="1335023"/>
          </a:xfrm>
          <a:prstGeom prst="rect">
            <a:avLst/>
          </a:prstGeom>
        </p:spPr>
      </p:pic>
      <p:sp>
        <p:nvSpPr>
          <p:cNvPr id="840" name="rect 840"/>
          <p:cNvSpPr/>
          <p:nvPr/>
        </p:nvSpPr>
        <p:spPr>
          <a:xfrm>
            <a:off x="5327903" y="2092452"/>
            <a:ext cx="4623815" cy="682751"/>
          </a:xfrm>
          <a:prstGeom prst="rect">
            <a:avLst/>
          </a:prstGeom>
          <a:solidFill>
            <a:srgbClr val="D9DFE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842" name="table 842"/>
          <p:cNvGraphicFramePr>
            <a:graphicFrameLocks noGrp="1"/>
          </p:cNvGraphicFramePr>
          <p:nvPr/>
        </p:nvGraphicFramePr>
        <p:xfrm>
          <a:off x="5324792" y="2088832"/>
          <a:ext cx="4629784" cy="690245"/>
        </p:xfrm>
        <a:graphic>
          <a:graphicData uri="http://schemas.openxmlformats.org/drawingml/2006/table">
            <a:tbl>
              <a:tblPr/>
              <a:tblGrid>
                <a:gridCol w="4629784"/>
              </a:tblGrid>
              <a:tr h="6838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38810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出现在涨势中</a:t>
                      </a:r>
                      <a:endParaRPr sz="1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44" name="picture 8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771644" y="1959864"/>
            <a:ext cx="739140" cy="2956559"/>
          </a:xfrm>
          <a:prstGeom prst="rect">
            <a:avLst/>
          </a:prstGeom>
        </p:spPr>
      </p:pic>
      <p:grpSp>
        <p:nvGrpSpPr>
          <p:cNvPr id="88" name="group 88"/>
          <p:cNvGrpSpPr/>
          <p:nvPr/>
        </p:nvGrpSpPr>
        <p:grpSpPr>
          <a:xfrm rot="21600000">
            <a:off x="5023103" y="3933444"/>
            <a:ext cx="4928615" cy="685800"/>
            <a:chOff x="0" y="0"/>
            <a:chExt cx="4928615" cy="685800"/>
          </a:xfrm>
        </p:grpSpPr>
        <p:pic>
          <p:nvPicPr>
            <p:cNvPr id="846" name="picture 84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4928615" cy="685800"/>
            </a:xfrm>
            <a:prstGeom prst="rect">
              <a:avLst/>
            </a:prstGeom>
          </p:spPr>
        </p:pic>
        <p:sp>
          <p:nvSpPr>
            <p:cNvPr id="848" name="textbox 848"/>
            <p:cNvSpPr/>
            <p:nvPr/>
          </p:nvSpPr>
          <p:spPr>
            <a:xfrm>
              <a:off x="-12700" y="-12700"/>
              <a:ext cx="4954270" cy="7334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003300" algn="l" rtl="0" eaLnBrk="0">
                <a:lnSpc>
                  <a:spcPct val="92000"/>
                </a:lnSpc>
              </a:pP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这几根</a:t>
              </a: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K</a:t>
              </a: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线的最高价相</a:t>
              </a:r>
              <a:r>
                <a:rPr sz="17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同</a:t>
              </a:r>
              <a:endParaRPr sz="1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50" name="textbox 850"/>
          <p:cNvSpPr/>
          <p:nvPr/>
        </p:nvSpPr>
        <p:spPr>
          <a:xfrm>
            <a:off x="3129731" y="5509224"/>
            <a:ext cx="7023100" cy="5245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indent="-1270" algn="l" rtl="0" eaLnBrk="0">
              <a:lnSpc>
                <a:spcPct val="96000"/>
              </a:lnSpc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股价已经见顶或离顶部不远 ，股价可能会反转</a:t>
            </a:r>
            <a:r>
              <a:rPr sz="1700" kern="0" spc="-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 由强转弱 ，后市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看跌。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投资者尽早出货或轻仓。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90" name="group 90"/>
          <p:cNvGrpSpPr/>
          <p:nvPr/>
        </p:nvGrpSpPr>
        <p:grpSpPr>
          <a:xfrm rot="21600000">
            <a:off x="5140452" y="2947415"/>
            <a:ext cx="4809743" cy="685800"/>
            <a:chOff x="0" y="0"/>
            <a:chExt cx="4809743" cy="685800"/>
          </a:xfrm>
        </p:grpSpPr>
        <p:pic>
          <p:nvPicPr>
            <p:cNvPr id="852" name="picture 85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4809743" cy="685800"/>
            </a:xfrm>
            <a:prstGeom prst="rect">
              <a:avLst/>
            </a:prstGeom>
          </p:spPr>
        </p:pic>
        <p:sp>
          <p:nvSpPr>
            <p:cNvPr id="854" name="textbox 854"/>
            <p:cNvSpPr/>
            <p:nvPr/>
          </p:nvSpPr>
          <p:spPr>
            <a:xfrm>
              <a:off x="-12700" y="-12700"/>
              <a:ext cx="4835525" cy="7340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019810" algn="l" rtl="0" eaLnBrk="0">
                <a:lnSpc>
                  <a:spcPct val="91000"/>
                </a:lnSpc>
                <a:spcBef>
                  <a:spcPts val="5"/>
                </a:spcBef>
              </a:pPr>
              <a:r>
                <a:rPr sz="1700" kern="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由</a:t>
              </a:r>
              <a:r>
                <a:rPr sz="1700" kern="0" spc="50" dirty="0">
                  <a:solidFill>
                    <a:srgbClr val="000000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2</a:t>
              </a:r>
              <a:r>
                <a:rPr sz="1700" kern="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根或</a:t>
              </a:r>
              <a:r>
                <a:rPr sz="1700" kern="0" spc="50" dirty="0">
                  <a:solidFill>
                    <a:srgbClr val="000000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2</a:t>
              </a:r>
              <a:r>
                <a:rPr sz="1700" kern="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根以上的</a:t>
              </a:r>
              <a:r>
                <a:rPr sz="1700" kern="0" spc="50" dirty="0">
                  <a:solidFill>
                    <a:srgbClr val="000000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K</a:t>
              </a:r>
              <a:r>
                <a:rPr sz="1700" kern="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线组成</a:t>
              </a:r>
              <a:endParaRPr sz="1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92" name="group 92"/>
          <p:cNvGrpSpPr/>
          <p:nvPr/>
        </p:nvGrpSpPr>
        <p:grpSpPr>
          <a:xfrm rot="21600000">
            <a:off x="1175003" y="1225296"/>
            <a:ext cx="1982724" cy="917447"/>
            <a:chOff x="0" y="0"/>
            <a:chExt cx="1982724" cy="917447"/>
          </a:xfrm>
        </p:grpSpPr>
        <p:pic>
          <p:nvPicPr>
            <p:cNvPr id="856" name="picture 85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1982724" cy="917447"/>
            </a:xfrm>
            <a:prstGeom prst="rect">
              <a:avLst/>
            </a:prstGeom>
          </p:spPr>
        </p:pic>
        <p:sp>
          <p:nvSpPr>
            <p:cNvPr id="858" name="textbox 858"/>
            <p:cNvSpPr/>
            <p:nvPr/>
          </p:nvSpPr>
          <p:spPr>
            <a:xfrm>
              <a:off x="-12700" y="-12700"/>
              <a:ext cx="2008504" cy="9728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50190" algn="l" rtl="0" eaLnBrk="0">
                <a:lnSpc>
                  <a:spcPct val="91000"/>
                </a:lnSpc>
              </a:pPr>
              <a:r>
                <a:rPr sz="2300" b="1" kern="0" spc="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高位平顶</a:t>
              </a:r>
              <a:endParaRPr sz="2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860" name="picture 86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pic>
        <p:nvPicPr>
          <p:cNvPr id="864" name="picture 86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866" name="picture 86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  <p:pic>
        <p:nvPicPr>
          <p:cNvPr id="868" name="picture 86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2211324" y="5338571"/>
            <a:ext cx="763523" cy="812292"/>
          </a:xfrm>
          <a:prstGeom prst="rect">
            <a:avLst/>
          </a:prstGeom>
        </p:spPr>
      </p:pic>
      <p:pic>
        <p:nvPicPr>
          <p:cNvPr id="870" name="picture 87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948428" y="2092452"/>
            <a:ext cx="693420" cy="68275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textbox 872"/>
          <p:cNvSpPr/>
          <p:nvPr/>
        </p:nvSpPr>
        <p:spPr>
          <a:xfrm rot="19620000">
            <a:off x="5996730" y="1886515"/>
            <a:ext cx="3796029" cy="932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1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4" name="textbox 874"/>
          <p:cNvSpPr/>
          <p:nvPr/>
        </p:nvSpPr>
        <p:spPr>
          <a:xfrm>
            <a:off x="5105400" y="2613659"/>
            <a:ext cx="5974715" cy="661669"/>
          </a:xfrm>
          <a:prstGeom prst="rect">
            <a:avLst/>
          </a:prstGeom>
          <a:solidFill>
            <a:srgbClr val="DD232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64515" algn="l" rtl="0" eaLnBrk="0">
              <a:lnSpc>
                <a:spcPct val="91000"/>
              </a:lnSpc>
              <a:spcBef>
                <a:spcPts val="5"/>
              </a:spcBef>
            </a:pP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出现在涨势中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76" name="picture 87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686300" y="2345435"/>
            <a:ext cx="838200" cy="3185159"/>
          </a:xfrm>
          <a:prstGeom prst="rect">
            <a:avLst/>
          </a:prstGeom>
        </p:spPr>
      </p:pic>
      <p:pic>
        <p:nvPicPr>
          <p:cNvPr id="878" name="picture 8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125724" y="5795772"/>
            <a:ext cx="7367016" cy="658367"/>
          </a:xfrm>
          <a:prstGeom prst="rect">
            <a:avLst/>
          </a:prstGeom>
        </p:spPr>
      </p:pic>
      <p:sp>
        <p:nvSpPr>
          <p:cNvPr id="880" name="textbox 880"/>
          <p:cNvSpPr/>
          <p:nvPr/>
        </p:nvSpPr>
        <p:spPr>
          <a:xfrm rot="19620000">
            <a:off x="2163479" y="4354838"/>
            <a:ext cx="3795395" cy="925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  <a:spcBef>
                <a:spcPts val="0"/>
              </a:spcBef>
            </a:pPr>
            <a:r>
              <a:rPr sz="5800" kern="0" spc="1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94" name="group 94"/>
          <p:cNvGrpSpPr/>
          <p:nvPr/>
        </p:nvGrpSpPr>
        <p:grpSpPr>
          <a:xfrm rot="21600000">
            <a:off x="4686300" y="3517391"/>
            <a:ext cx="6393180" cy="1830323"/>
            <a:chOff x="0" y="0"/>
            <a:chExt cx="6393180" cy="1830323"/>
          </a:xfrm>
        </p:grpSpPr>
        <p:pic>
          <p:nvPicPr>
            <p:cNvPr id="882" name="picture 88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393180" cy="1830323"/>
            </a:xfrm>
            <a:prstGeom prst="rect">
              <a:avLst/>
            </a:prstGeom>
          </p:spPr>
        </p:pic>
        <p:sp>
          <p:nvSpPr>
            <p:cNvPr id="884" name="textbox 884"/>
            <p:cNvSpPr/>
            <p:nvPr/>
          </p:nvSpPr>
          <p:spPr>
            <a:xfrm>
              <a:off x="-12700" y="-12700"/>
              <a:ext cx="6419215" cy="18776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09675" algn="l" rtl="0" eaLnBrk="0">
                <a:lnSpc>
                  <a:spcPct val="91000"/>
                </a:lnSpc>
                <a:spcBef>
                  <a:spcPts val="5"/>
                </a:spcBef>
              </a:pPr>
              <a:r>
                <a:rPr sz="1700" kern="0" spc="5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多根</a:t>
              </a:r>
              <a:r>
                <a:rPr sz="1700" kern="0" spc="50" dirty="0">
                  <a:solidFill>
                    <a:srgbClr val="FFFFFF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K</a:t>
              </a:r>
              <a:r>
                <a:rPr sz="1700" kern="0" spc="5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线组成 ，股价则构成一个圆弧顶</a:t>
              </a:r>
              <a:endParaRPr sz="1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2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6000"/>
                </a:lnSpc>
              </a:pPr>
              <a:endParaRPr sz="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962025" indent="23495" algn="l" rtl="0" eaLnBrk="0">
                <a:lnSpc>
                  <a:spcPct val="96000"/>
                </a:lnSpc>
                <a:spcBef>
                  <a:spcPts val="0"/>
                </a:spcBef>
              </a:pPr>
              <a:r>
                <a:rPr sz="1700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圆弧内的</a:t>
              </a:r>
              <a:r>
                <a:rPr sz="1700" kern="0" spc="70" dirty="0">
                  <a:solidFill>
                    <a:srgbClr val="FFFFFF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K</a:t>
              </a:r>
              <a:r>
                <a:rPr sz="1700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线多为小</a:t>
              </a:r>
              <a:r>
                <a:rPr sz="1700" kern="0" spc="6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阴小阳线</a:t>
              </a:r>
              <a:r>
                <a:rPr sz="1700" kern="0" spc="-15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700" kern="0" spc="6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</a:t>
              </a:r>
              <a:r>
                <a:rPr sz="1700" kern="0" spc="-4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700" kern="0" spc="6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最终以一根跳空阴线确</a:t>
              </a:r>
              <a:r>
                <a:rPr sz="1700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sz="1700" kern="0" spc="6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认该圆弧顶</a:t>
              </a:r>
              <a:endParaRPr sz="1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86" name="textbox 886"/>
          <p:cNvSpPr/>
          <p:nvPr/>
        </p:nvSpPr>
        <p:spPr>
          <a:xfrm>
            <a:off x="3214821" y="5890224"/>
            <a:ext cx="7023100" cy="5245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indent="-1270" algn="l" rtl="0" eaLnBrk="0">
              <a:lnSpc>
                <a:spcPct val="96000"/>
              </a:lnSpc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股价已经见顶或离顶部不远 ，股价可能会反转</a:t>
            </a:r>
            <a:r>
              <a:rPr sz="1700" kern="0" spc="-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 由强转弱 ，后市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看跌。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投资者尽早出货或轻仓。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96" name="group 96"/>
          <p:cNvGrpSpPr/>
          <p:nvPr/>
        </p:nvGrpSpPr>
        <p:grpSpPr>
          <a:xfrm rot="21600000">
            <a:off x="1175003" y="1225296"/>
            <a:ext cx="1982724" cy="917447"/>
            <a:chOff x="0" y="0"/>
            <a:chExt cx="1982724" cy="917447"/>
          </a:xfrm>
        </p:grpSpPr>
        <p:pic>
          <p:nvPicPr>
            <p:cNvPr id="888" name="picture 88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982724" cy="917447"/>
            </a:xfrm>
            <a:prstGeom prst="rect">
              <a:avLst/>
            </a:prstGeom>
          </p:spPr>
        </p:pic>
        <p:sp>
          <p:nvSpPr>
            <p:cNvPr id="890" name="textbox 890"/>
            <p:cNvSpPr/>
            <p:nvPr/>
          </p:nvSpPr>
          <p:spPr>
            <a:xfrm>
              <a:off x="-12700" y="-12700"/>
              <a:ext cx="2008504" cy="9728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50190" algn="l" rtl="0" eaLnBrk="0">
                <a:lnSpc>
                  <a:spcPct val="91000"/>
                </a:lnSpc>
              </a:pPr>
              <a:r>
                <a:rPr sz="2300" b="1" kern="0" spc="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高位圆顶</a:t>
              </a:r>
              <a:endParaRPr sz="2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892" name="picture 89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pic>
        <p:nvPicPr>
          <p:cNvPr id="896" name="picture 89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898" name="picture 89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  <p:pic>
        <p:nvPicPr>
          <p:cNvPr id="900" name="picture 90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296667" y="5719571"/>
            <a:ext cx="762000" cy="812292"/>
          </a:xfrm>
          <a:prstGeom prst="rect">
            <a:avLst/>
          </a:prstGeom>
        </p:spPr>
      </p:pic>
      <p:sp>
        <p:nvSpPr>
          <p:cNvPr id="902" name="rect 902"/>
          <p:cNvSpPr/>
          <p:nvPr/>
        </p:nvSpPr>
        <p:spPr>
          <a:xfrm>
            <a:off x="655319" y="3468623"/>
            <a:ext cx="419100" cy="1126235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04" name="rect 904"/>
          <p:cNvSpPr/>
          <p:nvPr/>
        </p:nvSpPr>
        <p:spPr>
          <a:xfrm>
            <a:off x="2444495" y="2950464"/>
            <a:ext cx="419100" cy="688847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906" name="picture 90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054095" y="3176016"/>
            <a:ext cx="390144" cy="717803"/>
          </a:xfrm>
          <a:prstGeom prst="rect">
            <a:avLst/>
          </a:prstGeom>
        </p:spPr>
      </p:pic>
      <p:sp>
        <p:nvSpPr>
          <p:cNvPr id="908" name="rect 908"/>
          <p:cNvSpPr/>
          <p:nvPr/>
        </p:nvSpPr>
        <p:spPr>
          <a:xfrm>
            <a:off x="1251203" y="3023616"/>
            <a:ext cx="419099" cy="544067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910" name="table 910"/>
          <p:cNvGraphicFramePr>
            <a:graphicFrameLocks noGrp="1"/>
          </p:cNvGraphicFramePr>
          <p:nvPr/>
        </p:nvGraphicFramePr>
        <p:xfrm>
          <a:off x="1857375" y="2864484"/>
          <a:ext cx="400050" cy="517525"/>
        </p:xfrm>
        <a:graphic>
          <a:graphicData uri="http://schemas.openxmlformats.org/drawingml/2006/table">
            <a:tbl>
              <a:tblPr>
                <a:solidFill>
                  <a:srgbClr val="00B050"/>
                </a:solidFill>
              </a:tblPr>
              <a:tblGrid>
                <a:gridCol w="400050"/>
              </a:tblGrid>
              <a:tr h="50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2" name="table 912"/>
          <p:cNvGraphicFramePr>
            <a:graphicFrameLocks noGrp="1"/>
          </p:cNvGraphicFramePr>
          <p:nvPr/>
        </p:nvGraphicFramePr>
        <p:xfrm>
          <a:off x="3599814" y="4087494"/>
          <a:ext cx="400050" cy="513714"/>
        </p:xfrm>
        <a:graphic>
          <a:graphicData uri="http://schemas.openxmlformats.org/drawingml/2006/table">
            <a:tbl>
              <a:tblPr>
                <a:solidFill>
                  <a:srgbClr val="00B050"/>
                </a:solidFill>
              </a:tblPr>
              <a:tblGrid>
                <a:gridCol w="400050"/>
              </a:tblGrid>
              <a:tr h="5041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textbox 914"/>
          <p:cNvSpPr/>
          <p:nvPr/>
        </p:nvSpPr>
        <p:spPr>
          <a:xfrm rot="19620000">
            <a:off x="5996730" y="1886515"/>
            <a:ext cx="3796029" cy="932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1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6" name="textbox 916"/>
          <p:cNvSpPr/>
          <p:nvPr/>
        </p:nvSpPr>
        <p:spPr>
          <a:xfrm>
            <a:off x="5189220" y="2458211"/>
            <a:ext cx="5975984" cy="661669"/>
          </a:xfrm>
          <a:prstGeom prst="rect">
            <a:avLst/>
          </a:prstGeom>
          <a:solidFill>
            <a:srgbClr val="27272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65150" algn="l" rtl="0" eaLnBrk="0">
              <a:lnSpc>
                <a:spcPct val="91000"/>
              </a:lnSpc>
            </a:pP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出现在涨势中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18" name="picture 9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770120" y="2186940"/>
            <a:ext cx="838200" cy="3186683"/>
          </a:xfrm>
          <a:prstGeom prst="rect">
            <a:avLst/>
          </a:prstGeom>
        </p:spPr>
      </p:pic>
      <p:pic>
        <p:nvPicPr>
          <p:cNvPr id="920" name="picture 9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125724" y="5615939"/>
            <a:ext cx="7367016" cy="656844"/>
          </a:xfrm>
          <a:prstGeom prst="rect">
            <a:avLst/>
          </a:prstGeom>
        </p:spPr>
      </p:pic>
      <p:sp>
        <p:nvSpPr>
          <p:cNvPr id="922" name="textbox 922"/>
          <p:cNvSpPr/>
          <p:nvPr/>
        </p:nvSpPr>
        <p:spPr>
          <a:xfrm rot="19620000">
            <a:off x="2163479" y="4354838"/>
            <a:ext cx="3795395" cy="925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  <a:spcBef>
                <a:spcPts val="0"/>
              </a:spcBef>
            </a:pPr>
            <a:r>
              <a:rPr sz="5800" kern="0" spc="1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98" name="group 98"/>
          <p:cNvGrpSpPr/>
          <p:nvPr/>
        </p:nvGrpSpPr>
        <p:grpSpPr>
          <a:xfrm rot="21600000">
            <a:off x="4770120" y="3360420"/>
            <a:ext cx="6400799" cy="1831847"/>
            <a:chOff x="0" y="0"/>
            <a:chExt cx="6400799" cy="1831847"/>
          </a:xfrm>
        </p:grpSpPr>
        <p:pic>
          <p:nvPicPr>
            <p:cNvPr id="924" name="picture 92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400799" cy="1831847"/>
            </a:xfrm>
            <a:prstGeom prst="rect">
              <a:avLst/>
            </a:prstGeom>
          </p:spPr>
        </p:pic>
        <p:sp>
          <p:nvSpPr>
            <p:cNvPr id="926" name="textbox 926"/>
            <p:cNvSpPr/>
            <p:nvPr/>
          </p:nvSpPr>
          <p:spPr>
            <a:xfrm>
              <a:off x="-12700" y="-12700"/>
              <a:ext cx="6426200" cy="18789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09675" algn="l" rtl="0" eaLnBrk="0">
                <a:lnSpc>
                  <a:spcPct val="91000"/>
                </a:lnSpc>
                <a:spcBef>
                  <a:spcPts val="0"/>
                </a:spcBef>
              </a:pPr>
              <a:r>
                <a:rPr sz="1700" kern="0" spc="5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多根</a:t>
              </a:r>
              <a:r>
                <a:rPr sz="1700" kern="0" spc="50" dirty="0">
                  <a:solidFill>
                    <a:srgbClr val="FFFFFF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K</a:t>
              </a:r>
              <a:r>
                <a:rPr sz="1700" kern="0" spc="5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线组成</a:t>
              </a:r>
              <a:endParaRPr sz="1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2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6000"/>
                </a:lnSpc>
              </a:pPr>
              <a:endParaRPr sz="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984250" indent="-24765" algn="l" rtl="0" eaLnBrk="0">
                <a:lnSpc>
                  <a:spcPct val="96000"/>
                </a:lnSpc>
                <a:spcBef>
                  <a:spcPts val="0"/>
                </a:spcBef>
              </a:pPr>
              <a:r>
                <a:rPr sz="1700" kern="0" spc="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第一根阳线为大阳线或</a:t>
              </a:r>
              <a:r>
                <a:rPr sz="1700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中阳线</a:t>
              </a:r>
              <a:r>
                <a:rPr sz="1700" kern="0" spc="-16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700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</a:t>
              </a:r>
              <a:r>
                <a:rPr sz="1700" kern="0" spc="-4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700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后面跟着几根小阴小</a:t>
              </a:r>
              <a:r>
                <a:rPr sz="1700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</a:t>
              </a:r>
              <a:r>
                <a:rPr sz="1700" kern="0" spc="6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阳线</a:t>
              </a:r>
              <a:r>
                <a:rPr sz="1700" kern="0" spc="-1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700" kern="0" spc="6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</a:t>
              </a:r>
              <a:r>
                <a:rPr sz="1700" kern="0" spc="-4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700" kern="0" spc="6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最后以一根大阴线或中阴线确立形</a:t>
              </a:r>
              <a:r>
                <a:rPr sz="1700" kern="0" spc="5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态</a:t>
              </a:r>
              <a:endParaRPr sz="1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928" name="textbox 928"/>
          <p:cNvSpPr/>
          <p:nvPr/>
        </p:nvSpPr>
        <p:spPr>
          <a:xfrm>
            <a:off x="3214821" y="5710520"/>
            <a:ext cx="7023100" cy="5245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indent="-1270" algn="l" rtl="0" eaLnBrk="0">
              <a:lnSpc>
                <a:spcPct val="96000"/>
              </a:lnSpc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股价已经见顶或离顶部不远 ，股价可能会反转</a:t>
            </a:r>
            <a:r>
              <a:rPr sz="1700" kern="0" spc="-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 由强转弱 ，后市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看跌。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投资者尽早出货或轻仓。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00" name="group 100"/>
          <p:cNvGrpSpPr/>
          <p:nvPr/>
        </p:nvGrpSpPr>
        <p:grpSpPr>
          <a:xfrm rot="21600000">
            <a:off x="1175003" y="1225296"/>
            <a:ext cx="1982724" cy="917447"/>
            <a:chOff x="0" y="0"/>
            <a:chExt cx="1982724" cy="917447"/>
          </a:xfrm>
        </p:grpSpPr>
        <p:pic>
          <p:nvPicPr>
            <p:cNvPr id="930" name="picture 93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982724" cy="917447"/>
            </a:xfrm>
            <a:prstGeom prst="rect">
              <a:avLst/>
            </a:prstGeom>
          </p:spPr>
        </p:pic>
        <p:sp>
          <p:nvSpPr>
            <p:cNvPr id="932" name="textbox 932"/>
            <p:cNvSpPr/>
            <p:nvPr/>
          </p:nvSpPr>
          <p:spPr>
            <a:xfrm>
              <a:off x="-12700" y="-12700"/>
              <a:ext cx="2008504" cy="9728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50190" algn="l" rtl="0" eaLnBrk="0">
                <a:lnSpc>
                  <a:spcPct val="91000"/>
                </a:lnSpc>
              </a:pPr>
              <a:r>
                <a:rPr sz="2300" b="1" kern="0" spc="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高位塔顶</a:t>
              </a:r>
              <a:endParaRPr sz="2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934" name="picture 9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pic>
        <p:nvPicPr>
          <p:cNvPr id="938" name="picture 9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940" name="picture 9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  <p:pic>
        <p:nvPicPr>
          <p:cNvPr id="942" name="picture 9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296667" y="5539740"/>
            <a:ext cx="762000" cy="810767"/>
          </a:xfrm>
          <a:prstGeom prst="rect">
            <a:avLst/>
          </a:prstGeom>
        </p:spPr>
      </p:pic>
      <p:sp>
        <p:nvSpPr>
          <p:cNvPr id="944" name="rect 944"/>
          <p:cNvSpPr/>
          <p:nvPr/>
        </p:nvSpPr>
        <p:spPr>
          <a:xfrm>
            <a:off x="920496" y="3261359"/>
            <a:ext cx="419100" cy="1124711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946" name="table 946"/>
          <p:cNvGraphicFramePr>
            <a:graphicFrameLocks noGrp="1"/>
          </p:cNvGraphicFramePr>
          <p:nvPr/>
        </p:nvGraphicFramePr>
        <p:xfrm>
          <a:off x="3829050" y="3269614"/>
          <a:ext cx="400050" cy="1122679"/>
        </p:xfrm>
        <a:graphic>
          <a:graphicData uri="http://schemas.openxmlformats.org/drawingml/2006/table">
            <a:tbl>
              <a:tblPr>
                <a:solidFill>
                  <a:srgbClr val="00B050"/>
                </a:solidFill>
              </a:tblPr>
              <a:tblGrid>
                <a:gridCol w="400050"/>
              </a:tblGrid>
              <a:tr h="11131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sp>
        <p:nvSpPr>
          <p:cNvPr id="948" name="rect 948"/>
          <p:cNvSpPr/>
          <p:nvPr/>
        </p:nvSpPr>
        <p:spPr>
          <a:xfrm>
            <a:off x="2080260" y="2645664"/>
            <a:ext cx="419100" cy="542544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50" name="rect 950"/>
          <p:cNvSpPr/>
          <p:nvPr/>
        </p:nvSpPr>
        <p:spPr>
          <a:xfrm>
            <a:off x="3238500" y="3081528"/>
            <a:ext cx="419100" cy="484631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952" name="table 952"/>
          <p:cNvGraphicFramePr>
            <a:graphicFrameLocks noGrp="1"/>
          </p:cNvGraphicFramePr>
          <p:nvPr/>
        </p:nvGraphicFramePr>
        <p:xfrm>
          <a:off x="1509395" y="2958465"/>
          <a:ext cx="400050" cy="492759"/>
        </p:xfrm>
        <a:graphic>
          <a:graphicData uri="http://schemas.openxmlformats.org/drawingml/2006/table">
            <a:tbl>
              <a:tblPr>
                <a:solidFill>
                  <a:srgbClr val="00B050"/>
                </a:solidFill>
              </a:tblPr>
              <a:tblGrid>
                <a:gridCol w="400050"/>
              </a:tblGrid>
              <a:tr h="4832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54" name="table 954"/>
          <p:cNvGraphicFramePr>
            <a:graphicFrameLocks noGrp="1"/>
          </p:cNvGraphicFramePr>
          <p:nvPr/>
        </p:nvGraphicFramePr>
        <p:xfrm>
          <a:off x="2668905" y="2907665"/>
          <a:ext cx="400050" cy="415290"/>
        </p:xfrm>
        <a:graphic>
          <a:graphicData uri="http://schemas.openxmlformats.org/drawingml/2006/table">
            <a:tbl>
              <a:tblPr>
                <a:solidFill>
                  <a:srgbClr val="00B050"/>
                </a:solidFill>
              </a:tblPr>
              <a:tblGrid>
                <a:gridCol w="400050"/>
              </a:tblGrid>
              <a:tr h="4057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6" name="picture 9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472940" y="1984247"/>
            <a:ext cx="684276" cy="3185160"/>
          </a:xfrm>
          <a:prstGeom prst="rect">
            <a:avLst/>
          </a:prstGeom>
        </p:spPr>
      </p:pic>
      <p:sp>
        <p:nvSpPr>
          <p:cNvPr id="958" name="textbox 958"/>
          <p:cNvSpPr/>
          <p:nvPr/>
        </p:nvSpPr>
        <p:spPr>
          <a:xfrm rot="19620000">
            <a:off x="1805468" y="3126375"/>
            <a:ext cx="8372475" cy="93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 ，</a:t>
            </a:r>
            <a:r>
              <a:rPr sz="5800" kern="0" spc="-14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02" name="group 102"/>
          <p:cNvGrpSpPr/>
          <p:nvPr/>
        </p:nvGrpSpPr>
        <p:grpSpPr>
          <a:xfrm rot="21600000">
            <a:off x="4463795" y="4149852"/>
            <a:ext cx="6393180" cy="838200"/>
            <a:chOff x="0" y="0"/>
            <a:chExt cx="6393180" cy="838200"/>
          </a:xfrm>
        </p:grpSpPr>
        <p:pic>
          <p:nvPicPr>
            <p:cNvPr id="960" name="picture 96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6393180" cy="838200"/>
            </a:xfrm>
            <a:prstGeom prst="rect">
              <a:avLst/>
            </a:prstGeom>
          </p:spPr>
        </p:pic>
        <p:sp>
          <p:nvSpPr>
            <p:cNvPr id="962" name="textbox 962"/>
            <p:cNvSpPr/>
            <p:nvPr/>
          </p:nvSpPr>
          <p:spPr>
            <a:xfrm>
              <a:off x="-12700" y="-12700"/>
              <a:ext cx="6419215" cy="8890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960755" indent="-1270" algn="l" rtl="0" eaLnBrk="0">
                <a:lnSpc>
                  <a:spcPct val="96000"/>
                </a:lnSpc>
                <a:spcBef>
                  <a:spcPts val="0"/>
                </a:spcBef>
              </a:pPr>
              <a:r>
                <a:rPr sz="1700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第二根阴线高开低走</a:t>
              </a:r>
              <a:r>
                <a:rPr sz="1700" kern="0" spc="-1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700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</a:t>
              </a:r>
              <a:r>
                <a:rPr sz="1700" kern="0" spc="-29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700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完全把第一根阳</a:t>
              </a:r>
              <a:r>
                <a:rPr sz="1700" kern="0" spc="6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线的实体包裹</a:t>
              </a:r>
              <a:r>
                <a:rPr sz="1700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</a:t>
              </a:r>
              <a:r>
                <a:rPr sz="1700" kern="0" spc="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在内</a:t>
              </a:r>
              <a:endParaRPr sz="1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04" name="group 104"/>
          <p:cNvGrpSpPr/>
          <p:nvPr/>
        </p:nvGrpSpPr>
        <p:grpSpPr>
          <a:xfrm rot="21600000">
            <a:off x="4703063" y="3157728"/>
            <a:ext cx="6160008" cy="838200"/>
            <a:chOff x="0" y="0"/>
            <a:chExt cx="6160008" cy="838200"/>
          </a:xfrm>
        </p:grpSpPr>
        <p:pic>
          <p:nvPicPr>
            <p:cNvPr id="964" name="picture 96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160008" cy="838200"/>
            </a:xfrm>
            <a:prstGeom prst="rect">
              <a:avLst/>
            </a:prstGeom>
          </p:spPr>
        </p:pic>
        <p:sp>
          <p:nvSpPr>
            <p:cNvPr id="966" name="textbox 966"/>
            <p:cNvSpPr/>
            <p:nvPr/>
          </p:nvSpPr>
          <p:spPr>
            <a:xfrm>
              <a:off x="-12700" y="-12700"/>
              <a:ext cx="6185534" cy="88518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001395" algn="l" rtl="0" eaLnBrk="0">
                <a:lnSpc>
                  <a:spcPct val="91000"/>
                </a:lnSpc>
                <a:spcBef>
                  <a:spcPts val="5"/>
                </a:spcBef>
              </a:pPr>
              <a:r>
                <a:rPr sz="1700" kern="0" spc="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由</a:t>
              </a:r>
              <a:r>
                <a:rPr sz="1700" kern="0" spc="30" dirty="0">
                  <a:solidFill>
                    <a:srgbClr val="FFFFFF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2</a:t>
              </a:r>
              <a:r>
                <a:rPr sz="1700" kern="0" spc="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根</a:t>
              </a:r>
              <a:r>
                <a:rPr sz="1700" kern="0" spc="30" dirty="0">
                  <a:solidFill>
                    <a:srgbClr val="FFFFFF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K</a:t>
              </a:r>
              <a:r>
                <a:rPr sz="1700" kern="0" spc="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线组成 ，第一根</a:t>
              </a:r>
              <a:r>
                <a:rPr sz="1700" kern="0" spc="30" dirty="0">
                  <a:solidFill>
                    <a:srgbClr val="FFFFFF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K</a:t>
              </a:r>
              <a:r>
                <a:rPr sz="1700" kern="0" spc="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线为阳线 </a:t>
              </a:r>
              <a:r>
                <a:rPr sz="1700" kern="0" spc="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，第二根为阴线</a:t>
              </a:r>
              <a:endParaRPr sz="1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aphicFrame>
        <p:nvGraphicFramePr>
          <p:cNvPr id="968" name="table 968"/>
          <p:cNvGraphicFramePr>
            <a:graphicFrameLocks noGrp="1"/>
          </p:cNvGraphicFramePr>
          <p:nvPr/>
        </p:nvGraphicFramePr>
        <p:xfrm>
          <a:off x="2592705" y="5581014"/>
          <a:ext cx="7374254" cy="658494"/>
        </p:xfrm>
        <a:graphic>
          <a:graphicData uri="http://schemas.openxmlformats.org/drawingml/2006/table">
            <a:tbl>
              <a:tblPr/>
              <a:tblGrid>
                <a:gridCol w="7374254"/>
              </a:tblGrid>
              <a:tr h="6521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6680" indent="-1270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股价已经见顶或离顶部不远 ，股价随时会反转</a:t>
                      </a:r>
                      <a:r>
                        <a:rPr sz="1700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 由涨转跌 ，后市看跌。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投资者尽早出货或轻仓。</a:t>
                      </a:r>
                      <a:endParaRPr sz="1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70" name="table 970"/>
          <p:cNvGraphicFramePr>
            <a:graphicFrameLocks noGrp="1"/>
          </p:cNvGraphicFramePr>
          <p:nvPr/>
        </p:nvGraphicFramePr>
        <p:xfrm>
          <a:off x="4872875" y="2244026"/>
          <a:ext cx="5993764" cy="674370"/>
        </p:xfrm>
        <a:graphic>
          <a:graphicData uri="http://schemas.openxmlformats.org/drawingml/2006/table">
            <a:tbl>
              <a:tblPr>
                <a:solidFill>
                  <a:srgbClr val="DD2323"/>
                </a:solidFill>
              </a:tblPr>
              <a:tblGrid>
                <a:gridCol w="5993764"/>
              </a:tblGrid>
              <a:tr h="6680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75310" algn="l" rtl="0" eaLnBrk="0">
                        <a:lnSpc>
                          <a:spcPct val="91000"/>
                        </a:lnSpc>
                        <a:spcBef>
                          <a:spcPts val="0"/>
                        </a:spcBef>
                      </a:pPr>
                      <a:r>
                        <a:rPr sz="17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出现在涨势中</a:t>
                      </a:r>
                      <a:endParaRPr sz="1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2323"/>
                    </a:solidFill>
                  </a:tcPr>
                </a:tc>
              </a:tr>
            </a:tbl>
          </a:graphicData>
        </a:graphic>
      </p:graphicFrame>
      <p:pic>
        <p:nvPicPr>
          <p:cNvPr id="972" name="picture 9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75003" y="1225296"/>
            <a:ext cx="1982724" cy="917447"/>
          </a:xfrm>
          <a:prstGeom prst="rect">
            <a:avLst/>
          </a:prstGeom>
        </p:spPr>
      </p:pic>
      <p:pic>
        <p:nvPicPr>
          <p:cNvPr id="974" name="picture 9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pic>
        <p:nvPicPr>
          <p:cNvPr id="978" name="picture 97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980" name="picture 98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  <p:pic>
        <p:nvPicPr>
          <p:cNvPr id="982" name="picture 98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4463795" y="2165604"/>
            <a:ext cx="838200" cy="839723"/>
          </a:xfrm>
          <a:prstGeom prst="rect">
            <a:avLst/>
          </a:prstGeom>
        </p:spPr>
      </p:pic>
      <p:pic>
        <p:nvPicPr>
          <p:cNvPr id="984" name="picture 98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767839" y="5507735"/>
            <a:ext cx="762000" cy="812292"/>
          </a:xfrm>
          <a:prstGeom prst="rect">
            <a:avLst/>
          </a:prstGeom>
        </p:spPr>
      </p:pic>
      <p:graphicFrame>
        <p:nvGraphicFramePr>
          <p:cNvPr id="986" name="table 986"/>
          <p:cNvGraphicFramePr>
            <a:graphicFrameLocks noGrp="1"/>
          </p:cNvGraphicFramePr>
          <p:nvPr/>
        </p:nvGraphicFramePr>
        <p:xfrm>
          <a:off x="2461895" y="2903220"/>
          <a:ext cx="400050" cy="1456054"/>
        </p:xfrm>
        <a:graphic>
          <a:graphicData uri="http://schemas.openxmlformats.org/drawingml/2006/table">
            <a:tbl>
              <a:tblPr>
                <a:solidFill>
                  <a:srgbClr val="00B050"/>
                </a:solidFill>
              </a:tblPr>
              <a:tblGrid>
                <a:gridCol w="400050"/>
              </a:tblGrid>
              <a:tr h="14465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sp>
        <p:nvSpPr>
          <p:cNvPr id="988" name="textbox 988"/>
          <p:cNvSpPr/>
          <p:nvPr/>
        </p:nvSpPr>
        <p:spPr>
          <a:xfrm>
            <a:off x="1441138" y="1534828"/>
            <a:ext cx="1183639" cy="3435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2300" b="1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巨阴包阳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0" name="rect 990"/>
          <p:cNvSpPr/>
          <p:nvPr/>
        </p:nvSpPr>
        <p:spPr>
          <a:xfrm>
            <a:off x="1863851" y="3328415"/>
            <a:ext cx="419100" cy="615696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textbox 992"/>
          <p:cNvSpPr/>
          <p:nvPr/>
        </p:nvSpPr>
        <p:spPr>
          <a:xfrm rot="19620000">
            <a:off x="5996730" y="1886515"/>
            <a:ext cx="3796029" cy="932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1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4" name="textbox 994"/>
          <p:cNvSpPr/>
          <p:nvPr/>
        </p:nvSpPr>
        <p:spPr>
          <a:xfrm>
            <a:off x="4860035" y="2692907"/>
            <a:ext cx="6033770" cy="706119"/>
          </a:xfrm>
          <a:prstGeom prst="rect">
            <a:avLst/>
          </a:pr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96265" algn="l" rtl="0" eaLnBrk="0">
              <a:lnSpc>
                <a:spcPct val="91000"/>
              </a:lnSpc>
            </a:pP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出现在涨势中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96" name="picture 9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427220" y="2392679"/>
            <a:ext cx="877823" cy="2345436"/>
          </a:xfrm>
          <a:prstGeom prst="rect">
            <a:avLst/>
          </a:prstGeom>
        </p:spPr>
      </p:pic>
      <p:sp>
        <p:nvSpPr>
          <p:cNvPr id="998" name="textbox 998"/>
          <p:cNvSpPr/>
          <p:nvPr/>
        </p:nvSpPr>
        <p:spPr>
          <a:xfrm rot="19620000">
            <a:off x="2163479" y="4354838"/>
            <a:ext cx="3795395" cy="925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  <a:spcBef>
                <a:spcPts val="0"/>
              </a:spcBef>
            </a:pPr>
            <a:r>
              <a:rPr sz="5800" kern="0" spc="1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06" name="group 106"/>
          <p:cNvGrpSpPr/>
          <p:nvPr/>
        </p:nvGrpSpPr>
        <p:grpSpPr>
          <a:xfrm rot="21600000">
            <a:off x="4427220" y="3645408"/>
            <a:ext cx="6466332" cy="877823"/>
            <a:chOff x="0" y="0"/>
            <a:chExt cx="6466332" cy="877823"/>
          </a:xfrm>
        </p:grpSpPr>
        <p:pic>
          <p:nvPicPr>
            <p:cNvPr id="1000" name="picture 10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6466332" cy="877823"/>
            </a:xfrm>
            <a:prstGeom prst="rect">
              <a:avLst/>
            </a:prstGeom>
          </p:spPr>
        </p:pic>
        <p:sp>
          <p:nvSpPr>
            <p:cNvPr id="1002" name="textbox 1002"/>
            <p:cNvSpPr/>
            <p:nvPr/>
          </p:nvSpPr>
          <p:spPr>
            <a:xfrm>
              <a:off x="-12700" y="-12700"/>
              <a:ext cx="6492240" cy="9290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008380" indent="36195" algn="l" rtl="0" eaLnBrk="0">
                <a:lnSpc>
                  <a:spcPct val="96000"/>
                </a:lnSpc>
                <a:spcBef>
                  <a:spcPts val="5"/>
                </a:spcBef>
              </a:pPr>
              <a:r>
                <a:rPr sz="1700" kern="0" spc="5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由</a:t>
              </a:r>
              <a:r>
                <a:rPr sz="1700" kern="0" spc="50" dirty="0">
                  <a:solidFill>
                    <a:srgbClr val="FFFFFF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2</a:t>
              </a:r>
              <a:r>
                <a:rPr sz="1700" kern="0" spc="5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根螺旋桨</a:t>
              </a:r>
              <a:r>
                <a:rPr sz="1700" kern="0" spc="50" dirty="0">
                  <a:solidFill>
                    <a:srgbClr val="FFFFFF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K</a:t>
              </a:r>
              <a:r>
                <a:rPr sz="1700" kern="0" spc="5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线组成</a:t>
              </a:r>
              <a:r>
                <a:rPr sz="1700" kern="0" spc="1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700" kern="0" spc="5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，且这</a:t>
              </a:r>
              <a:r>
                <a:rPr sz="1700" kern="0" spc="50" dirty="0">
                  <a:solidFill>
                    <a:srgbClr val="FFFFFF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2</a:t>
              </a:r>
              <a:r>
                <a:rPr sz="1700" kern="0" spc="5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根</a:t>
              </a:r>
              <a:r>
                <a:rPr sz="1700" kern="0" spc="50" dirty="0">
                  <a:solidFill>
                    <a:srgbClr val="FFFFFF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K</a:t>
              </a:r>
              <a:r>
                <a:rPr sz="1700" kern="0" spc="5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线</a:t>
              </a:r>
              <a:r>
                <a:rPr sz="1700" kern="0" spc="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基本在同一条水平</a:t>
              </a:r>
              <a:r>
                <a:rPr sz="1700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</a:t>
              </a:r>
              <a:r>
                <a:rPr sz="1700" kern="0" spc="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线上</a:t>
              </a:r>
              <a:endParaRPr sz="1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aphicFrame>
        <p:nvGraphicFramePr>
          <p:cNvPr id="1004" name="table 1004"/>
          <p:cNvGraphicFramePr>
            <a:graphicFrameLocks noGrp="1"/>
          </p:cNvGraphicFramePr>
          <p:nvPr/>
        </p:nvGraphicFramePr>
        <p:xfrm>
          <a:off x="2741295" y="5517514"/>
          <a:ext cx="7374255" cy="658494"/>
        </p:xfrm>
        <a:graphic>
          <a:graphicData uri="http://schemas.openxmlformats.org/drawingml/2006/table">
            <a:tbl>
              <a:tblPr/>
              <a:tblGrid>
                <a:gridCol w="7374255"/>
              </a:tblGrid>
              <a:tr h="6521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6680" indent="-1270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股价已经见顶或离顶部不远 ，股价随时会反转</a:t>
                      </a:r>
                      <a:r>
                        <a:rPr sz="1700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 由涨转跌 ，后市看跌。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投资者尽早出货或轻仓。</a:t>
                      </a:r>
                      <a:endParaRPr sz="1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08" name="group 108"/>
          <p:cNvGrpSpPr/>
          <p:nvPr/>
        </p:nvGrpSpPr>
        <p:grpSpPr>
          <a:xfrm rot="21600000">
            <a:off x="1175003" y="1225296"/>
            <a:ext cx="1982724" cy="917447"/>
            <a:chOff x="0" y="0"/>
            <a:chExt cx="1982724" cy="917447"/>
          </a:xfrm>
        </p:grpSpPr>
        <p:pic>
          <p:nvPicPr>
            <p:cNvPr id="1006" name="picture 100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982724" cy="917447"/>
            </a:xfrm>
            <a:prstGeom prst="rect">
              <a:avLst/>
            </a:prstGeom>
          </p:spPr>
        </p:pic>
        <p:sp>
          <p:nvSpPr>
            <p:cNvPr id="1008" name="textbox 1008"/>
            <p:cNvSpPr/>
            <p:nvPr/>
          </p:nvSpPr>
          <p:spPr>
            <a:xfrm>
              <a:off x="-12700" y="-12700"/>
              <a:ext cx="2008504" cy="9728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45745" algn="l" rtl="0" eaLnBrk="0">
                <a:lnSpc>
                  <a:spcPct val="91000"/>
                </a:lnSpc>
                <a:spcBef>
                  <a:spcPts val="5"/>
                </a:spcBef>
              </a:pPr>
              <a:r>
                <a:rPr sz="2300" b="1" kern="0" spc="5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顶部双桨</a:t>
              </a:r>
              <a:endParaRPr sz="2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010" name="picture 10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pic>
        <p:nvPicPr>
          <p:cNvPr id="1014" name="picture 10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1016" name="picture 10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  <p:pic>
        <p:nvPicPr>
          <p:cNvPr id="1018" name="picture 10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917191" y="5445252"/>
            <a:ext cx="762000" cy="812292"/>
          </a:xfrm>
          <a:prstGeom prst="rect">
            <a:avLst/>
          </a:prstGeom>
        </p:spPr>
      </p:pic>
      <p:pic>
        <p:nvPicPr>
          <p:cNvPr id="1020" name="picture 10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773936" y="2756915"/>
            <a:ext cx="419100" cy="1295400"/>
          </a:xfrm>
          <a:prstGeom prst="rect">
            <a:avLst/>
          </a:prstGeom>
        </p:spPr>
      </p:pic>
      <p:pic>
        <p:nvPicPr>
          <p:cNvPr id="1022" name="picture 10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350007" y="2956559"/>
            <a:ext cx="390144" cy="86410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textbox 1024"/>
          <p:cNvSpPr/>
          <p:nvPr/>
        </p:nvSpPr>
        <p:spPr>
          <a:xfrm rot="19620000">
            <a:off x="2163479" y="4354838"/>
            <a:ext cx="3795395" cy="925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  <a:spcBef>
                <a:spcPts val="0"/>
              </a:spcBef>
            </a:pPr>
            <a:r>
              <a:rPr sz="5800" kern="0" spc="1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6" name="textbox 1026"/>
          <p:cNvSpPr/>
          <p:nvPr/>
        </p:nvSpPr>
        <p:spPr>
          <a:xfrm rot="19620000">
            <a:off x="5996730" y="1886515"/>
            <a:ext cx="3796029" cy="932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1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28" name="picture 10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538215" y="2339975"/>
            <a:ext cx="4823460" cy="3038475"/>
          </a:xfrm>
          <a:prstGeom prst="rect">
            <a:avLst/>
          </a:prstGeom>
        </p:spPr>
      </p:pic>
      <p:graphicFrame>
        <p:nvGraphicFramePr>
          <p:cNvPr id="1030" name="table 1030"/>
          <p:cNvGraphicFramePr>
            <a:graphicFrameLocks noGrp="1"/>
          </p:cNvGraphicFramePr>
          <p:nvPr/>
        </p:nvGraphicFramePr>
        <p:xfrm>
          <a:off x="2997200" y="5729604"/>
          <a:ext cx="7375525" cy="658494"/>
        </p:xfrm>
        <a:graphic>
          <a:graphicData uri="http://schemas.openxmlformats.org/drawingml/2006/table">
            <a:tbl>
              <a:tblPr/>
              <a:tblGrid>
                <a:gridCol w="7375525"/>
              </a:tblGrid>
              <a:tr h="6521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6680" indent="-1270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股价已经见底或离底部不远 ，股价随时会反转</a:t>
                      </a:r>
                      <a:r>
                        <a:rPr sz="1700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 由跌转涨 ，后市看涨。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投资者可果断进入。</a:t>
                      </a:r>
                      <a:endParaRPr sz="1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32" name="textbox 1032"/>
          <p:cNvSpPr/>
          <p:nvPr/>
        </p:nvSpPr>
        <p:spPr>
          <a:xfrm>
            <a:off x="7099097" y="2543029"/>
            <a:ext cx="1778000" cy="2232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48640" algn="l" rtl="0" eaLnBrk="0">
              <a:lnSpc>
                <a:spcPct val="81000"/>
              </a:lnSpc>
            </a:pPr>
            <a:r>
              <a:rPr sz="8000" b="1" kern="0" spc="-20" dirty="0">
                <a:solidFill>
                  <a:srgbClr val="5DBBC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8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28575" algn="l" rtl="0" eaLnBrk="0">
              <a:lnSpc>
                <a:spcPct val="118000"/>
              </a:lnSpc>
              <a:spcBef>
                <a:spcPts val="0"/>
              </a:spcBef>
            </a:pP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由3根K线组成 ，第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500" b="1" kern="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一根K线是阴线 ，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二根K线是十字星 </a:t>
            </a:r>
            <a:r>
              <a:rPr sz="1500" b="1" kern="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第三根K线是阳线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4" name="textbox 1034"/>
          <p:cNvSpPr/>
          <p:nvPr/>
        </p:nvSpPr>
        <p:spPr>
          <a:xfrm>
            <a:off x="5802999" y="1564011"/>
            <a:ext cx="4203065" cy="1010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1000"/>
              </a:lnSpc>
            </a:pPr>
            <a:r>
              <a:rPr sz="8000" b="1" kern="0" spc="-340" dirty="0">
                <a:solidFill>
                  <a:srgbClr val="61BBA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sz="8000" b="1" kern="0" spc="450" dirty="0">
                <a:solidFill>
                  <a:srgbClr val="61BBA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8000" b="1" kern="0" spc="-340" dirty="0">
                <a:solidFill>
                  <a:srgbClr val="5DBBC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sz="8000" b="1" kern="0" spc="230" dirty="0">
                <a:solidFill>
                  <a:srgbClr val="5DBBC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8000" b="1" kern="0" spc="-340" dirty="0">
                <a:solidFill>
                  <a:srgbClr val="37B3D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endParaRPr sz="8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036" name="picture 10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grpSp>
        <p:nvGrpSpPr>
          <p:cNvPr id="110" name="group 110"/>
          <p:cNvGrpSpPr/>
          <p:nvPr/>
        </p:nvGrpSpPr>
        <p:grpSpPr>
          <a:xfrm rot="21600000">
            <a:off x="1602739" y="701675"/>
            <a:ext cx="8526144" cy="22859"/>
            <a:chOff x="0" y="0"/>
            <a:chExt cx="8526144" cy="22859"/>
          </a:xfrm>
        </p:grpSpPr>
        <p:sp>
          <p:nvSpPr>
            <p:cNvPr id="1038" name="path 1038"/>
            <p:cNvSpPr/>
            <p:nvPr/>
          </p:nvSpPr>
          <p:spPr>
            <a:xfrm>
              <a:off x="0" y="0"/>
              <a:ext cx="3510915" cy="22859"/>
            </a:xfrm>
            <a:custGeom>
              <a:avLst/>
              <a:gdLst/>
              <a:ahLst/>
              <a:cxnLst/>
              <a:rect l="0" t="0" r="0" b="0"/>
              <a:pathLst>
                <a:path w="5529" h="35">
                  <a:moveTo>
                    <a:pt x="0" y="17"/>
                  </a:moveTo>
                  <a:lnTo>
                    <a:pt x="5529" y="17"/>
                  </a:lnTo>
                </a:path>
              </a:pathLst>
            </a:custGeom>
            <a:noFill/>
            <a:ln w="22859" cap="flat">
              <a:solidFill>
                <a:srgbClr val="C00000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40" name="path 1040"/>
            <p:cNvSpPr/>
            <p:nvPr/>
          </p:nvSpPr>
          <p:spPr>
            <a:xfrm>
              <a:off x="3510915" y="0"/>
              <a:ext cx="5015229" cy="22859"/>
            </a:xfrm>
            <a:custGeom>
              <a:avLst/>
              <a:gdLst/>
              <a:ahLst/>
              <a:cxnLst/>
              <a:rect l="0" t="0" r="0" b="0"/>
              <a:pathLst>
                <a:path w="7897" h="35">
                  <a:moveTo>
                    <a:pt x="0" y="17"/>
                  </a:moveTo>
                  <a:lnTo>
                    <a:pt x="7897" y="17"/>
                  </a:lnTo>
                </a:path>
              </a:pathLst>
            </a:custGeom>
            <a:noFill/>
            <a:ln w="22859" cap="flat">
              <a:solidFill>
                <a:srgbClr val="000000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12" name="group 112"/>
          <p:cNvGrpSpPr/>
          <p:nvPr/>
        </p:nvGrpSpPr>
        <p:grpSpPr>
          <a:xfrm rot="21600000">
            <a:off x="1175003" y="1225296"/>
            <a:ext cx="1982724" cy="917447"/>
            <a:chOff x="0" y="0"/>
            <a:chExt cx="1982724" cy="917447"/>
          </a:xfrm>
        </p:grpSpPr>
        <p:pic>
          <p:nvPicPr>
            <p:cNvPr id="1044" name="picture 104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982724" cy="917447"/>
            </a:xfrm>
            <a:prstGeom prst="rect">
              <a:avLst/>
            </a:prstGeom>
          </p:spPr>
        </p:pic>
        <p:sp>
          <p:nvSpPr>
            <p:cNvPr id="1046" name="textbox 1046"/>
            <p:cNvSpPr/>
            <p:nvPr/>
          </p:nvSpPr>
          <p:spPr>
            <a:xfrm>
              <a:off x="-12700" y="-12700"/>
              <a:ext cx="2008504" cy="9702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54000" algn="l" rtl="0" eaLnBrk="0">
                <a:lnSpc>
                  <a:spcPct val="91000"/>
                </a:lnSpc>
                <a:spcBef>
                  <a:spcPts val="5"/>
                </a:spcBef>
              </a:pPr>
              <a:r>
                <a:rPr sz="2300" b="1" kern="0" spc="5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早晨十字星</a:t>
              </a:r>
              <a:endParaRPr sz="2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048" name="textbox 1048"/>
          <p:cNvSpPr/>
          <p:nvPr/>
        </p:nvSpPr>
        <p:spPr>
          <a:xfrm>
            <a:off x="1594936" y="232695"/>
            <a:ext cx="3521075" cy="510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500" b="1" kern="0" spc="7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见底信号K线组合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0" name="textbox 1050"/>
          <p:cNvSpPr/>
          <p:nvPr/>
        </p:nvSpPr>
        <p:spPr>
          <a:xfrm>
            <a:off x="5737034" y="2534456"/>
            <a:ext cx="817880" cy="165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985" algn="l" rtl="0" eaLnBrk="0">
              <a:lnSpc>
                <a:spcPct val="81000"/>
              </a:lnSpc>
            </a:pPr>
            <a:r>
              <a:rPr sz="8000" b="1" kern="0" spc="-20" dirty="0">
                <a:solidFill>
                  <a:srgbClr val="61BBA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8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9685" algn="l" rtl="0" eaLnBrk="0">
              <a:lnSpc>
                <a:spcPct val="108000"/>
              </a:lnSpc>
              <a:spcBef>
                <a:spcPts val="0"/>
              </a:spcBef>
            </a:pPr>
            <a:r>
              <a:rPr sz="15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出现在跌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势中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2" name="textbox 1052"/>
          <p:cNvSpPr/>
          <p:nvPr/>
        </p:nvSpPr>
        <p:spPr>
          <a:xfrm>
            <a:off x="9425051" y="3700398"/>
            <a:ext cx="817880" cy="10744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3335" algn="l" rtl="0" eaLnBrk="0">
              <a:lnSpc>
                <a:spcPct val="116000"/>
              </a:lnSpc>
            </a:pPr>
            <a:r>
              <a:rPr sz="1500" b="1" kern="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阳线的收</a:t>
            </a:r>
            <a:r>
              <a:rPr sz="15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盘价深入</a:t>
            </a:r>
            <a:r>
              <a:rPr sz="15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到阴线的</a:t>
            </a:r>
            <a:r>
              <a:rPr sz="15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实体内部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4" name="rect 1054"/>
          <p:cNvSpPr/>
          <p:nvPr/>
        </p:nvSpPr>
        <p:spPr>
          <a:xfrm>
            <a:off x="3076955" y="2796540"/>
            <a:ext cx="419100" cy="1485900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056" name="table 1056"/>
          <p:cNvGraphicFramePr>
            <a:graphicFrameLocks noGrp="1"/>
          </p:cNvGraphicFramePr>
          <p:nvPr/>
        </p:nvGraphicFramePr>
        <p:xfrm>
          <a:off x="1630045" y="2816225"/>
          <a:ext cx="400050" cy="1454785"/>
        </p:xfrm>
        <a:graphic>
          <a:graphicData uri="http://schemas.openxmlformats.org/drawingml/2006/table">
            <a:tbl>
              <a:tblPr>
                <a:solidFill>
                  <a:srgbClr val="00B050"/>
                </a:solidFill>
              </a:tblPr>
              <a:tblGrid>
                <a:gridCol w="400050"/>
              </a:tblGrid>
              <a:tr h="14452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pic>
        <p:nvPicPr>
          <p:cNvPr id="1058" name="picture 10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218944" y="5658611"/>
            <a:ext cx="661416" cy="810767"/>
          </a:xfrm>
          <a:prstGeom prst="rect">
            <a:avLst/>
          </a:prstGeom>
        </p:spPr>
      </p:pic>
      <p:sp>
        <p:nvSpPr>
          <p:cNvPr id="1060" name="textbox 1060"/>
          <p:cNvSpPr/>
          <p:nvPr/>
        </p:nvSpPr>
        <p:spPr>
          <a:xfrm>
            <a:off x="9435679" y="2532233"/>
            <a:ext cx="552450" cy="1010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1000"/>
              </a:lnSpc>
            </a:pPr>
            <a:r>
              <a:rPr sz="8000" b="1" kern="0" spc="-320" dirty="0">
                <a:solidFill>
                  <a:srgbClr val="37B3D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8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062" name="picture 10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331720" y="4084320"/>
            <a:ext cx="452627" cy="864108"/>
          </a:xfrm>
          <a:prstGeom prst="rect">
            <a:avLst/>
          </a:prstGeom>
        </p:spPr>
      </p:pic>
      <p:pic>
        <p:nvPicPr>
          <p:cNvPr id="1064" name="picture 106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textbox 1066"/>
          <p:cNvSpPr/>
          <p:nvPr/>
        </p:nvSpPr>
        <p:spPr>
          <a:xfrm rot="19620000">
            <a:off x="5996730" y="1886515"/>
            <a:ext cx="3796029" cy="932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1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8" name="textbox 1068"/>
          <p:cNvSpPr/>
          <p:nvPr/>
        </p:nvSpPr>
        <p:spPr>
          <a:xfrm rot="19620000">
            <a:off x="2163479" y="4354838"/>
            <a:ext cx="3795395" cy="925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  <a:spcBef>
                <a:spcPts val="0"/>
              </a:spcBef>
            </a:pPr>
            <a:r>
              <a:rPr sz="5800" kern="0" spc="1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70" name="picture 10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052059" y="2348484"/>
            <a:ext cx="4826508" cy="3046475"/>
          </a:xfrm>
          <a:prstGeom prst="rect">
            <a:avLst/>
          </a:prstGeom>
        </p:spPr>
      </p:pic>
      <p:graphicFrame>
        <p:nvGraphicFramePr>
          <p:cNvPr id="1072" name="table 1072"/>
          <p:cNvGraphicFramePr>
            <a:graphicFrameLocks noGrp="1"/>
          </p:cNvGraphicFramePr>
          <p:nvPr/>
        </p:nvGraphicFramePr>
        <p:xfrm>
          <a:off x="2687320" y="5721350"/>
          <a:ext cx="7375525" cy="658494"/>
        </p:xfrm>
        <a:graphic>
          <a:graphicData uri="http://schemas.openxmlformats.org/drawingml/2006/table">
            <a:tbl>
              <a:tblPr/>
              <a:tblGrid>
                <a:gridCol w="7375525"/>
              </a:tblGrid>
              <a:tr h="6521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6680" indent="-1270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股价已经见底或离底部不远 ，股价随时会反转</a:t>
                      </a:r>
                      <a:r>
                        <a:rPr sz="1700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 由跌转涨 ，后市看涨。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投资者可果断进入。</a:t>
                      </a:r>
                      <a:endParaRPr sz="1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74" name="textbox 1074"/>
          <p:cNvSpPr/>
          <p:nvPr/>
        </p:nvSpPr>
        <p:spPr>
          <a:xfrm>
            <a:off x="6616763" y="2556999"/>
            <a:ext cx="1774189" cy="25234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43560" algn="l" rtl="0" eaLnBrk="0">
              <a:lnSpc>
                <a:spcPct val="81000"/>
              </a:lnSpc>
            </a:pPr>
            <a:r>
              <a:rPr sz="8000" b="1" kern="0" spc="-20" dirty="0">
                <a:solidFill>
                  <a:srgbClr val="74539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8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23495" algn="l" rtl="0" eaLnBrk="0">
              <a:lnSpc>
                <a:spcPct val="120000"/>
              </a:lnSpc>
              <a:spcBef>
                <a:spcPts val="5"/>
              </a:spcBef>
            </a:pP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由3根K线组成 ，第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一根K线是阴线 ，第</a:t>
            </a: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二根K线是小阴线或</a:t>
            </a:r>
            <a:r>
              <a:rPr sz="1500" b="1" kern="0" spc="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小阳线 ，第三根K线</a:t>
            </a: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是阳线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6" name="textbox 1076"/>
          <p:cNvSpPr/>
          <p:nvPr/>
        </p:nvSpPr>
        <p:spPr>
          <a:xfrm>
            <a:off x="5315319" y="1576711"/>
            <a:ext cx="4203065" cy="1010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1000"/>
              </a:lnSpc>
            </a:pPr>
            <a:r>
              <a:rPr sz="8000" b="1" kern="0" spc="-340" dirty="0">
                <a:solidFill>
                  <a:srgbClr val="89AD3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sz="8000" b="1" kern="0" spc="450" dirty="0">
                <a:solidFill>
                  <a:srgbClr val="89AD3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8000" b="1" kern="0" spc="-340" dirty="0">
                <a:solidFill>
                  <a:srgbClr val="74539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sz="8000" b="1" kern="0" spc="230" dirty="0">
                <a:solidFill>
                  <a:srgbClr val="74539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8000" b="1" kern="0" spc="-340" dirty="0">
                <a:solidFill>
                  <a:srgbClr val="E47D2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endParaRPr sz="8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114" name="group 114"/>
          <p:cNvGrpSpPr/>
          <p:nvPr/>
        </p:nvGrpSpPr>
        <p:grpSpPr>
          <a:xfrm rot="21600000">
            <a:off x="1175003" y="1225296"/>
            <a:ext cx="1982724" cy="917447"/>
            <a:chOff x="0" y="0"/>
            <a:chExt cx="1982724" cy="917447"/>
          </a:xfrm>
        </p:grpSpPr>
        <p:pic>
          <p:nvPicPr>
            <p:cNvPr id="1078" name="picture 107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982724" cy="917447"/>
            </a:xfrm>
            <a:prstGeom prst="rect">
              <a:avLst/>
            </a:prstGeom>
          </p:spPr>
        </p:pic>
        <p:sp>
          <p:nvSpPr>
            <p:cNvPr id="1080" name="textbox 1080"/>
            <p:cNvSpPr/>
            <p:nvPr/>
          </p:nvSpPr>
          <p:spPr>
            <a:xfrm>
              <a:off x="-12700" y="-12700"/>
              <a:ext cx="2008504" cy="9702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54000" algn="l" rtl="0" eaLnBrk="0">
                <a:lnSpc>
                  <a:spcPct val="91000"/>
                </a:lnSpc>
                <a:spcBef>
                  <a:spcPts val="5"/>
                </a:spcBef>
              </a:pPr>
              <a:r>
                <a:rPr sz="2300" b="1" kern="0" spc="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早晨之星</a:t>
              </a:r>
              <a:endParaRPr sz="2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082" name="picture 10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sp>
        <p:nvSpPr>
          <p:cNvPr id="1086" name="textbox 1086"/>
          <p:cNvSpPr/>
          <p:nvPr/>
        </p:nvSpPr>
        <p:spPr>
          <a:xfrm>
            <a:off x="5249659" y="2546203"/>
            <a:ext cx="817880" cy="165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985" algn="l" rtl="0" eaLnBrk="0">
              <a:lnSpc>
                <a:spcPct val="81000"/>
              </a:lnSpc>
            </a:pPr>
            <a:r>
              <a:rPr sz="8000" b="1" kern="0" spc="-20" dirty="0">
                <a:solidFill>
                  <a:srgbClr val="89AD3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8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9685" algn="l" rtl="0" eaLnBrk="0">
              <a:lnSpc>
                <a:spcPct val="108000"/>
              </a:lnSpc>
              <a:spcBef>
                <a:spcPts val="0"/>
              </a:spcBef>
            </a:pPr>
            <a:r>
              <a:rPr sz="15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出现在跌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势中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8" name="textbox 1088"/>
          <p:cNvSpPr/>
          <p:nvPr/>
        </p:nvSpPr>
        <p:spPr>
          <a:xfrm>
            <a:off x="8937676" y="3713733"/>
            <a:ext cx="817880" cy="10744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3335" algn="l" rtl="0" eaLnBrk="0">
              <a:lnSpc>
                <a:spcPct val="116000"/>
              </a:lnSpc>
            </a:pPr>
            <a:r>
              <a:rPr sz="1500" b="1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阳线的收</a:t>
            </a: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盘价深入</a:t>
            </a: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到阴线的</a:t>
            </a: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实体内部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90" name="picture 109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1092" name="picture 109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  <p:pic>
        <p:nvPicPr>
          <p:cNvPr id="1094" name="picture 109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767583" y="2788919"/>
            <a:ext cx="419100" cy="1652016"/>
          </a:xfrm>
          <a:prstGeom prst="rect">
            <a:avLst/>
          </a:prstGeom>
        </p:spPr>
      </p:pic>
      <p:graphicFrame>
        <p:nvGraphicFramePr>
          <p:cNvPr id="1096" name="table 1096"/>
          <p:cNvGraphicFramePr>
            <a:graphicFrameLocks noGrp="1"/>
          </p:cNvGraphicFramePr>
          <p:nvPr/>
        </p:nvGraphicFramePr>
        <p:xfrm>
          <a:off x="1320165" y="2807970"/>
          <a:ext cx="399415" cy="1456054"/>
        </p:xfrm>
        <a:graphic>
          <a:graphicData uri="http://schemas.openxmlformats.org/drawingml/2006/table">
            <a:tbl>
              <a:tblPr>
                <a:solidFill>
                  <a:srgbClr val="00B050"/>
                </a:solidFill>
              </a:tblPr>
              <a:tblGrid>
                <a:gridCol w="399415"/>
              </a:tblGrid>
              <a:tr h="14465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pic>
        <p:nvPicPr>
          <p:cNvPr id="1098" name="picture 109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908047" y="5647944"/>
            <a:ext cx="661416" cy="810767"/>
          </a:xfrm>
          <a:prstGeom prst="rect">
            <a:avLst/>
          </a:prstGeom>
        </p:spPr>
      </p:pic>
      <p:sp>
        <p:nvSpPr>
          <p:cNvPr id="1100" name="textbox 1100"/>
          <p:cNvSpPr/>
          <p:nvPr/>
        </p:nvSpPr>
        <p:spPr>
          <a:xfrm>
            <a:off x="8948303" y="2545569"/>
            <a:ext cx="552450" cy="1010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1000"/>
              </a:lnSpc>
            </a:pPr>
            <a:r>
              <a:rPr sz="8000" b="1" kern="0" spc="-320" dirty="0">
                <a:solidFill>
                  <a:srgbClr val="E47D2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8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102" name="picture 110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039111" y="4114800"/>
            <a:ext cx="419100" cy="75895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4" name="picture 1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933700" y="5702808"/>
            <a:ext cx="7368540" cy="656844"/>
          </a:xfrm>
          <a:prstGeom prst="rect">
            <a:avLst/>
          </a:prstGeom>
        </p:spPr>
      </p:pic>
      <p:sp>
        <p:nvSpPr>
          <p:cNvPr id="1106" name="textbox 1106"/>
          <p:cNvSpPr/>
          <p:nvPr/>
        </p:nvSpPr>
        <p:spPr>
          <a:xfrm rot="19620000">
            <a:off x="2163479" y="4354838"/>
            <a:ext cx="3795395" cy="925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  <a:spcBef>
                <a:spcPts val="0"/>
              </a:spcBef>
            </a:pPr>
            <a:r>
              <a:rPr sz="5800" kern="0" spc="1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8" name="textbox 1108"/>
          <p:cNvSpPr/>
          <p:nvPr/>
        </p:nvSpPr>
        <p:spPr>
          <a:xfrm rot="19620000">
            <a:off x="5996730" y="1886515"/>
            <a:ext cx="3796029" cy="932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1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10" name="textbox 1110"/>
          <p:cNvSpPr/>
          <p:nvPr/>
        </p:nvSpPr>
        <p:spPr>
          <a:xfrm>
            <a:off x="5117081" y="1681746"/>
            <a:ext cx="4196079" cy="10217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3000"/>
              </a:lnSpc>
            </a:pPr>
            <a:r>
              <a:rPr sz="7900" b="1" kern="0" spc="-300" dirty="0">
                <a:solidFill>
                  <a:srgbClr val="E8A0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sz="7900" b="1" kern="0" spc="470" dirty="0">
                <a:solidFill>
                  <a:srgbClr val="E8A0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7900" b="1" kern="0" spc="-300" dirty="0">
                <a:solidFill>
                  <a:srgbClr val="F1A7A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sz="7900" b="1" kern="0" spc="260" dirty="0">
                <a:solidFill>
                  <a:srgbClr val="F1A7A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7900" b="1" kern="0" spc="-300" dirty="0">
                <a:solidFill>
                  <a:srgbClr val="E8A0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endParaRPr sz="7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112" name="picture 11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872228" y="2436875"/>
            <a:ext cx="4834128" cy="3055620"/>
          </a:xfrm>
          <a:prstGeom prst="rect">
            <a:avLst/>
          </a:prstGeom>
        </p:spPr>
      </p:pic>
      <p:sp>
        <p:nvSpPr>
          <p:cNvPr id="1114" name="textbox 1114"/>
          <p:cNvSpPr/>
          <p:nvPr/>
        </p:nvSpPr>
        <p:spPr>
          <a:xfrm>
            <a:off x="6432346" y="2645264"/>
            <a:ext cx="1772285" cy="2231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48640" algn="l" rtl="0" eaLnBrk="0">
              <a:lnSpc>
                <a:spcPct val="81000"/>
              </a:lnSpc>
            </a:pPr>
            <a:r>
              <a:rPr sz="8000" b="1" kern="0" spc="-20" dirty="0">
                <a:solidFill>
                  <a:srgbClr val="F1A7A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8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28575" algn="l" rtl="0" eaLnBrk="0">
              <a:lnSpc>
                <a:spcPct val="118000"/>
              </a:lnSpc>
              <a:spcBef>
                <a:spcPts val="5"/>
              </a:spcBef>
            </a:pP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由2根K线组成 ，第</a:t>
            </a:r>
            <a:r>
              <a:rPr sz="1500" b="1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500" b="1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一根K线是大阴线</a:t>
            </a:r>
            <a:r>
              <a:rPr sz="1500" b="1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第二根K线是大阳线</a:t>
            </a:r>
            <a:r>
              <a:rPr sz="1500" b="1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或中阳线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16" name="textbox 1116"/>
          <p:cNvSpPr/>
          <p:nvPr/>
        </p:nvSpPr>
        <p:spPr>
          <a:xfrm>
            <a:off x="3023686" y="5796054"/>
            <a:ext cx="7023100" cy="523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indent="-1270" algn="l" rtl="0" eaLnBrk="0">
              <a:lnSpc>
                <a:spcPct val="96000"/>
              </a:lnSpc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股价已经见底或离底部不远 ，股价随时会反转</a:t>
            </a:r>
            <a:r>
              <a:rPr sz="1700" kern="0" spc="-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 由跌转涨 ，后市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看涨。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投资者可果断进入。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16" name="group 116"/>
          <p:cNvGrpSpPr/>
          <p:nvPr/>
        </p:nvGrpSpPr>
        <p:grpSpPr>
          <a:xfrm rot="21600000">
            <a:off x="1175003" y="1225296"/>
            <a:ext cx="1982724" cy="917447"/>
            <a:chOff x="0" y="0"/>
            <a:chExt cx="1982724" cy="917447"/>
          </a:xfrm>
        </p:grpSpPr>
        <p:pic>
          <p:nvPicPr>
            <p:cNvPr id="1118" name="picture 11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982724" cy="917447"/>
            </a:xfrm>
            <a:prstGeom prst="rect">
              <a:avLst/>
            </a:prstGeom>
          </p:spPr>
        </p:pic>
        <p:sp>
          <p:nvSpPr>
            <p:cNvPr id="1120" name="textbox 1120"/>
            <p:cNvSpPr/>
            <p:nvPr/>
          </p:nvSpPr>
          <p:spPr>
            <a:xfrm>
              <a:off x="-12700" y="-12700"/>
              <a:ext cx="2008504" cy="9734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45745" algn="l" rtl="0" eaLnBrk="0">
                <a:lnSpc>
                  <a:spcPct val="91000"/>
                </a:lnSpc>
                <a:spcBef>
                  <a:spcPts val="0"/>
                </a:spcBef>
              </a:pPr>
              <a:r>
                <a:rPr sz="2300" b="1" kern="0" spc="5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好友反攻</a:t>
              </a:r>
              <a:endParaRPr sz="2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122" name="picture 11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sp>
        <p:nvSpPr>
          <p:cNvPr id="1126" name="textbox 1126"/>
          <p:cNvSpPr/>
          <p:nvPr/>
        </p:nvSpPr>
        <p:spPr>
          <a:xfrm>
            <a:off x="8730869" y="2634469"/>
            <a:ext cx="819785" cy="2534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0165" algn="l" rtl="0" eaLnBrk="0">
              <a:lnSpc>
                <a:spcPct val="81000"/>
              </a:lnSpc>
            </a:pPr>
            <a:r>
              <a:rPr sz="8000" b="1" kern="0" spc="-20" dirty="0">
                <a:solidFill>
                  <a:srgbClr val="E8A0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8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4605" algn="l" rtl="0" eaLnBrk="0">
              <a:lnSpc>
                <a:spcPct val="120000"/>
              </a:lnSpc>
            </a:pPr>
            <a:r>
              <a:rPr sz="1500" b="1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阳线的收</a:t>
            </a: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盘价和接</a:t>
            </a: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近阴线收</a:t>
            </a: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盘价相同</a:t>
            </a: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或接近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8" name="textbox 1128"/>
          <p:cNvSpPr/>
          <p:nvPr/>
        </p:nvSpPr>
        <p:spPr>
          <a:xfrm>
            <a:off x="5070271" y="2635103"/>
            <a:ext cx="817880" cy="165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985" algn="l" rtl="0" eaLnBrk="0">
              <a:lnSpc>
                <a:spcPct val="81000"/>
              </a:lnSpc>
            </a:pPr>
            <a:r>
              <a:rPr sz="8000" b="1" kern="0" spc="-20" dirty="0">
                <a:solidFill>
                  <a:srgbClr val="E8A0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8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9685" algn="l" rtl="0" eaLnBrk="0">
              <a:lnSpc>
                <a:spcPct val="108000"/>
              </a:lnSpc>
              <a:spcBef>
                <a:spcPts val="0"/>
              </a:spcBef>
            </a:pPr>
            <a:r>
              <a:rPr sz="1500" b="1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出现在跌</a:t>
            </a:r>
            <a:r>
              <a:rPr sz="1500" b="1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势中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30" name="picture 11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1132" name="picture 11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  <p:pic>
        <p:nvPicPr>
          <p:cNvPr id="1134" name="picture 11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153411" y="5625083"/>
            <a:ext cx="661416" cy="812292"/>
          </a:xfrm>
          <a:prstGeom prst="rect">
            <a:avLst/>
          </a:prstGeom>
        </p:spPr>
      </p:pic>
      <p:sp>
        <p:nvSpPr>
          <p:cNvPr id="1136" name="rect 1136"/>
          <p:cNvSpPr/>
          <p:nvPr/>
        </p:nvSpPr>
        <p:spPr>
          <a:xfrm>
            <a:off x="2567939" y="3672840"/>
            <a:ext cx="419100" cy="1118616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138" name="table 1138"/>
          <p:cNvGraphicFramePr>
            <a:graphicFrameLocks noGrp="1"/>
          </p:cNvGraphicFramePr>
          <p:nvPr/>
        </p:nvGraphicFramePr>
        <p:xfrm>
          <a:off x="1887220" y="2684779"/>
          <a:ext cx="400050" cy="1006475"/>
        </p:xfrm>
        <a:graphic>
          <a:graphicData uri="http://schemas.openxmlformats.org/drawingml/2006/table">
            <a:tbl>
              <a:tblPr>
                <a:solidFill>
                  <a:srgbClr val="00B050"/>
                </a:solidFill>
              </a:tblPr>
              <a:tblGrid>
                <a:gridCol w="400050"/>
              </a:tblGrid>
              <a:tr h="996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0" name="picture 11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688336" y="5500115"/>
            <a:ext cx="7367016" cy="656844"/>
          </a:xfrm>
          <a:prstGeom prst="rect">
            <a:avLst/>
          </a:prstGeom>
        </p:spPr>
      </p:pic>
      <p:sp>
        <p:nvSpPr>
          <p:cNvPr id="1142" name="textbox 1142"/>
          <p:cNvSpPr/>
          <p:nvPr/>
        </p:nvSpPr>
        <p:spPr>
          <a:xfrm rot="19620000">
            <a:off x="2242011" y="4566159"/>
            <a:ext cx="3037839" cy="925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  <a:spcBef>
                <a:spcPts val="0"/>
              </a:spcBef>
            </a:pPr>
            <a:r>
              <a:rPr sz="5800" kern="0" spc="12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4" name="textbox 1144"/>
          <p:cNvSpPr/>
          <p:nvPr/>
        </p:nvSpPr>
        <p:spPr>
          <a:xfrm rot="19620000">
            <a:off x="5453552" y="1906456"/>
            <a:ext cx="4461509" cy="9315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2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sz="5800" kern="0" spc="48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5800" kern="0" spc="2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46" name="picture 11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701540" y="2199132"/>
            <a:ext cx="4825047" cy="3063239"/>
          </a:xfrm>
          <a:prstGeom prst="rect">
            <a:avLst/>
          </a:prstGeom>
        </p:spPr>
      </p:pic>
      <p:sp>
        <p:nvSpPr>
          <p:cNvPr id="1148" name="textbox 1148"/>
          <p:cNvSpPr/>
          <p:nvPr/>
        </p:nvSpPr>
        <p:spPr>
          <a:xfrm>
            <a:off x="6262484" y="2415076"/>
            <a:ext cx="1772285" cy="2231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48640" algn="l" rtl="0" eaLnBrk="0">
              <a:lnSpc>
                <a:spcPct val="81000"/>
              </a:lnSpc>
            </a:pPr>
            <a:r>
              <a:rPr sz="8000" b="1" kern="0" spc="-20" dirty="0">
                <a:solidFill>
                  <a:srgbClr val="F3CF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8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28575" algn="l" rtl="0" eaLnBrk="0">
              <a:lnSpc>
                <a:spcPct val="118000"/>
              </a:lnSpc>
              <a:spcBef>
                <a:spcPts val="5"/>
              </a:spcBef>
            </a:pP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由2根K线组成 ，第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500" b="1" kern="0" spc="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一根K线是大阴线</a:t>
            </a:r>
            <a:r>
              <a:rPr sz="1500" b="1" kern="0" spc="-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第二根K线是大阳线</a:t>
            </a: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或中阳线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0" name="textbox 1150"/>
          <p:cNvSpPr/>
          <p:nvPr/>
        </p:nvSpPr>
        <p:spPr>
          <a:xfrm>
            <a:off x="2776671" y="5594759"/>
            <a:ext cx="7023100" cy="523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indent="-1270" algn="l" rtl="0" eaLnBrk="0">
              <a:lnSpc>
                <a:spcPct val="96000"/>
              </a:lnSpc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股价已经见底或离底部不远 ，股价随时会反转</a:t>
            </a:r>
            <a:r>
              <a:rPr sz="1700" kern="0" spc="-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 由跌转涨 ，后市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看涨。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投资者可果断进入。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2" name="textbox 1152"/>
          <p:cNvSpPr/>
          <p:nvPr/>
        </p:nvSpPr>
        <p:spPr>
          <a:xfrm>
            <a:off x="4839514" y="1400937"/>
            <a:ext cx="4293234" cy="1024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2000"/>
              </a:lnSpc>
            </a:pPr>
            <a:r>
              <a:rPr sz="8000" b="1" kern="0" spc="-330" dirty="0">
                <a:solidFill>
                  <a:srgbClr val="F8D3D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sz="8000" b="1" kern="0" spc="10" dirty="0">
                <a:solidFill>
                  <a:srgbClr val="F8D3D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</a:t>
            </a:r>
            <a:r>
              <a:rPr sz="7900" b="1" kern="0" spc="-330" dirty="0">
                <a:solidFill>
                  <a:srgbClr val="F3CF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sz="7900" b="1" kern="0" spc="320" dirty="0">
                <a:solidFill>
                  <a:srgbClr val="F3CF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8000" b="1" kern="0" spc="-330" dirty="0">
                <a:solidFill>
                  <a:srgbClr val="8497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endParaRPr sz="8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118" name="group 118"/>
          <p:cNvGrpSpPr/>
          <p:nvPr/>
        </p:nvGrpSpPr>
        <p:grpSpPr>
          <a:xfrm rot="21600000">
            <a:off x="1175003" y="1225296"/>
            <a:ext cx="1982724" cy="917447"/>
            <a:chOff x="0" y="0"/>
            <a:chExt cx="1982724" cy="917447"/>
          </a:xfrm>
        </p:grpSpPr>
        <p:pic>
          <p:nvPicPr>
            <p:cNvPr id="1154" name="picture 115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982724" cy="917447"/>
            </a:xfrm>
            <a:prstGeom prst="rect">
              <a:avLst/>
            </a:prstGeom>
          </p:spPr>
        </p:pic>
        <p:sp>
          <p:nvSpPr>
            <p:cNvPr id="1156" name="textbox 1156"/>
            <p:cNvSpPr/>
            <p:nvPr/>
          </p:nvSpPr>
          <p:spPr>
            <a:xfrm>
              <a:off x="-12700" y="-12700"/>
              <a:ext cx="2008504" cy="9734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95910" algn="l" rtl="0" eaLnBrk="0">
                <a:lnSpc>
                  <a:spcPct val="92000"/>
                </a:lnSpc>
              </a:pPr>
              <a:r>
                <a:rPr sz="2300" b="1" kern="0" spc="-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曙光初现</a:t>
              </a:r>
              <a:endParaRPr sz="2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158" name="picture 11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sp>
        <p:nvSpPr>
          <p:cNvPr id="1162" name="textbox 1162"/>
          <p:cNvSpPr/>
          <p:nvPr/>
        </p:nvSpPr>
        <p:spPr>
          <a:xfrm>
            <a:off x="8561184" y="2403646"/>
            <a:ext cx="819150" cy="22421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0165" algn="l" rtl="0" eaLnBrk="0">
              <a:lnSpc>
                <a:spcPct val="81000"/>
              </a:lnSpc>
            </a:pPr>
            <a:r>
              <a:rPr sz="8000" b="1" kern="0" spc="-20" dirty="0">
                <a:solidFill>
                  <a:srgbClr val="8497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8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4605" algn="l" rtl="0" eaLnBrk="0">
              <a:lnSpc>
                <a:spcPct val="118000"/>
              </a:lnSpc>
              <a:spcBef>
                <a:spcPts val="5"/>
              </a:spcBef>
            </a:pPr>
            <a:r>
              <a:rPr sz="1500" b="1" kern="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阳线的收</a:t>
            </a:r>
            <a:r>
              <a:rPr sz="15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盘价深入</a:t>
            </a:r>
            <a:r>
              <a:rPr sz="1500" b="1" kern="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到阴线实</a:t>
            </a:r>
            <a:r>
              <a:rPr sz="1500" b="1" kern="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体内部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4" name="textbox 1164"/>
          <p:cNvSpPr/>
          <p:nvPr/>
        </p:nvSpPr>
        <p:spPr>
          <a:xfrm>
            <a:off x="4900421" y="2405869"/>
            <a:ext cx="817880" cy="165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985" algn="l" rtl="0" eaLnBrk="0">
              <a:lnSpc>
                <a:spcPct val="81000"/>
              </a:lnSpc>
            </a:pPr>
            <a:r>
              <a:rPr sz="8000" b="1" kern="0" spc="-20" dirty="0">
                <a:solidFill>
                  <a:srgbClr val="F8D3D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8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9685" algn="l" rtl="0" eaLnBrk="0">
              <a:lnSpc>
                <a:spcPct val="108000"/>
              </a:lnSpc>
              <a:spcBef>
                <a:spcPts val="0"/>
              </a:spcBef>
            </a:pPr>
            <a:r>
              <a:rPr sz="15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出现在跌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势中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66" name="picture 116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1168" name="picture 116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  <p:sp>
        <p:nvSpPr>
          <p:cNvPr id="1170" name="rect 1170"/>
          <p:cNvSpPr/>
          <p:nvPr/>
        </p:nvSpPr>
        <p:spPr>
          <a:xfrm>
            <a:off x="2293620" y="2831591"/>
            <a:ext cx="419100" cy="1485900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172" name="table 1172"/>
          <p:cNvGraphicFramePr>
            <a:graphicFrameLocks noGrp="1"/>
          </p:cNvGraphicFramePr>
          <p:nvPr/>
        </p:nvGraphicFramePr>
        <p:xfrm>
          <a:off x="1733550" y="2446655"/>
          <a:ext cx="400050" cy="1455420"/>
        </p:xfrm>
        <a:graphic>
          <a:graphicData uri="http://schemas.openxmlformats.org/drawingml/2006/table">
            <a:tbl>
              <a:tblPr>
                <a:solidFill>
                  <a:srgbClr val="00B050"/>
                </a:solidFill>
              </a:tblPr>
              <a:tblGrid>
                <a:gridCol w="400050"/>
              </a:tblGrid>
              <a:tr h="14458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pic>
        <p:nvPicPr>
          <p:cNvPr id="1174" name="picture 117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905000" y="5423915"/>
            <a:ext cx="661416" cy="81076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textbox 1176"/>
          <p:cNvSpPr/>
          <p:nvPr/>
        </p:nvSpPr>
        <p:spPr>
          <a:xfrm rot="19620000">
            <a:off x="2242011" y="4566159"/>
            <a:ext cx="3037839" cy="925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  <a:spcBef>
                <a:spcPts val="0"/>
              </a:spcBef>
            </a:pPr>
            <a:r>
              <a:rPr sz="5800" kern="0" spc="12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8" name="textbox 1178"/>
          <p:cNvSpPr/>
          <p:nvPr/>
        </p:nvSpPr>
        <p:spPr>
          <a:xfrm rot="19620000">
            <a:off x="5453552" y="1906456"/>
            <a:ext cx="4461509" cy="9315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2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sz="5800" kern="0" spc="48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5800" kern="0" spc="2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80" name="picture 11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617720" y="2336291"/>
            <a:ext cx="4823460" cy="3064764"/>
          </a:xfrm>
          <a:prstGeom prst="rect">
            <a:avLst/>
          </a:prstGeom>
        </p:spPr>
      </p:pic>
      <p:grpSp>
        <p:nvGrpSpPr>
          <p:cNvPr id="120" name="group 120"/>
          <p:cNvGrpSpPr/>
          <p:nvPr/>
        </p:nvGrpSpPr>
        <p:grpSpPr>
          <a:xfrm rot="21600000">
            <a:off x="8359775" y="2357437"/>
            <a:ext cx="1852612" cy="3030537"/>
            <a:chOff x="0" y="0"/>
            <a:chExt cx="1852612" cy="3030537"/>
          </a:xfrm>
        </p:grpSpPr>
        <p:sp>
          <p:nvSpPr>
            <p:cNvPr id="1182" name="path 1182"/>
            <p:cNvSpPr/>
            <p:nvPr/>
          </p:nvSpPr>
          <p:spPr>
            <a:xfrm>
              <a:off x="0" y="0"/>
              <a:ext cx="1852612" cy="3030537"/>
            </a:xfrm>
            <a:custGeom>
              <a:avLst/>
              <a:gdLst/>
              <a:ahLst/>
              <a:cxnLst/>
              <a:rect l="0" t="0" r="0" b="0"/>
              <a:pathLst>
                <a:path w="2917" h="4772">
                  <a:moveTo>
                    <a:pt x="1494" y="0"/>
                  </a:moveTo>
                  <a:cubicBezTo>
                    <a:pt x="2280" y="0"/>
                    <a:pt x="2917" y="366"/>
                    <a:pt x="2917" y="819"/>
                  </a:cubicBezTo>
                  <a:lnTo>
                    <a:pt x="2917" y="1677"/>
                  </a:lnTo>
                  <a:lnTo>
                    <a:pt x="2917" y="2445"/>
                  </a:lnTo>
                  <a:lnTo>
                    <a:pt x="2917" y="4603"/>
                  </a:lnTo>
                  <a:cubicBezTo>
                    <a:pt x="2917" y="4696"/>
                    <a:pt x="2785" y="4772"/>
                    <a:pt x="2623" y="4772"/>
                  </a:cubicBezTo>
                  <a:lnTo>
                    <a:pt x="365" y="4772"/>
                  </a:lnTo>
                  <a:cubicBezTo>
                    <a:pt x="203" y="4772"/>
                    <a:pt x="71" y="4696"/>
                    <a:pt x="71" y="4603"/>
                  </a:cubicBezTo>
                  <a:cubicBezTo>
                    <a:pt x="65" y="3933"/>
                    <a:pt x="58" y="3263"/>
                    <a:pt x="51" y="2593"/>
                  </a:cubicBezTo>
                  <a:cubicBezTo>
                    <a:pt x="115" y="2129"/>
                    <a:pt x="0" y="1998"/>
                    <a:pt x="452" y="1816"/>
                  </a:cubicBezTo>
                  <a:cubicBezTo>
                    <a:pt x="905" y="1634"/>
                    <a:pt x="1218" y="1700"/>
                    <a:pt x="1579" y="1637"/>
                  </a:cubicBezTo>
                  <a:cubicBezTo>
                    <a:pt x="2193" y="1540"/>
                    <a:pt x="2553" y="1175"/>
                    <a:pt x="2384" y="822"/>
                  </a:cubicBezTo>
                  <a:cubicBezTo>
                    <a:pt x="2215" y="469"/>
                    <a:pt x="1581" y="262"/>
                    <a:pt x="969" y="359"/>
                  </a:cubicBezTo>
                  <a:lnTo>
                    <a:pt x="964" y="360"/>
                  </a:lnTo>
                  <a:lnTo>
                    <a:pt x="319" y="360"/>
                  </a:lnTo>
                  <a:cubicBezTo>
                    <a:pt x="572" y="142"/>
                    <a:pt x="1004" y="0"/>
                    <a:pt x="1494" y="0"/>
                  </a:cubicBezTo>
                </a:path>
              </a:pathLst>
            </a:custGeom>
            <a:solidFill>
              <a:srgbClr val="7D7D7D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84" name="textbox 1184"/>
            <p:cNvSpPr/>
            <p:nvPr/>
          </p:nvSpPr>
          <p:spPr>
            <a:xfrm>
              <a:off x="116776" y="162731"/>
              <a:ext cx="1627504" cy="22644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66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35610" algn="l" rtl="0" eaLnBrk="0">
                <a:lnSpc>
                  <a:spcPct val="81000"/>
                </a:lnSpc>
              </a:pPr>
              <a:r>
                <a:rPr sz="8000" b="1" kern="0" spc="-20" dirty="0">
                  <a:solidFill>
                    <a:srgbClr val="ADB9C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sz="8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indent="14605" algn="l" rtl="0" eaLnBrk="0">
                <a:lnSpc>
                  <a:spcPct val="118000"/>
                </a:lnSpc>
                <a:spcBef>
                  <a:spcPts val="5"/>
                </a:spcBef>
              </a:pPr>
              <a:r>
                <a:rPr sz="1500" b="1" kern="0" spc="5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阳线的开盘价深入</a:t>
              </a:r>
              <a:r>
                <a:rPr sz="1500" b="1" kern="0" spc="6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b="1" kern="0" spc="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到阴线实体内部</a:t>
              </a:r>
              <a:r>
                <a:rPr sz="1500" b="1" kern="0" spc="-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b="1" kern="0" spc="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</a:t>
              </a:r>
              <a:r>
                <a:rPr sz="1500" b="1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b="1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阳线的收盘价则超</a:t>
              </a:r>
              <a:r>
                <a:rPr sz="1500" b="1" kern="0" spc="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b="1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过阴线的开盘价</a:t>
              </a:r>
              <a:endParaRPr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aphicFrame>
        <p:nvGraphicFramePr>
          <p:cNvPr id="1186" name="table 1186"/>
          <p:cNvGraphicFramePr>
            <a:graphicFrameLocks noGrp="1"/>
          </p:cNvGraphicFramePr>
          <p:nvPr/>
        </p:nvGraphicFramePr>
        <p:xfrm>
          <a:off x="2503170" y="5648325"/>
          <a:ext cx="7375525" cy="658494"/>
        </p:xfrm>
        <a:graphic>
          <a:graphicData uri="http://schemas.openxmlformats.org/drawingml/2006/table">
            <a:tbl>
              <a:tblPr/>
              <a:tblGrid>
                <a:gridCol w="7375525"/>
              </a:tblGrid>
              <a:tr h="6521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6680" indent="-1270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股价已经见底或离底部不远 ，股价随时会反转</a:t>
                      </a:r>
                      <a:r>
                        <a:rPr sz="1700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 由跌转涨 ，后市看涨。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投资者可果断进入。</a:t>
                      </a:r>
                      <a:endParaRPr sz="1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88" name="textbox 1188"/>
          <p:cNvSpPr/>
          <p:nvPr/>
        </p:nvSpPr>
        <p:spPr>
          <a:xfrm>
            <a:off x="6178346" y="2553189"/>
            <a:ext cx="1772285" cy="2231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48640" algn="l" rtl="0" eaLnBrk="0">
              <a:lnSpc>
                <a:spcPct val="81000"/>
              </a:lnSpc>
            </a:pPr>
            <a:r>
              <a:rPr sz="8000" b="1" kern="0" spc="-20" dirty="0">
                <a:solidFill>
                  <a:srgbClr val="E8A0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8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28575" algn="l" rtl="0" eaLnBrk="0">
              <a:lnSpc>
                <a:spcPct val="118000"/>
              </a:lnSpc>
              <a:spcBef>
                <a:spcPts val="5"/>
              </a:spcBef>
            </a:pP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由2根K线组成 ，第</a:t>
            </a:r>
            <a:r>
              <a:rPr sz="1500" b="1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500" b="1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一根K线是大阴线</a:t>
            </a:r>
            <a:r>
              <a:rPr sz="1500" b="1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第二根K线是大阳线</a:t>
            </a:r>
            <a:r>
              <a:rPr sz="1500" b="1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或中阳线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90" name="textbox 1190"/>
          <p:cNvSpPr/>
          <p:nvPr/>
        </p:nvSpPr>
        <p:spPr>
          <a:xfrm>
            <a:off x="4879709" y="1571986"/>
            <a:ext cx="4591050" cy="1010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1000"/>
              </a:lnSpc>
            </a:pPr>
            <a:r>
              <a:rPr sz="8000" b="1" kern="0" spc="-340" dirty="0">
                <a:solidFill>
                  <a:srgbClr val="D6DCE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sz="8000" b="1" kern="0" spc="450" dirty="0">
                <a:solidFill>
                  <a:srgbClr val="D6DCE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8000" b="1" kern="0" spc="-340" dirty="0">
                <a:solidFill>
                  <a:srgbClr val="E8A0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sz="8000" b="1" kern="0" spc="350" dirty="0">
                <a:solidFill>
                  <a:srgbClr val="E8A09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</a:t>
            </a:r>
            <a:r>
              <a:rPr sz="8000" b="1" kern="0" spc="-340" dirty="0">
                <a:solidFill>
                  <a:srgbClr val="ADB9C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endParaRPr sz="8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122" name="group 122"/>
          <p:cNvGrpSpPr/>
          <p:nvPr/>
        </p:nvGrpSpPr>
        <p:grpSpPr>
          <a:xfrm rot="21600000">
            <a:off x="1175003" y="1225296"/>
            <a:ext cx="1982724" cy="917447"/>
            <a:chOff x="0" y="0"/>
            <a:chExt cx="1982724" cy="917447"/>
          </a:xfrm>
        </p:grpSpPr>
        <p:pic>
          <p:nvPicPr>
            <p:cNvPr id="1192" name="picture 119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982724" cy="917447"/>
            </a:xfrm>
            <a:prstGeom prst="rect">
              <a:avLst/>
            </a:prstGeom>
          </p:spPr>
        </p:pic>
        <p:sp>
          <p:nvSpPr>
            <p:cNvPr id="1194" name="textbox 1194"/>
            <p:cNvSpPr/>
            <p:nvPr/>
          </p:nvSpPr>
          <p:spPr>
            <a:xfrm>
              <a:off x="-12700" y="-12700"/>
              <a:ext cx="2008504" cy="9709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41300" algn="l" rtl="0" eaLnBrk="0">
                <a:lnSpc>
                  <a:spcPct val="91000"/>
                </a:lnSpc>
                <a:spcBef>
                  <a:spcPts val="5"/>
                </a:spcBef>
              </a:pPr>
              <a:r>
                <a:rPr sz="2300" b="1" kern="0" spc="6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旭日东升</a:t>
              </a:r>
              <a:endParaRPr sz="2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196" name="picture 11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sp>
        <p:nvSpPr>
          <p:cNvPr id="1200" name="textbox 1200"/>
          <p:cNvSpPr/>
          <p:nvPr/>
        </p:nvSpPr>
        <p:spPr>
          <a:xfrm>
            <a:off x="4816284" y="2543981"/>
            <a:ext cx="817880" cy="165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985" algn="l" rtl="0" eaLnBrk="0">
              <a:lnSpc>
                <a:spcPct val="81000"/>
              </a:lnSpc>
            </a:pPr>
            <a:r>
              <a:rPr sz="8000" b="1" kern="0" spc="-20" dirty="0">
                <a:solidFill>
                  <a:srgbClr val="D6DCE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8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9685" algn="l" rtl="0" eaLnBrk="0">
              <a:lnSpc>
                <a:spcPct val="108000"/>
              </a:lnSpc>
              <a:spcBef>
                <a:spcPts val="0"/>
              </a:spcBef>
            </a:pPr>
            <a:r>
              <a:rPr sz="1500" b="1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出现在跌</a:t>
            </a:r>
            <a:r>
              <a:rPr sz="1500" b="1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势中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02" name="picture 12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1204" name="picture 120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  <p:sp>
        <p:nvSpPr>
          <p:cNvPr id="1206" name="rect 1206"/>
          <p:cNvSpPr/>
          <p:nvPr/>
        </p:nvSpPr>
        <p:spPr>
          <a:xfrm>
            <a:off x="2438400" y="2462783"/>
            <a:ext cx="419100" cy="1484376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208" name="table 1208"/>
          <p:cNvGraphicFramePr>
            <a:graphicFrameLocks noGrp="1"/>
          </p:cNvGraphicFramePr>
          <p:nvPr/>
        </p:nvGraphicFramePr>
        <p:xfrm>
          <a:off x="1805305" y="3076575"/>
          <a:ext cx="400050" cy="1454785"/>
        </p:xfrm>
        <a:graphic>
          <a:graphicData uri="http://schemas.openxmlformats.org/drawingml/2006/table">
            <a:tbl>
              <a:tblPr>
                <a:solidFill>
                  <a:srgbClr val="00B050"/>
                </a:solidFill>
              </a:tblPr>
              <a:tblGrid>
                <a:gridCol w="400050"/>
              </a:tblGrid>
              <a:tr h="14452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pic>
        <p:nvPicPr>
          <p:cNvPr id="1210" name="picture 12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725167" y="5574791"/>
            <a:ext cx="661416" cy="81076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textbox 1212"/>
          <p:cNvSpPr/>
          <p:nvPr/>
        </p:nvSpPr>
        <p:spPr>
          <a:xfrm rot="19620000">
            <a:off x="2163479" y="4354838"/>
            <a:ext cx="3795395" cy="925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  <a:spcBef>
                <a:spcPts val="0"/>
              </a:spcBef>
            </a:pPr>
            <a:r>
              <a:rPr sz="5800" kern="0" spc="1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14" name="textbox 1214"/>
          <p:cNvSpPr/>
          <p:nvPr/>
        </p:nvSpPr>
        <p:spPr>
          <a:xfrm rot="19620000">
            <a:off x="5996730" y="1886515"/>
            <a:ext cx="3796029" cy="932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1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16" name="rect 1216"/>
          <p:cNvSpPr/>
          <p:nvPr/>
        </p:nvSpPr>
        <p:spPr>
          <a:xfrm>
            <a:off x="4872228" y="2510028"/>
            <a:ext cx="4823459" cy="19811"/>
          </a:xfrm>
          <a:prstGeom prst="rect">
            <a:avLst/>
          </a:prstGeom>
          <a:solidFill>
            <a:srgbClr val="D8D8D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24" name="group 124"/>
          <p:cNvGrpSpPr/>
          <p:nvPr/>
        </p:nvGrpSpPr>
        <p:grpSpPr>
          <a:xfrm rot="21600000">
            <a:off x="4979352" y="2282825"/>
            <a:ext cx="3350259" cy="3038475"/>
            <a:chOff x="0" y="0"/>
            <a:chExt cx="3350259" cy="3038475"/>
          </a:xfrm>
        </p:grpSpPr>
        <p:sp>
          <p:nvSpPr>
            <p:cNvPr id="1218" name="path 1218"/>
            <p:cNvSpPr/>
            <p:nvPr/>
          </p:nvSpPr>
          <p:spPr>
            <a:xfrm>
              <a:off x="1372577" y="7937"/>
              <a:ext cx="1977681" cy="3030537"/>
            </a:xfrm>
            <a:custGeom>
              <a:avLst/>
              <a:gdLst/>
              <a:ahLst/>
              <a:cxnLst/>
              <a:rect l="0" t="0" r="0" b="0"/>
              <a:pathLst>
                <a:path w="3114" h="4772">
                  <a:moveTo>
                    <a:pt x="1567" y="0"/>
                  </a:moveTo>
                  <a:cubicBezTo>
                    <a:pt x="2422" y="0"/>
                    <a:pt x="3114" y="366"/>
                    <a:pt x="3114" y="819"/>
                  </a:cubicBezTo>
                  <a:lnTo>
                    <a:pt x="3114" y="1677"/>
                  </a:lnTo>
                  <a:lnTo>
                    <a:pt x="3114" y="2445"/>
                  </a:lnTo>
                  <a:lnTo>
                    <a:pt x="3114" y="4603"/>
                  </a:lnTo>
                  <a:cubicBezTo>
                    <a:pt x="3114" y="4696"/>
                    <a:pt x="2971" y="4772"/>
                    <a:pt x="2794" y="4772"/>
                  </a:cubicBezTo>
                  <a:lnTo>
                    <a:pt x="341" y="4772"/>
                  </a:lnTo>
                  <a:cubicBezTo>
                    <a:pt x="164" y="4772"/>
                    <a:pt x="21" y="4696"/>
                    <a:pt x="21" y="4603"/>
                  </a:cubicBezTo>
                  <a:cubicBezTo>
                    <a:pt x="14" y="3933"/>
                    <a:pt x="7" y="3263"/>
                    <a:pt x="0" y="2593"/>
                  </a:cubicBezTo>
                  <a:cubicBezTo>
                    <a:pt x="69" y="2129"/>
                    <a:pt x="-55" y="1998"/>
                    <a:pt x="435" y="1816"/>
                  </a:cubicBezTo>
                  <a:cubicBezTo>
                    <a:pt x="928" y="1634"/>
                    <a:pt x="1268" y="1700"/>
                    <a:pt x="1661" y="1637"/>
                  </a:cubicBezTo>
                  <a:cubicBezTo>
                    <a:pt x="2326" y="1540"/>
                    <a:pt x="2718" y="1175"/>
                    <a:pt x="2535" y="822"/>
                  </a:cubicBezTo>
                  <a:cubicBezTo>
                    <a:pt x="2350" y="469"/>
                    <a:pt x="1663" y="262"/>
                    <a:pt x="997" y="359"/>
                  </a:cubicBezTo>
                  <a:lnTo>
                    <a:pt x="992" y="360"/>
                  </a:lnTo>
                  <a:lnTo>
                    <a:pt x="291" y="360"/>
                  </a:lnTo>
                  <a:cubicBezTo>
                    <a:pt x="566" y="142"/>
                    <a:pt x="1036" y="0"/>
                    <a:pt x="1567" y="0"/>
                  </a:cubicBezTo>
                </a:path>
              </a:pathLst>
            </a:custGeom>
            <a:solidFill>
              <a:srgbClr val="EB7B7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20" name="path 1220"/>
            <p:cNvSpPr/>
            <p:nvPr/>
          </p:nvSpPr>
          <p:spPr>
            <a:xfrm>
              <a:off x="0" y="0"/>
              <a:ext cx="1054734" cy="3030537"/>
            </a:xfrm>
            <a:custGeom>
              <a:avLst/>
              <a:gdLst/>
              <a:ahLst/>
              <a:cxnLst/>
              <a:rect l="0" t="0" r="0" b="0"/>
              <a:pathLst>
                <a:path w="1660" h="4772">
                  <a:moveTo>
                    <a:pt x="840" y="0"/>
                  </a:moveTo>
                  <a:cubicBezTo>
                    <a:pt x="1294" y="0"/>
                    <a:pt x="1660" y="366"/>
                    <a:pt x="1660" y="819"/>
                  </a:cubicBezTo>
                  <a:lnTo>
                    <a:pt x="1660" y="1677"/>
                  </a:lnTo>
                  <a:lnTo>
                    <a:pt x="1660" y="2445"/>
                  </a:lnTo>
                  <a:lnTo>
                    <a:pt x="1660" y="4603"/>
                  </a:lnTo>
                  <a:cubicBezTo>
                    <a:pt x="1660" y="4696"/>
                    <a:pt x="1584" y="4772"/>
                    <a:pt x="1490" y="4772"/>
                  </a:cubicBezTo>
                  <a:lnTo>
                    <a:pt x="190" y="4772"/>
                  </a:lnTo>
                  <a:cubicBezTo>
                    <a:pt x="97" y="4772"/>
                    <a:pt x="22" y="4696"/>
                    <a:pt x="22" y="4603"/>
                  </a:cubicBezTo>
                  <a:cubicBezTo>
                    <a:pt x="17" y="3933"/>
                    <a:pt x="14" y="3263"/>
                    <a:pt x="10" y="2593"/>
                  </a:cubicBezTo>
                  <a:cubicBezTo>
                    <a:pt x="46" y="2129"/>
                    <a:pt x="-19" y="1998"/>
                    <a:pt x="240" y="1816"/>
                  </a:cubicBezTo>
                  <a:cubicBezTo>
                    <a:pt x="502" y="1634"/>
                    <a:pt x="682" y="1700"/>
                    <a:pt x="890" y="1637"/>
                  </a:cubicBezTo>
                  <a:cubicBezTo>
                    <a:pt x="1244" y="1540"/>
                    <a:pt x="1450" y="1175"/>
                    <a:pt x="1354" y="822"/>
                  </a:cubicBezTo>
                  <a:cubicBezTo>
                    <a:pt x="1256" y="469"/>
                    <a:pt x="892" y="262"/>
                    <a:pt x="538" y="359"/>
                  </a:cubicBezTo>
                  <a:lnTo>
                    <a:pt x="535" y="360"/>
                  </a:lnTo>
                  <a:lnTo>
                    <a:pt x="164" y="360"/>
                  </a:lnTo>
                  <a:cubicBezTo>
                    <a:pt x="310" y="142"/>
                    <a:pt x="558" y="0"/>
                    <a:pt x="840" y="0"/>
                  </a:cubicBezTo>
                </a:path>
              </a:pathLst>
            </a:custGeom>
            <a:solidFill>
              <a:srgbClr val="F1A7A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26" name="group 126"/>
          <p:cNvGrpSpPr/>
          <p:nvPr/>
        </p:nvGrpSpPr>
        <p:grpSpPr>
          <a:xfrm rot="21600000">
            <a:off x="8613775" y="2290762"/>
            <a:ext cx="1852612" cy="3030537"/>
            <a:chOff x="0" y="0"/>
            <a:chExt cx="1852612" cy="3030537"/>
          </a:xfrm>
        </p:grpSpPr>
        <p:sp>
          <p:nvSpPr>
            <p:cNvPr id="1222" name="path 1222"/>
            <p:cNvSpPr/>
            <p:nvPr/>
          </p:nvSpPr>
          <p:spPr>
            <a:xfrm>
              <a:off x="0" y="0"/>
              <a:ext cx="1852612" cy="3030537"/>
            </a:xfrm>
            <a:custGeom>
              <a:avLst/>
              <a:gdLst/>
              <a:ahLst/>
              <a:cxnLst/>
              <a:rect l="0" t="0" r="0" b="0"/>
              <a:pathLst>
                <a:path w="2917" h="4772">
                  <a:moveTo>
                    <a:pt x="1494" y="0"/>
                  </a:moveTo>
                  <a:cubicBezTo>
                    <a:pt x="2280" y="0"/>
                    <a:pt x="2917" y="366"/>
                    <a:pt x="2917" y="819"/>
                  </a:cubicBezTo>
                  <a:lnTo>
                    <a:pt x="2917" y="1677"/>
                  </a:lnTo>
                  <a:lnTo>
                    <a:pt x="2917" y="2445"/>
                  </a:lnTo>
                  <a:lnTo>
                    <a:pt x="2917" y="4603"/>
                  </a:lnTo>
                  <a:cubicBezTo>
                    <a:pt x="2917" y="4696"/>
                    <a:pt x="2785" y="4772"/>
                    <a:pt x="2623" y="4772"/>
                  </a:cubicBezTo>
                  <a:lnTo>
                    <a:pt x="365" y="4772"/>
                  </a:lnTo>
                  <a:cubicBezTo>
                    <a:pt x="203" y="4772"/>
                    <a:pt x="71" y="4696"/>
                    <a:pt x="71" y="4603"/>
                  </a:cubicBezTo>
                  <a:cubicBezTo>
                    <a:pt x="65" y="3933"/>
                    <a:pt x="58" y="3263"/>
                    <a:pt x="51" y="2593"/>
                  </a:cubicBezTo>
                  <a:cubicBezTo>
                    <a:pt x="115" y="2129"/>
                    <a:pt x="0" y="1998"/>
                    <a:pt x="452" y="1816"/>
                  </a:cubicBezTo>
                  <a:cubicBezTo>
                    <a:pt x="905" y="1634"/>
                    <a:pt x="1218" y="1700"/>
                    <a:pt x="1579" y="1637"/>
                  </a:cubicBezTo>
                  <a:cubicBezTo>
                    <a:pt x="2193" y="1540"/>
                    <a:pt x="2553" y="1175"/>
                    <a:pt x="2384" y="822"/>
                  </a:cubicBezTo>
                  <a:cubicBezTo>
                    <a:pt x="2215" y="469"/>
                    <a:pt x="1581" y="262"/>
                    <a:pt x="969" y="359"/>
                  </a:cubicBezTo>
                  <a:lnTo>
                    <a:pt x="964" y="360"/>
                  </a:lnTo>
                  <a:lnTo>
                    <a:pt x="319" y="360"/>
                  </a:lnTo>
                  <a:cubicBezTo>
                    <a:pt x="572" y="142"/>
                    <a:pt x="1004" y="0"/>
                    <a:pt x="1494" y="0"/>
                  </a:cubicBezTo>
                </a:path>
              </a:pathLst>
            </a:custGeom>
            <a:solidFill>
              <a:srgbClr val="DD232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24" name="textbox 1224"/>
            <p:cNvSpPr/>
            <p:nvPr/>
          </p:nvSpPr>
          <p:spPr>
            <a:xfrm>
              <a:off x="-12700" y="-12700"/>
              <a:ext cx="1878329" cy="30759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65150" algn="l" rtl="0" eaLnBrk="0">
                <a:lnSpc>
                  <a:spcPct val="81000"/>
                </a:lnSpc>
              </a:pPr>
              <a:r>
                <a:rPr sz="8000" b="1" kern="0" spc="-20" dirty="0">
                  <a:solidFill>
                    <a:srgbClr val="7D7D7D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sz="8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6000"/>
                </a:lnSpc>
              </a:pPr>
              <a:endParaRPr sz="1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40970" indent="1270" algn="l" rtl="0" eaLnBrk="0">
                <a:lnSpc>
                  <a:spcPct val="108000"/>
                </a:lnSpc>
                <a:spcBef>
                  <a:spcPts val="0"/>
                </a:spcBef>
              </a:pPr>
              <a:r>
                <a:rPr sz="1500" b="1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这些K线的最低价</a:t>
              </a:r>
              <a:r>
                <a:rPr sz="1500" b="1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</a:t>
              </a:r>
              <a:r>
                <a:rPr sz="1500" b="1" kern="0" spc="6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相同或相近</a:t>
              </a:r>
              <a:endParaRPr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226" name="picture 12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84503" y="2816352"/>
            <a:ext cx="3232404" cy="1565147"/>
          </a:xfrm>
          <a:prstGeom prst="rect">
            <a:avLst/>
          </a:prstGeom>
        </p:spPr>
      </p:pic>
      <p:graphicFrame>
        <p:nvGraphicFramePr>
          <p:cNvPr id="1228" name="table 1228"/>
          <p:cNvGraphicFramePr>
            <a:graphicFrameLocks noGrp="1"/>
          </p:cNvGraphicFramePr>
          <p:nvPr/>
        </p:nvGraphicFramePr>
        <p:xfrm>
          <a:off x="2990214" y="5517514"/>
          <a:ext cx="7375525" cy="658494"/>
        </p:xfrm>
        <a:graphic>
          <a:graphicData uri="http://schemas.openxmlformats.org/drawingml/2006/table">
            <a:tbl>
              <a:tblPr/>
              <a:tblGrid>
                <a:gridCol w="7375525"/>
              </a:tblGrid>
              <a:tr h="6521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6680" indent="-1270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股价已经见底或离底部不远 ，股价可能会反转</a:t>
                      </a:r>
                      <a:r>
                        <a:rPr sz="1700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 由跌转涨 ，后市看涨。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投资者可果断进入。</a:t>
                      </a:r>
                      <a:endParaRPr sz="1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30" name="textbox 1230"/>
          <p:cNvSpPr/>
          <p:nvPr/>
        </p:nvSpPr>
        <p:spPr>
          <a:xfrm>
            <a:off x="5116472" y="1504676"/>
            <a:ext cx="4585334" cy="1025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2000"/>
              </a:lnSpc>
            </a:pPr>
            <a:r>
              <a:rPr sz="7900" b="1" kern="0" spc="-310" dirty="0">
                <a:solidFill>
                  <a:srgbClr val="14141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sz="7900" b="1" kern="0" spc="470" dirty="0">
                <a:solidFill>
                  <a:srgbClr val="14141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7900" b="1" kern="0" spc="-310" dirty="0">
                <a:solidFill>
                  <a:srgbClr val="1D1D1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sz="7900" b="1" kern="0" spc="370" dirty="0">
                <a:solidFill>
                  <a:srgbClr val="1D1D1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</a:t>
            </a:r>
            <a:r>
              <a:rPr sz="8000" b="1" kern="0" spc="-310" dirty="0">
                <a:solidFill>
                  <a:srgbClr val="7D7D7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endParaRPr sz="8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32" name="textbox 1232"/>
          <p:cNvSpPr/>
          <p:nvPr/>
        </p:nvSpPr>
        <p:spPr>
          <a:xfrm>
            <a:off x="6461683" y="2485879"/>
            <a:ext cx="1650364" cy="16503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19430" algn="l" rtl="0" eaLnBrk="0">
              <a:lnSpc>
                <a:spcPct val="81000"/>
              </a:lnSpc>
            </a:pPr>
            <a:r>
              <a:rPr sz="8000" b="1" kern="0" spc="-20" dirty="0">
                <a:solidFill>
                  <a:srgbClr val="1D1D1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8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240" indent="-2540" algn="l" rtl="0" eaLnBrk="0">
              <a:lnSpc>
                <a:spcPct val="107000"/>
              </a:lnSpc>
            </a:pPr>
            <a:r>
              <a:rPr sz="1500" b="1" kern="0" spc="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由2根或2根以上的</a:t>
            </a: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K线组成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28" name="group 128"/>
          <p:cNvGrpSpPr/>
          <p:nvPr/>
        </p:nvGrpSpPr>
        <p:grpSpPr>
          <a:xfrm rot="21600000">
            <a:off x="1175003" y="1225296"/>
            <a:ext cx="1982724" cy="917447"/>
            <a:chOff x="0" y="0"/>
            <a:chExt cx="1982724" cy="917447"/>
          </a:xfrm>
        </p:grpSpPr>
        <p:pic>
          <p:nvPicPr>
            <p:cNvPr id="1234" name="picture 123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982724" cy="917447"/>
            </a:xfrm>
            <a:prstGeom prst="rect">
              <a:avLst/>
            </a:prstGeom>
          </p:spPr>
        </p:pic>
        <p:sp>
          <p:nvSpPr>
            <p:cNvPr id="1236" name="textbox 1236"/>
            <p:cNvSpPr/>
            <p:nvPr/>
          </p:nvSpPr>
          <p:spPr>
            <a:xfrm>
              <a:off x="-12700" y="-12700"/>
              <a:ext cx="2008504" cy="9734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44475" algn="l" rtl="0" eaLnBrk="0">
                <a:lnSpc>
                  <a:spcPct val="91000"/>
                </a:lnSpc>
                <a:spcBef>
                  <a:spcPts val="0"/>
                </a:spcBef>
              </a:pPr>
              <a:r>
                <a:rPr sz="2300" b="1" kern="0" spc="5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低位平底</a:t>
              </a:r>
              <a:endParaRPr sz="2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238" name="picture 12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sp>
        <p:nvSpPr>
          <p:cNvPr id="1242" name="textbox 1242"/>
          <p:cNvSpPr/>
          <p:nvPr/>
        </p:nvSpPr>
        <p:spPr>
          <a:xfrm>
            <a:off x="5070284" y="2477306"/>
            <a:ext cx="817880" cy="165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985" algn="l" rtl="0" eaLnBrk="0">
              <a:lnSpc>
                <a:spcPct val="81000"/>
              </a:lnSpc>
            </a:pPr>
            <a:r>
              <a:rPr sz="8000" b="1" kern="0" spc="-20" dirty="0">
                <a:solidFill>
                  <a:srgbClr val="14141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8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9685" algn="l" rtl="0" eaLnBrk="0">
              <a:lnSpc>
                <a:spcPct val="108000"/>
              </a:lnSpc>
              <a:spcBef>
                <a:spcPts val="0"/>
              </a:spcBef>
            </a:pPr>
            <a:r>
              <a:rPr sz="15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出现在跌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势中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44" name="picture 12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1246" name="picture 12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  <p:pic>
        <p:nvPicPr>
          <p:cNvPr id="1248" name="picture 12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211324" y="5445252"/>
            <a:ext cx="661416" cy="81229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textbox 1250"/>
          <p:cNvSpPr/>
          <p:nvPr/>
        </p:nvSpPr>
        <p:spPr>
          <a:xfrm rot="19620000">
            <a:off x="5996730" y="1886515"/>
            <a:ext cx="3796029" cy="932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1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52" name="textbox 1252"/>
          <p:cNvSpPr/>
          <p:nvPr/>
        </p:nvSpPr>
        <p:spPr>
          <a:xfrm rot="19620000">
            <a:off x="2163479" y="4354838"/>
            <a:ext cx="3795395" cy="925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  <a:spcBef>
                <a:spcPts val="0"/>
              </a:spcBef>
            </a:pPr>
            <a:r>
              <a:rPr sz="5800" kern="0" spc="1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54" name="picture 12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218175" y="2279650"/>
            <a:ext cx="4824983" cy="3030537"/>
          </a:xfrm>
          <a:prstGeom prst="rect">
            <a:avLst/>
          </a:prstGeom>
        </p:spPr>
      </p:pic>
      <p:graphicFrame>
        <p:nvGraphicFramePr>
          <p:cNvPr id="1256" name="table 1256"/>
          <p:cNvGraphicFramePr>
            <a:graphicFrameLocks noGrp="1"/>
          </p:cNvGraphicFramePr>
          <p:nvPr/>
        </p:nvGraphicFramePr>
        <p:xfrm>
          <a:off x="3416934" y="5578475"/>
          <a:ext cx="7375525" cy="658494"/>
        </p:xfrm>
        <a:graphic>
          <a:graphicData uri="http://schemas.openxmlformats.org/drawingml/2006/table">
            <a:tbl>
              <a:tblPr/>
              <a:tblGrid>
                <a:gridCol w="7375525"/>
              </a:tblGrid>
              <a:tr h="6521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6680" indent="-1270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股价已经见底或离底部不远 ，股价可能会反转</a:t>
                      </a:r>
                      <a:r>
                        <a:rPr sz="1700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 由跌转涨 ，后市看涨。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投资者可果断进入。</a:t>
                      </a:r>
                      <a:endParaRPr sz="1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58" name="textbox 1258"/>
          <p:cNvSpPr/>
          <p:nvPr/>
        </p:nvSpPr>
        <p:spPr>
          <a:xfrm>
            <a:off x="5530394" y="1506861"/>
            <a:ext cx="4123690" cy="1010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1000"/>
              </a:lnSpc>
            </a:pPr>
            <a:r>
              <a:rPr sz="8000" b="1" kern="0" spc="-340" dirty="0">
                <a:solidFill>
                  <a:srgbClr val="8497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sz="8000" b="1" kern="0" spc="290" dirty="0">
                <a:solidFill>
                  <a:srgbClr val="8497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8000" b="1" kern="0" spc="-340" dirty="0">
                <a:solidFill>
                  <a:srgbClr val="7D7D7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sz="8000" b="1" kern="0" spc="240" dirty="0">
                <a:solidFill>
                  <a:srgbClr val="7D7D7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8000" b="1" kern="0" spc="-340" dirty="0">
                <a:solidFill>
                  <a:srgbClr val="7D7D7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endParaRPr sz="8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130" name="group 130"/>
          <p:cNvGrpSpPr/>
          <p:nvPr/>
        </p:nvGrpSpPr>
        <p:grpSpPr>
          <a:xfrm rot="21600000">
            <a:off x="1175003" y="1225296"/>
            <a:ext cx="1982724" cy="917447"/>
            <a:chOff x="0" y="0"/>
            <a:chExt cx="1982724" cy="917447"/>
          </a:xfrm>
        </p:grpSpPr>
        <p:pic>
          <p:nvPicPr>
            <p:cNvPr id="1260" name="picture 126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982724" cy="917447"/>
            </a:xfrm>
            <a:prstGeom prst="rect">
              <a:avLst/>
            </a:prstGeom>
          </p:spPr>
        </p:pic>
        <p:sp>
          <p:nvSpPr>
            <p:cNvPr id="1262" name="textbox 1262"/>
            <p:cNvSpPr/>
            <p:nvPr/>
          </p:nvSpPr>
          <p:spPr>
            <a:xfrm>
              <a:off x="-12700" y="-12700"/>
              <a:ext cx="2008504" cy="9734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45110" algn="l" rtl="0" eaLnBrk="0">
                <a:lnSpc>
                  <a:spcPct val="91000"/>
                </a:lnSpc>
                <a:spcBef>
                  <a:spcPts val="5"/>
                </a:spcBef>
              </a:pPr>
              <a:r>
                <a:rPr sz="2300" b="1" kern="0" spc="5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低位圆底</a:t>
              </a:r>
              <a:endParaRPr sz="2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264" name="picture 12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sp>
        <p:nvSpPr>
          <p:cNvPr id="1268" name="textbox 1268"/>
          <p:cNvSpPr/>
          <p:nvPr/>
        </p:nvSpPr>
        <p:spPr>
          <a:xfrm>
            <a:off x="7242873" y="2486196"/>
            <a:ext cx="961389" cy="2220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5725" algn="l" rtl="0" eaLnBrk="0">
              <a:lnSpc>
                <a:spcPct val="81000"/>
              </a:lnSpc>
            </a:pPr>
            <a:r>
              <a:rPr sz="8000" b="1" kern="0" spc="-20" dirty="0">
                <a:solidFill>
                  <a:srgbClr val="7D7D7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8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25400" algn="l" rtl="0" eaLnBrk="0">
              <a:lnSpc>
                <a:spcPct val="118000"/>
              </a:lnSpc>
              <a:spcBef>
                <a:spcPts val="5"/>
              </a:spcBef>
            </a:pP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由多根K线</a:t>
            </a: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组成 ，股</a:t>
            </a:r>
            <a:r>
              <a:rPr sz="15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价构成一</a:t>
            </a:r>
            <a:r>
              <a:rPr sz="15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500" b="1" kern="0" spc="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个圆弧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70" name="textbox 1270"/>
          <p:cNvSpPr/>
          <p:nvPr/>
        </p:nvSpPr>
        <p:spPr>
          <a:xfrm>
            <a:off x="5417629" y="2476036"/>
            <a:ext cx="817880" cy="16484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4785" algn="l" rtl="0" eaLnBrk="0">
              <a:lnSpc>
                <a:spcPct val="81000"/>
              </a:lnSpc>
            </a:pPr>
            <a:r>
              <a:rPr sz="8000" b="1" kern="0" spc="-20" dirty="0">
                <a:solidFill>
                  <a:srgbClr val="8497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8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9685" algn="l" rtl="0" eaLnBrk="0">
              <a:lnSpc>
                <a:spcPct val="108000"/>
              </a:lnSpc>
              <a:spcBef>
                <a:spcPts val="5"/>
              </a:spcBef>
            </a:pPr>
            <a:r>
              <a:rPr sz="15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出现在跌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势中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72" name="textbox 1272"/>
          <p:cNvSpPr/>
          <p:nvPr/>
        </p:nvSpPr>
        <p:spPr>
          <a:xfrm>
            <a:off x="9010142" y="3633914"/>
            <a:ext cx="824864" cy="1363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18000"/>
              </a:lnSpc>
            </a:pPr>
            <a:r>
              <a:rPr sz="1500" b="1" kern="0" spc="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最后一根</a:t>
            </a:r>
            <a:r>
              <a:rPr sz="1500" b="1" kern="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K线跳空</a:t>
            </a: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500" b="1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上行 ，最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终确立圆</a:t>
            </a:r>
            <a:r>
              <a:rPr sz="1500" b="1" kern="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弧底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74" name="picture 12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1276" name="picture 127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  <p:pic>
        <p:nvPicPr>
          <p:cNvPr id="1278" name="picture 127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638044" y="5506211"/>
            <a:ext cx="661415" cy="812292"/>
          </a:xfrm>
          <a:prstGeom prst="rect">
            <a:avLst/>
          </a:prstGeom>
        </p:spPr>
      </p:pic>
      <p:sp>
        <p:nvSpPr>
          <p:cNvPr id="1280" name="rect 1280"/>
          <p:cNvSpPr/>
          <p:nvPr/>
        </p:nvSpPr>
        <p:spPr>
          <a:xfrm>
            <a:off x="1170431" y="2813304"/>
            <a:ext cx="419100" cy="1124711"/>
          </a:xfrm>
          <a:prstGeom prst="rect">
            <a:avLst/>
          </a:prstGeom>
          <a:solidFill>
            <a:srgbClr val="00B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82" name="textbox 1282"/>
          <p:cNvSpPr/>
          <p:nvPr/>
        </p:nvSpPr>
        <p:spPr>
          <a:xfrm>
            <a:off x="9098176" y="2474766"/>
            <a:ext cx="552450" cy="1010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1000"/>
              </a:lnSpc>
            </a:pPr>
            <a:r>
              <a:rPr sz="8000" b="1" kern="0" spc="-320" dirty="0">
                <a:solidFill>
                  <a:srgbClr val="7D7D7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8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84" name="rect 1284"/>
          <p:cNvSpPr/>
          <p:nvPr/>
        </p:nvSpPr>
        <p:spPr>
          <a:xfrm>
            <a:off x="1734311" y="3587495"/>
            <a:ext cx="419100" cy="542544"/>
          </a:xfrm>
          <a:prstGeom prst="rect">
            <a:avLst/>
          </a:prstGeom>
          <a:solidFill>
            <a:srgbClr val="00B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286" name="picture 128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005071" y="2699003"/>
            <a:ext cx="390144" cy="507491"/>
          </a:xfrm>
          <a:prstGeom prst="rect">
            <a:avLst/>
          </a:prstGeom>
        </p:spPr>
      </p:pic>
      <p:graphicFrame>
        <p:nvGraphicFramePr>
          <p:cNvPr id="1288" name="table 1288"/>
          <p:cNvGraphicFramePr>
            <a:graphicFrameLocks noGrp="1"/>
          </p:cNvGraphicFramePr>
          <p:nvPr/>
        </p:nvGraphicFramePr>
        <p:xfrm>
          <a:off x="3435984" y="3480434"/>
          <a:ext cx="400050" cy="364489"/>
        </p:xfrm>
        <a:graphic>
          <a:graphicData uri="http://schemas.openxmlformats.org/drawingml/2006/table">
            <a:tbl>
              <a:tblPr>
                <a:solidFill>
                  <a:srgbClr val="FF0000"/>
                </a:solidFill>
              </a:tblPr>
              <a:tblGrid>
                <a:gridCol w="400050"/>
              </a:tblGrid>
              <a:tr h="3549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90" name="table 1290"/>
          <p:cNvGraphicFramePr>
            <a:graphicFrameLocks noGrp="1"/>
          </p:cNvGraphicFramePr>
          <p:nvPr/>
        </p:nvGraphicFramePr>
        <p:xfrm>
          <a:off x="2307589" y="3993832"/>
          <a:ext cx="400050" cy="363854"/>
        </p:xfrm>
        <a:graphic>
          <a:graphicData uri="http://schemas.openxmlformats.org/drawingml/2006/table">
            <a:tbl>
              <a:tblPr>
                <a:solidFill>
                  <a:srgbClr val="FF0000"/>
                </a:solidFill>
              </a:tblPr>
              <a:tblGrid>
                <a:gridCol w="400050"/>
              </a:tblGrid>
              <a:tr h="3575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1292" name="rect 1292"/>
          <p:cNvSpPr/>
          <p:nvPr/>
        </p:nvSpPr>
        <p:spPr>
          <a:xfrm>
            <a:off x="2862072" y="3787140"/>
            <a:ext cx="419099" cy="236220"/>
          </a:xfrm>
          <a:prstGeom prst="rect">
            <a:avLst/>
          </a:prstGeom>
          <a:solidFill>
            <a:srgbClr val="00B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4" name="picture 12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035807" y="5632703"/>
            <a:ext cx="7367016" cy="658367"/>
          </a:xfrm>
          <a:prstGeom prst="rect">
            <a:avLst/>
          </a:prstGeom>
        </p:spPr>
      </p:pic>
      <p:sp>
        <p:nvSpPr>
          <p:cNvPr id="1296" name="textbox 1296"/>
          <p:cNvSpPr/>
          <p:nvPr/>
        </p:nvSpPr>
        <p:spPr>
          <a:xfrm rot="19620000">
            <a:off x="2163479" y="4354838"/>
            <a:ext cx="3795395" cy="925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  <a:spcBef>
                <a:spcPts val="0"/>
              </a:spcBef>
            </a:pPr>
            <a:r>
              <a:rPr sz="5800" kern="0" spc="1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98" name="textbox 1298"/>
          <p:cNvSpPr/>
          <p:nvPr/>
        </p:nvSpPr>
        <p:spPr>
          <a:xfrm rot="19620000">
            <a:off x="5996730" y="1886515"/>
            <a:ext cx="3796029" cy="932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1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00" name="picture 13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881371" y="2596895"/>
            <a:ext cx="4823459" cy="19811"/>
          </a:xfrm>
          <a:prstGeom prst="rect">
            <a:avLst/>
          </a:prstGeom>
        </p:spPr>
      </p:pic>
      <p:grpSp>
        <p:nvGrpSpPr>
          <p:cNvPr id="132" name="group 132"/>
          <p:cNvGrpSpPr/>
          <p:nvPr/>
        </p:nvGrpSpPr>
        <p:grpSpPr>
          <a:xfrm rot="21600000">
            <a:off x="8510904" y="2316162"/>
            <a:ext cx="1976120" cy="3030537"/>
            <a:chOff x="0" y="0"/>
            <a:chExt cx="1976120" cy="3030537"/>
          </a:xfrm>
        </p:grpSpPr>
        <p:sp>
          <p:nvSpPr>
            <p:cNvPr id="1302" name="path 1302"/>
            <p:cNvSpPr/>
            <p:nvPr/>
          </p:nvSpPr>
          <p:spPr>
            <a:xfrm>
              <a:off x="0" y="0"/>
              <a:ext cx="1976120" cy="3030537"/>
            </a:xfrm>
            <a:custGeom>
              <a:avLst/>
              <a:gdLst/>
              <a:ahLst/>
              <a:cxnLst/>
              <a:rect l="0" t="0" r="0" b="0"/>
              <a:pathLst>
                <a:path w="3112" h="4772">
                  <a:moveTo>
                    <a:pt x="1567" y="0"/>
                  </a:moveTo>
                  <a:cubicBezTo>
                    <a:pt x="2420" y="0"/>
                    <a:pt x="3112" y="366"/>
                    <a:pt x="3112" y="819"/>
                  </a:cubicBezTo>
                  <a:lnTo>
                    <a:pt x="3112" y="1677"/>
                  </a:lnTo>
                  <a:lnTo>
                    <a:pt x="3112" y="2445"/>
                  </a:lnTo>
                  <a:lnTo>
                    <a:pt x="3112" y="4603"/>
                  </a:lnTo>
                  <a:cubicBezTo>
                    <a:pt x="3112" y="4696"/>
                    <a:pt x="2969" y="4772"/>
                    <a:pt x="2792" y="4772"/>
                  </a:cubicBezTo>
                  <a:lnTo>
                    <a:pt x="341" y="4772"/>
                  </a:lnTo>
                  <a:cubicBezTo>
                    <a:pt x="164" y="4772"/>
                    <a:pt x="21" y="4696"/>
                    <a:pt x="21" y="4603"/>
                  </a:cubicBezTo>
                  <a:cubicBezTo>
                    <a:pt x="14" y="3933"/>
                    <a:pt x="7" y="3263"/>
                    <a:pt x="0" y="2593"/>
                  </a:cubicBezTo>
                  <a:cubicBezTo>
                    <a:pt x="69" y="2129"/>
                    <a:pt x="-55" y="1998"/>
                    <a:pt x="435" y="1816"/>
                  </a:cubicBezTo>
                  <a:cubicBezTo>
                    <a:pt x="927" y="1634"/>
                    <a:pt x="1267" y="1700"/>
                    <a:pt x="1660" y="1637"/>
                  </a:cubicBezTo>
                  <a:cubicBezTo>
                    <a:pt x="2325" y="1540"/>
                    <a:pt x="2716" y="1175"/>
                    <a:pt x="2533" y="822"/>
                  </a:cubicBezTo>
                  <a:cubicBezTo>
                    <a:pt x="2349" y="469"/>
                    <a:pt x="1662" y="262"/>
                    <a:pt x="996" y="359"/>
                  </a:cubicBezTo>
                  <a:lnTo>
                    <a:pt x="991" y="360"/>
                  </a:lnTo>
                  <a:lnTo>
                    <a:pt x="291" y="360"/>
                  </a:lnTo>
                  <a:cubicBezTo>
                    <a:pt x="566" y="142"/>
                    <a:pt x="1035" y="0"/>
                    <a:pt x="1567" y="0"/>
                  </a:cubicBezTo>
                </a:path>
              </a:pathLst>
            </a:custGeom>
            <a:solidFill>
              <a:srgbClr val="37B3D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04" name="textbox 1304"/>
            <p:cNvSpPr/>
            <p:nvPr/>
          </p:nvSpPr>
          <p:spPr>
            <a:xfrm>
              <a:off x="-12700" y="-12700"/>
              <a:ext cx="2002154" cy="30759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06680" indent="-1270" algn="l" rtl="0" eaLnBrk="0">
                <a:lnSpc>
                  <a:spcPct val="120000"/>
                </a:lnSpc>
              </a:pPr>
              <a:r>
                <a:rPr sz="1500" b="1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第一根K线是大阴线</a:t>
              </a:r>
              <a:r>
                <a:rPr sz="1500" b="1" kern="0" spc="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</a:t>
              </a:r>
              <a:r>
                <a:rPr sz="1500" b="1" kern="0" spc="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或中阴线 ，之后连</a:t>
              </a:r>
              <a:r>
                <a:rPr sz="1500" b="1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</a:t>
              </a:r>
              <a:r>
                <a:rPr sz="1500" b="1" kern="0" spc="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续多跟小阴、</a:t>
              </a:r>
              <a:r>
                <a:rPr sz="1500" b="1" kern="0" spc="-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b="1" kern="0" spc="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小阳</a:t>
              </a:r>
              <a:r>
                <a:rPr sz="1500" b="1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</a:t>
              </a:r>
              <a:r>
                <a:rPr sz="1500" b="1" kern="0" spc="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线 ，最后以一根大</a:t>
              </a:r>
              <a:r>
                <a:rPr sz="1500" b="1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</a:t>
              </a:r>
              <a:r>
                <a:rPr sz="1500" b="1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阳线确立塔底</a:t>
              </a:r>
              <a:endParaRPr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306" name="textbox 1306"/>
          <p:cNvSpPr/>
          <p:nvPr/>
        </p:nvSpPr>
        <p:spPr>
          <a:xfrm>
            <a:off x="3124016" y="5727664"/>
            <a:ext cx="7023100" cy="5245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indent="-1270" algn="l" rtl="0" eaLnBrk="0">
              <a:lnSpc>
                <a:spcPct val="96000"/>
              </a:lnSpc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股价已经见底或离底部不远 ，股价可能会反转</a:t>
            </a:r>
            <a:r>
              <a:rPr sz="1700" kern="0" spc="-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 由跌转涨 ，后市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看涨。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投资者可果断进入。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08" name="path 1308"/>
          <p:cNvSpPr/>
          <p:nvPr/>
        </p:nvSpPr>
        <p:spPr>
          <a:xfrm>
            <a:off x="4976812" y="2368550"/>
            <a:ext cx="1066800" cy="3030537"/>
          </a:xfrm>
          <a:custGeom>
            <a:avLst/>
            <a:gdLst/>
            <a:ahLst/>
            <a:cxnLst/>
            <a:rect l="0" t="0" r="0" b="0"/>
            <a:pathLst>
              <a:path w="1680" h="4772">
                <a:moveTo>
                  <a:pt x="860" y="0"/>
                </a:moveTo>
                <a:cubicBezTo>
                  <a:pt x="1312" y="0"/>
                  <a:pt x="1680" y="366"/>
                  <a:pt x="1680" y="819"/>
                </a:cubicBezTo>
                <a:lnTo>
                  <a:pt x="1680" y="1677"/>
                </a:lnTo>
                <a:lnTo>
                  <a:pt x="1680" y="2445"/>
                </a:lnTo>
                <a:lnTo>
                  <a:pt x="1680" y="4603"/>
                </a:lnTo>
                <a:cubicBezTo>
                  <a:pt x="1680" y="4696"/>
                  <a:pt x="1604" y="4772"/>
                  <a:pt x="1510" y="4772"/>
                </a:cubicBezTo>
                <a:lnTo>
                  <a:pt x="210" y="4772"/>
                </a:lnTo>
                <a:cubicBezTo>
                  <a:pt x="117" y="4772"/>
                  <a:pt x="40" y="4696"/>
                  <a:pt x="40" y="4603"/>
                </a:cubicBezTo>
                <a:cubicBezTo>
                  <a:pt x="37" y="3933"/>
                  <a:pt x="32" y="3263"/>
                  <a:pt x="28" y="2593"/>
                </a:cubicBezTo>
                <a:cubicBezTo>
                  <a:pt x="66" y="2129"/>
                  <a:pt x="0" y="1998"/>
                  <a:pt x="260" y="1816"/>
                </a:cubicBezTo>
                <a:cubicBezTo>
                  <a:pt x="520" y="1634"/>
                  <a:pt x="700" y="1700"/>
                  <a:pt x="910" y="1637"/>
                </a:cubicBezTo>
                <a:cubicBezTo>
                  <a:pt x="1262" y="1540"/>
                  <a:pt x="1470" y="1175"/>
                  <a:pt x="1372" y="822"/>
                </a:cubicBezTo>
                <a:cubicBezTo>
                  <a:pt x="1276" y="469"/>
                  <a:pt x="910" y="262"/>
                  <a:pt x="558" y="359"/>
                </a:cubicBezTo>
                <a:lnTo>
                  <a:pt x="555" y="360"/>
                </a:lnTo>
                <a:lnTo>
                  <a:pt x="184" y="360"/>
                </a:lnTo>
                <a:cubicBezTo>
                  <a:pt x="330" y="142"/>
                  <a:pt x="578" y="0"/>
                  <a:pt x="860" y="0"/>
                </a:cubicBezTo>
              </a:path>
            </a:pathLst>
          </a:custGeom>
          <a:solidFill>
            <a:srgbClr val="61BBA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10" name="textbox 1310"/>
          <p:cNvSpPr/>
          <p:nvPr/>
        </p:nvSpPr>
        <p:spPr>
          <a:xfrm>
            <a:off x="6993473" y="1589474"/>
            <a:ext cx="583565" cy="19977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1000"/>
              </a:lnSpc>
            </a:pPr>
            <a:r>
              <a:rPr sz="8000" b="1" kern="0" spc="-350" dirty="0">
                <a:solidFill>
                  <a:srgbClr val="1D1D1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endParaRPr sz="8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  <a:spcBef>
                <a:spcPts val="95"/>
              </a:spcBef>
            </a:pPr>
            <a:r>
              <a:rPr sz="8000" b="1" kern="0" spc="-20" dirty="0">
                <a:solidFill>
                  <a:srgbClr val="1D1D1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8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134" name="group 134"/>
          <p:cNvGrpSpPr/>
          <p:nvPr/>
        </p:nvGrpSpPr>
        <p:grpSpPr>
          <a:xfrm rot="21600000">
            <a:off x="6864350" y="2368550"/>
            <a:ext cx="1066800" cy="3030537"/>
            <a:chOff x="0" y="0"/>
            <a:chExt cx="1066800" cy="3030537"/>
          </a:xfrm>
        </p:grpSpPr>
        <p:sp>
          <p:nvSpPr>
            <p:cNvPr id="1312" name="path 1312"/>
            <p:cNvSpPr/>
            <p:nvPr/>
          </p:nvSpPr>
          <p:spPr>
            <a:xfrm>
              <a:off x="0" y="0"/>
              <a:ext cx="1066800" cy="3030537"/>
            </a:xfrm>
            <a:custGeom>
              <a:avLst/>
              <a:gdLst/>
              <a:ahLst/>
              <a:cxnLst/>
              <a:rect l="0" t="0" r="0" b="0"/>
              <a:pathLst>
                <a:path w="1680" h="4772">
                  <a:moveTo>
                    <a:pt x="860" y="0"/>
                  </a:moveTo>
                  <a:cubicBezTo>
                    <a:pt x="1312" y="0"/>
                    <a:pt x="1680" y="366"/>
                    <a:pt x="1680" y="819"/>
                  </a:cubicBezTo>
                  <a:lnTo>
                    <a:pt x="1680" y="1677"/>
                  </a:lnTo>
                  <a:lnTo>
                    <a:pt x="1680" y="2445"/>
                  </a:lnTo>
                  <a:lnTo>
                    <a:pt x="1680" y="4603"/>
                  </a:lnTo>
                  <a:cubicBezTo>
                    <a:pt x="1680" y="4696"/>
                    <a:pt x="1604" y="4772"/>
                    <a:pt x="1510" y="4772"/>
                  </a:cubicBezTo>
                  <a:lnTo>
                    <a:pt x="210" y="4772"/>
                  </a:lnTo>
                  <a:cubicBezTo>
                    <a:pt x="116" y="4772"/>
                    <a:pt x="40" y="4696"/>
                    <a:pt x="40" y="4603"/>
                  </a:cubicBezTo>
                  <a:cubicBezTo>
                    <a:pt x="36" y="3933"/>
                    <a:pt x="32" y="3263"/>
                    <a:pt x="29" y="2593"/>
                  </a:cubicBezTo>
                  <a:cubicBezTo>
                    <a:pt x="65" y="2129"/>
                    <a:pt x="0" y="1998"/>
                    <a:pt x="260" y="1816"/>
                  </a:cubicBezTo>
                  <a:cubicBezTo>
                    <a:pt x="520" y="1634"/>
                    <a:pt x="700" y="1700"/>
                    <a:pt x="910" y="1637"/>
                  </a:cubicBezTo>
                  <a:cubicBezTo>
                    <a:pt x="1262" y="1540"/>
                    <a:pt x="1470" y="1175"/>
                    <a:pt x="1372" y="822"/>
                  </a:cubicBezTo>
                  <a:cubicBezTo>
                    <a:pt x="1275" y="469"/>
                    <a:pt x="910" y="262"/>
                    <a:pt x="558" y="359"/>
                  </a:cubicBezTo>
                  <a:lnTo>
                    <a:pt x="555" y="360"/>
                  </a:lnTo>
                  <a:lnTo>
                    <a:pt x="184" y="360"/>
                  </a:lnTo>
                  <a:cubicBezTo>
                    <a:pt x="330" y="142"/>
                    <a:pt x="578" y="0"/>
                    <a:pt x="860" y="0"/>
                  </a:cubicBezTo>
                </a:path>
              </a:pathLst>
            </a:custGeom>
            <a:solidFill>
              <a:srgbClr val="333F5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14" name="textbox 1314"/>
            <p:cNvSpPr/>
            <p:nvPr/>
          </p:nvSpPr>
          <p:spPr>
            <a:xfrm>
              <a:off x="-12700" y="-12700"/>
              <a:ext cx="1092200" cy="305625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53035" algn="l" rtl="0" eaLnBrk="0">
                <a:lnSpc>
                  <a:spcPct val="82000"/>
                </a:lnSpc>
                <a:spcBef>
                  <a:spcPts val="5"/>
                </a:spcBef>
              </a:pPr>
              <a:r>
                <a:rPr sz="1500" b="1" kern="0" spc="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由多根K</a:t>
              </a:r>
              <a:endParaRPr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0" algn="l" rtl="0" eaLnBrk="0">
                <a:lnSpc>
                  <a:spcPts val="2090"/>
                </a:lnSpc>
              </a:pPr>
              <a:r>
                <a:rPr sz="1500" b="1" kern="0" spc="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线组成</a:t>
              </a:r>
              <a:endParaRPr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36" name="group 136"/>
          <p:cNvGrpSpPr/>
          <p:nvPr/>
        </p:nvGrpSpPr>
        <p:grpSpPr>
          <a:xfrm rot="21600000">
            <a:off x="1175003" y="1225296"/>
            <a:ext cx="1982724" cy="917447"/>
            <a:chOff x="0" y="0"/>
            <a:chExt cx="1982724" cy="917447"/>
          </a:xfrm>
        </p:grpSpPr>
        <p:pic>
          <p:nvPicPr>
            <p:cNvPr id="1316" name="picture 13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982724" cy="917447"/>
            </a:xfrm>
            <a:prstGeom prst="rect">
              <a:avLst/>
            </a:prstGeom>
          </p:spPr>
        </p:pic>
        <p:sp>
          <p:nvSpPr>
            <p:cNvPr id="1318" name="textbox 1318"/>
            <p:cNvSpPr/>
            <p:nvPr/>
          </p:nvSpPr>
          <p:spPr>
            <a:xfrm>
              <a:off x="-12700" y="-12700"/>
              <a:ext cx="2008504" cy="9734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45110" algn="l" rtl="0" eaLnBrk="0">
                <a:lnSpc>
                  <a:spcPct val="91000"/>
                </a:lnSpc>
                <a:spcBef>
                  <a:spcPts val="5"/>
                </a:spcBef>
              </a:pPr>
              <a:r>
                <a:rPr sz="2300" b="1" kern="0" spc="5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低位塔底</a:t>
              </a:r>
              <a:endParaRPr sz="2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320" name="picture 13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sp>
        <p:nvSpPr>
          <p:cNvPr id="1322" name="textbox 1322"/>
          <p:cNvSpPr/>
          <p:nvPr/>
        </p:nvSpPr>
        <p:spPr>
          <a:xfrm>
            <a:off x="5080088" y="1579886"/>
            <a:ext cx="817880" cy="2635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9055" algn="l" rtl="0" eaLnBrk="0">
              <a:lnSpc>
                <a:spcPct val="81000"/>
              </a:lnSpc>
            </a:pPr>
            <a:r>
              <a:rPr sz="8000" b="1" kern="0" spc="-20" dirty="0">
                <a:solidFill>
                  <a:srgbClr val="61BBA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endParaRPr sz="8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985" algn="l" rtl="0" eaLnBrk="0">
              <a:lnSpc>
                <a:spcPct val="80000"/>
              </a:lnSpc>
              <a:spcBef>
                <a:spcPts val="95"/>
              </a:spcBef>
            </a:pPr>
            <a:r>
              <a:rPr sz="8000" b="1" kern="0" spc="-20" dirty="0">
                <a:solidFill>
                  <a:srgbClr val="61BBA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8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9685" algn="l" rtl="0" eaLnBrk="0">
              <a:lnSpc>
                <a:spcPct val="108000"/>
              </a:lnSpc>
            </a:pPr>
            <a:r>
              <a:rPr sz="15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出现在跌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势中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26" name="textbox 1326"/>
          <p:cNvSpPr/>
          <p:nvPr/>
        </p:nvSpPr>
        <p:spPr>
          <a:xfrm>
            <a:off x="9156343" y="1569218"/>
            <a:ext cx="556259" cy="1995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1000"/>
              </a:lnSpc>
            </a:pPr>
            <a:r>
              <a:rPr sz="8000" b="1" kern="0" spc="-350" dirty="0">
                <a:solidFill>
                  <a:srgbClr val="37B3D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endParaRPr sz="8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0000"/>
              </a:lnSpc>
              <a:spcBef>
                <a:spcPts val="75"/>
              </a:spcBef>
            </a:pPr>
            <a:r>
              <a:rPr sz="8000" b="1" kern="0" spc="-320" dirty="0">
                <a:solidFill>
                  <a:srgbClr val="37B3D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8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328" name="picture 13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1330" name="picture 13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  <p:pic>
        <p:nvPicPr>
          <p:cNvPr id="1332" name="picture 13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252472" y="5556503"/>
            <a:ext cx="661416" cy="812292"/>
          </a:xfrm>
          <a:prstGeom prst="rect">
            <a:avLst/>
          </a:prstGeom>
        </p:spPr>
      </p:pic>
      <p:sp>
        <p:nvSpPr>
          <p:cNvPr id="1334" name="rect 1334"/>
          <p:cNvSpPr/>
          <p:nvPr/>
        </p:nvSpPr>
        <p:spPr>
          <a:xfrm>
            <a:off x="960119" y="3162300"/>
            <a:ext cx="419100" cy="1240535"/>
          </a:xfrm>
          <a:prstGeom prst="rect">
            <a:avLst/>
          </a:prstGeom>
          <a:solidFill>
            <a:srgbClr val="00B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336" name="table 1336"/>
          <p:cNvGraphicFramePr>
            <a:graphicFrameLocks noGrp="1"/>
          </p:cNvGraphicFramePr>
          <p:nvPr/>
        </p:nvGraphicFramePr>
        <p:xfrm>
          <a:off x="3884294" y="3217545"/>
          <a:ext cx="400050" cy="1121410"/>
        </p:xfrm>
        <a:graphic>
          <a:graphicData uri="http://schemas.openxmlformats.org/drawingml/2006/table">
            <a:tbl>
              <a:tblPr>
                <a:solidFill>
                  <a:srgbClr val="FF0000"/>
                </a:solidFill>
              </a:tblPr>
              <a:tblGrid>
                <a:gridCol w="400050"/>
              </a:tblGrid>
              <a:tr h="11118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38" name="table 1338"/>
          <p:cNvGraphicFramePr>
            <a:graphicFrameLocks noGrp="1"/>
          </p:cNvGraphicFramePr>
          <p:nvPr/>
        </p:nvGraphicFramePr>
        <p:xfrm>
          <a:off x="2718435" y="4228464"/>
          <a:ext cx="400050" cy="403860"/>
        </p:xfrm>
        <a:graphic>
          <a:graphicData uri="http://schemas.openxmlformats.org/drawingml/2006/table">
            <a:tbl>
              <a:tblPr>
                <a:solidFill>
                  <a:srgbClr val="FF0000"/>
                </a:solidFill>
              </a:tblPr>
              <a:tblGrid>
                <a:gridCol w="400050"/>
              </a:tblGrid>
              <a:tr h="3943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40" name="table 1340"/>
          <p:cNvGraphicFramePr>
            <a:graphicFrameLocks noGrp="1"/>
          </p:cNvGraphicFramePr>
          <p:nvPr/>
        </p:nvGraphicFramePr>
        <p:xfrm>
          <a:off x="1553210" y="4228464"/>
          <a:ext cx="398779" cy="349885"/>
        </p:xfrm>
        <a:graphic>
          <a:graphicData uri="http://schemas.openxmlformats.org/drawingml/2006/table">
            <a:tbl>
              <a:tblPr>
                <a:solidFill>
                  <a:srgbClr val="FF0000"/>
                </a:solidFill>
              </a:tblPr>
              <a:tblGrid>
                <a:gridCol w="398779"/>
              </a:tblGrid>
              <a:tr h="3403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1342" name="rect 1342"/>
          <p:cNvSpPr/>
          <p:nvPr/>
        </p:nvSpPr>
        <p:spPr>
          <a:xfrm>
            <a:off x="2127504" y="4026408"/>
            <a:ext cx="419100" cy="304800"/>
          </a:xfrm>
          <a:prstGeom prst="rect">
            <a:avLst/>
          </a:prstGeom>
          <a:solidFill>
            <a:srgbClr val="00B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44" name="rect 1344"/>
          <p:cNvSpPr/>
          <p:nvPr/>
        </p:nvSpPr>
        <p:spPr>
          <a:xfrm>
            <a:off x="3291840" y="4024883"/>
            <a:ext cx="419100" cy="291084"/>
          </a:xfrm>
          <a:prstGeom prst="rect">
            <a:avLst/>
          </a:prstGeom>
          <a:solidFill>
            <a:srgbClr val="00B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6" name="picture 13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868167" y="5702807"/>
            <a:ext cx="7367016" cy="658367"/>
          </a:xfrm>
          <a:prstGeom prst="rect">
            <a:avLst/>
          </a:prstGeom>
        </p:spPr>
      </p:pic>
      <p:sp>
        <p:nvSpPr>
          <p:cNvPr id="1348" name="textbox 1348"/>
          <p:cNvSpPr/>
          <p:nvPr/>
        </p:nvSpPr>
        <p:spPr>
          <a:xfrm rot="19620000">
            <a:off x="1805468" y="3126375"/>
            <a:ext cx="8372475" cy="93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 ，</a:t>
            </a:r>
            <a:r>
              <a:rPr sz="5800" kern="0" spc="-14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50" name="textbox 1350"/>
          <p:cNvSpPr/>
          <p:nvPr/>
        </p:nvSpPr>
        <p:spPr>
          <a:xfrm>
            <a:off x="4741161" y="1599692"/>
            <a:ext cx="4496434" cy="10979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  <a:spcBef>
                <a:spcPts val="5"/>
              </a:spcBef>
            </a:pPr>
            <a:r>
              <a:rPr sz="7900" b="1" kern="0" spc="-300" dirty="0">
                <a:solidFill>
                  <a:srgbClr val="00B0F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sz="7900" b="1" kern="0" spc="470" dirty="0">
                <a:solidFill>
                  <a:srgbClr val="00B0F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7900" b="1" kern="0" spc="-300" dirty="0">
                <a:solidFill>
                  <a:srgbClr val="8497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sz="7900" b="1" kern="0" spc="0" dirty="0">
                <a:solidFill>
                  <a:srgbClr val="8497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</a:t>
            </a:r>
            <a:endParaRPr sz="7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352" name="picture 13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748540" y="1612392"/>
            <a:ext cx="470916" cy="743711"/>
          </a:xfrm>
          <a:prstGeom prst="rect">
            <a:avLst/>
          </a:prstGeom>
        </p:spPr>
      </p:pic>
      <p:pic>
        <p:nvPicPr>
          <p:cNvPr id="1354" name="picture 13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497323" y="2417762"/>
            <a:ext cx="4823459" cy="3041205"/>
          </a:xfrm>
          <a:prstGeom prst="rect">
            <a:avLst/>
          </a:prstGeom>
        </p:spPr>
      </p:pic>
      <p:grpSp>
        <p:nvGrpSpPr>
          <p:cNvPr id="138" name="group 138"/>
          <p:cNvGrpSpPr/>
          <p:nvPr/>
        </p:nvGrpSpPr>
        <p:grpSpPr>
          <a:xfrm rot="21600000">
            <a:off x="8238744" y="2427731"/>
            <a:ext cx="1853183" cy="3031236"/>
            <a:chOff x="0" y="0"/>
            <a:chExt cx="1853183" cy="3031236"/>
          </a:xfrm>
        </p:grpSpPr>
        <p:pic>
          <p:nvPicPr>
            <p:cNvPr id="1356" name="picture 135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853183" cy="3031236"/>
            </a:xfrm>
            <a:prstGeom prst="rect">
              <a:avLst/>
            </a:prstGeom>
          </p:spPr>
        </p:pic>
        <p:sp>
          <p:nvSpPr>
            <p:cNvPr id="1358" name="textbox 1358"/>
            <p:cNvSpPr/>
            <p:nvPr/>
          </p:nvSpPr>
          <p:spPr>
            <a:xfrm>
              <a:off x="115951" y="91294"/>
              <a:ext cx="1636395" cy="29190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2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34340" algn="l" rtl="0" eaLnBrk="0">
                <a:lnSpc>
                  <a:spcPct val="81000"/>
                </a:lnSpc>
              </a:pPr>
              <a:r>
                <a:rPr sz="6800" kern="0" spc="-20" dirty="0">
                  <a:solidFill>
                    <a:srgbClr val="152E1B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sz="6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6000"/>
                </a:lnSpc>
              </a:pPr>
              <a:endParaRPr sz="3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indent="15875" algn="l" rtl="0" eaLnBrk="0">
                <a:lnSpc>
                  <a:spcPct val="121000"/>
                </a:lnSpc>
                <a:spcBef>
                  <a:spcPts val="0"/>
                </a:spcBef>
              </a:pPr>
              <a:r>
                <a:rPr sz="1500" b="1" kern="0" spc="5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阳线的开盘价低于</a:t>
              </a:r>
              <a:r>
                <a:rPr sz="1500" b="1" kern="0" spc="6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b="1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阴线的收盘价 ，</a:t>
              </a:r>
              <a:r>
                <a:rPr sz="1500" b="1" kern="0" spc="-15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b="1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阳</a:t>
              </a:r>
              <a:r>
                <a:rPr sz="1500" b="1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b="1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线的收盘价高于阴</a:t>
              </a:r>
              <a:r>
                <a:rPr sz="1500" b="1" kern="0" spc="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b="1" kern="0" spc="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线的开盘价 ，把整</a:t>
              </a:r>
              <a:r>
                <a:rPr sz="1500" b="1" kern="0" spc="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b="1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个阴线包裹在阳线</a:t>
              </a:r>
              <a:r>
                <a:rPr sz="1500" b="1" kern="0" spc="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b="1" kern="0" spc="6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实体内部</a:t>
              </a:r>
              <a:endParaRPr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360" name="textbox 1360"/>
          <p:cNvSpPr/>
          <p:nvPr/>
        </p:nvSpPr>
        <p:spPr>
          <a:xfrm>
            <a:off x="6067551" y="2622403"/>
            <a:ext cx="1769745" cy="2231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39115" algn="l" rtl="0" eaLnBrk="0">
              <a:lnSpc>
                <a:spcPct val="81000"/>
              </a:lnSpc>
            </a:pPr>
            <a:r>
              <a:rPr sz="8000" b="1" kern="0" spc="-20" dirty="0">
                <a:solidFill>
                  <a:srgbClr val="8497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8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8415" algn="l" rtl="0" eaLnBrk="0">
              <a:lnSpc>
                <a:spcPct val="118000"/>
              </a:lnSpc>
              <a:spcBef>
                <a:spcPts val="5"/>
              </a:spcBef>
            </a:pP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由2根K线组成 ，第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一根K线是阴线 ，第 </a:t>
            </a: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二根K线是大阳线或</a:t>
            </a:r>
            <a:r>
              <a:rPr sz="1500" b="1" kern="0" spc="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中阳线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62" name="textbox 1362"/>
          <p:cNvSpPr/>
          <p:nvPr/>
        </p:nvSpPr>
        <p:spPr>
          <a:xfrm>
            <a:off x="2957646" y="5797324"/>
            <a:ext cx="7023100" cy="523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indent="-1270" algn="l" rtl="0" eaLnBrk="0">
              <a:lnSpc>
                <a:spcPct val="96000"/>
              </a:lnSpc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股价已经见底或离底部不远 ，股价随时会反转</a:t>
            </a:r>
            <a:r>
              <a:rPr sz="1700" kern="0" spc="-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 由跌转涨 ，后市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看涨。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投资者可果断进入。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40" name="group 140"/>
          <p:cNvGrpSpPr/>
          <p:nvPr/>
        </p:nvGrpSpPr>
        <p:grpSpPr>
          <a:xfrm rot="21600000">
            <a:off x="1175003" y="1225296"/>
            <a:ext cx="1982724" cy="917447"/>
            <a:chOff x="0" y="0"/>
            <a:chExt cx="1982724" cy="917447"/>
          </a:xfrm>
        </p:grpSpPr>
        <p:pic>
          <p:nvPicPr>
            <p:cNvPr id="1364" name="picture 136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1982724" cy="917447"/>
            </a:xfrm>
            <a:prstGeom prst="rect">
              <a:avLst/>
            </a:prstGeom>
          </p:spPr>
        </p:pic>
        <p:sp>
          <p:nvSpPr>
            <p:cNvPr id="1366" name="textbox 1366"/>
            <p:cNvSpPr/>
            <p:nvPr/>
          </p:nvSpPr>
          <p:spPr>
            <a:xfrm>
              <a:off x="-12700" y="-12700"/>
              <a:ext cx="2008504" cy="97408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90830" algn="l" rtl="0" eaLnBrk="0">
                <a:lnSpc>
                  <a:spcPct val="91000"/>
                </a:lnSpc>
                <a:spcBef>
                  <a:spcPts val="0"/>
                </a:spcBef>
              </a:pPr>
              <a:r>
                <a:rPr sz="2300" b="1" kern="0" spc="-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巨阳包阴</a:t>
              </a:r>
              <a:endParaRPr sz="2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368" name="picture 136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sp>
        <p:nvSpPr>
          <p:cNvPr id="1372" name="textbox 1372"/>
          <p:cNvSpPr/>
          <p:nvPr/>
        </p:nvSpPr>
        <p:spPr>
          <a:xfrm>
            <a:off x="4695634" y="2612244"/>
            <a:ext cx="817880" cy="165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985" algn="l" rtl="0" eaLnBrk="0">
              <a:lnSpc>
                <a:spcPct val="81000"/>
              </a:lnSpc>
            </a:pPr>
            <a:r>
              <a:rPr sz="8000" b="1" kern="0" spc="-20" dirty="0">
                <a:solidFill>
                  <a:srgbClr val="00B0F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8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9685" algn="l" rtl="0" eaLnBrk="0">
              <a:lnSpc>
                <a:spcPct val="108000"/>
              </a:lnSpc>
              <a:spcBef>
                <a:spcPts val="0"/>
              </a:spcBef>
            </a:pPr>
            <a:r>
              <a:rPr sz="15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出现在跌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势中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74" name="picture 137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1376" name="picture 137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  <p:sp>
        <p:nvSpPr>
          <p:cNvPr id="1378" name="rect 1378"/>
          <p:cNvSpPr/>
          <p:nvPr/>
        </p:nvSpPr>
        <p:spPr>
          <a:xfrm>
            <a:off x="2500883" y="2755391"/>
            <a:ext cx="419100" cy="1484376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380" name="picture 138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086355" y="5626607"/>
            <a:ext cx="662939" cy="812292"/>
          </a:xfrm>
          <a:prstGeom prst="rect">
            <a:avLst/>
          </a:prstGeom>
        </p:spPr>
      </p:pic>
      <p:graphicFrame>
        <p:nvGraphicFramePr>
          <p:cNvPr id="1382" name="table 1382"/>
          <p:cNvGraphicFramePr>
            <a:graphicFrameLocks noGrp="1"/>
          </p:cNvGraphicFramePr>
          <p:nvPr/>
        </p:nvGraphicFramePr>
        <p:xfrm>
          <a:off x="1811020" y="3388994"/>
          <a:ext cx="400050" cy="342264"/>
        </p:xfrm>
        <a:graphic>
          <a:graphicData uri="http://schemas.openxmlformats.org/drawingml/2006/table">
            <a:tbl>
              <a:tblPr>
                <a:solidFill>
                  <a:srgbClr val="00B050"/>
                </a:solidFill>
              </a:tblPr>
              <a:tblGrid>
                <a:gridCol w="400050"/>
              </a:tblGrid>
              <a:tr h="3327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textbox 1384"/>
          <p:cNvSpPr/>
          <p:nvPr/>
        </p:nvSpPr>
        <p:spPr>
          <a:xfrm rot="19620000">
            <a:off x="2163479" y="4354838"/>
            <a:ext cx="3795395" cy="925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  <a:spcBef>
                <a:spcPts val="0"/>
              </a:spcBef>
            </a:pPr>
            <a:r>
              <a:rPr sz="5800" kern="0" spc="1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86" name="textbox 1386"/>
          <p:cNvSpPr/>
          <p:nvPr/>
        </p:nvSpPr>
        <p:spPr>
          <a:xfrm rot="19620000">
            <a:off x="5996730" y="1886515"/>
            <a:ext cx="3796029" cy="932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1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88" name="picture 138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872228" y="2282825"/>
            <a:ext cx="4823459" cy="3038475"/>
          </a:xfrm>
          <a:prstGeom prst="rect">
            <a:avLst/>
          </a:prstGeom>
        </p:spPr>
      </p:pic>
      <p:graphicFrame>
        <p:nvGraphicFramePr>
          <p:cNvPr id="1390" name="table 1390"/>
          <p:cNvGraphicFramePr>
            <a:graphicFrameLocks noGrp="1"/>
          </p:cNvGraphicFramePr>
          <p:nvPr/>
        </p:nvGraphicFramePr>
        <p:xfrm>
          <a:off x="2990214" y="5517514"/>
          <a:ext cx="7375525" cy="658494"/>
        </p:xfrm>
        <a:graphic>
          <a:graphicData uri="http://schemas.openxmlformats.org/drawingml/2006/table">
            <a:tbl>
              <a:tblPr/>
              <a:tblGrid>
                <a:gridCol w="7375525"/>
              </a:tblGrid>
              <a:tr h="6521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6680" indent="-1270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股价已经见底或离底部不远 ，股价随时会反转</a:t>
                      </a:r>
                      <a:r>
                        <a:rPr sz="1700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 由跌转涨 ，后市看涨。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投资者可果断进入。</a:t>
                      </a:r>
                      <a:endParaRPr sz="1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92" name="textbox 1392"/>
          <p:cNvSpPr/>
          <p:nvPr/>
        </p:nvSpPr>
        <p:spPr>
          <a:xfrm>
            <a:off x="6438188" y="2485879"/>
            <a:ext cx="1774825" cy="2231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42925" algn="l" rtl="0" eaLnBrk="0">
              <a:lnSpc>
                <a:spcPct val="81000"/>
              </a:lnSpc>
            </a:pPr>
            <a:r>
              <a:rPr sz="8000" b="1" kern="0" spc="-20" dirty="0">
                <a:solidFill>
                  <a:srgbClr val="99C04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8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23495" algn="l" rtl="0" eaLnBrk="0">
              <a:lnSpc>
                <a:spcPct val="118000"/>
              </a:lnSpc>
              <a:spcBef>
                <a:spcPts val="5"/>
              </a:spcBef>
            </a:pP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由多根K线组成 ，第</a:t>
            </a:r>
            <a:r>
              <a:rPr sz="1500" b="1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一根为阴线 ，后面</a:t>
            </a: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紧接多根小阳线或</a:t>
            </a: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500" b="1" kern="0" spc="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小阴线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94" name="textbox 1394"/>
          <p:cNvSpPr/>
          <p:nvPr/>
        </p:nvSpPr>
        <p:spPr>
          <a:xfrm>
            <a:off x="5011697" y="1502537"/>
            <a:ext cx="4289425" cy="10058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1000"/>
              </a:lnSpc>
            </a:pPr>
            <a:r>
              <a:rPr sz="7900" b="1" kern="0" spc="-300" dirty="0">
                <a:solidFill>
                  <a:srgbClr val="74539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sz="7900" b="1" kern="0" spc="30" dirty="0">
                <a:solidFill>
                  <a:srgbClr val="74539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</a:t>
            </a:r>
            <a:r>
              <a:rPr sz="7900" b="1" kern="0" spc="-300" dirty="0">
                <a:solidFill>
                  <a:srgbClr val="99C04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sz="7900" b="1" kern="0" spc="330" dirty="0">
                <a:solidFill>
                  <a:srgbClr val="99C04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7900" b="1" kern="0" spc="-300" dirty="0">
                <a:solidFill>
                  <a:srgbClr val="37B3D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endParaRPr sz="7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96" name="textbox 1396"/>
          <p:cNvSpPr/>
          <p:nvPr/>
        </p:nvSpPr>
        <p:spPr>
          <a:xfrm>
            <a:off x="8730869" y="2475084"/>
            <a:ext cx="823594" cy="28263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0165" algn="l" rtl="0" eaLnBrk="0">
              <a:lnSpc>
                <a:spcPct val="81000"/>
              </a:lnSpc>
            </a:pPr>
            <a:r>
              <a:rPr sz="8000" b="1" kern="0" spc="-20" dirty="0">
                <a:solidFill>
                  <a:srgbClr val="37B3D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8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270" algn="l" rtl="0" eaLnBrk="0">
              <a:lnSpc>
                <a:spcPct val="121000"/>
              </a:lnSpc>
            </a:pPr>
            <a:r>
              <a:rPr sz="15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小阳、</a:t>
            </a:r>
            <a:r>
              <a:rPr sz="1500" b="1" kern="0" spc="-1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</a:t>
            </a: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阴线基本</a:t>
            </a:r>
            <a:r>
              <a:rPr sz="15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上处在第</a:t>
            </a:r>
            <a:r>
              <a:rPr sz="15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一根阴线</a:t>
            </a:r>
            <a:r>
              <a:rPr sz="15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收盘价的</a:t>
            </a:r>
            <a:r>
              <a:rPr sz="15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42" name="group 142"/>
          <p:cNvGrpSpPr/>
          <p:nvPr/>
        </p:nvGrpSpPr>
        <p:grpSpPr>
          <a:xfrm rot="21600000">
            <a:off x="1175003" y="1225296"/>
            <a:ext cx="1982724" cy="917447"/>
            <a:chOff x="0" y="0"/>
            <a:chExt cx="1982724" cy="917447"/>
          </a:xfrm>
        </p:grpSpPr>
        <p:pic>
          <p:nvPicPr>
            <p:cNvPr id="1398" name="picture 139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982724" cy="917447"/>
            </a:xfrm>
            <a:prstGeom prst="rect">
              <a:avLst/>
            </a:prstGeom>
          </p:spPr>
        </p:pic>
        <p:sp>
          <p:nvSpPr>
            <p:cNvPr id="1400" name="textbox 1400"/>
            <p:cNvSpPr/>
            <p:nvPr/>
          </p:nvSpPr>
          <p:spPr>
            <a:xfrm>
              <a:off x="-12700" y="-12700"/>
              <a:ext cx="2008504" cy="9734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4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76860" algn="l" rtl="0" eaLnBrk="0">
                <a:lnSpc>
                  <a:spcPct val="92000"/>
                </a:lnSpc>
                <a:spcBef>
                  <a:spcPts val="5"/>
                </a:spcBef>
              </a:pPr>
              <a:r>
                <a:rPr sz="2300" b="1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低位五档线</a:t>
              </a:r>
              <a:endParaRPr sz="2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402" name="picture 14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sp>
        <p:nvSpPr>
          <p:cNvPr id="1406" name="textbox 1406"/>
          <p:cNvSpPr/>
          <p:nvPr/>
        </p:nvSpPr>
        <p:spPr>
          <a:xfrm>
            <a:off x="5070284" y="2477306"/>
            <a:ext cx="817880" cy="165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985" algn="l" rtl="0" eaLnBrk="0">
              <a:lnSpc>
                <a:spcPct val="81000"/>
              </a:lnSpc>
            </a:pPr>
            <a:r>
              <a:rPr sz="8000" b="1" kern="0" spc="-20" dirty="0">
                <a:solidFill>
                  <a:srgbClr val="74539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8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9685" algn="l" rtl="0" eaLnBrk="0">
              <a:lnSpc>
                <a:spcPct val="108000"/>
              </a:lnSpc>
              <a:spcBef>
                <a:spcPts val="0"/>
              </a:spcBef>
            </a:pPr>
            <a:r>
              <a:rPr sz="15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出现在跌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势中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08" name="picture 14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1410" name="picture 14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  <p:graphicFrame>
        <p:nvGraphicFramePr>
          <p:cNvPr id="1412" name="table 1412"/>
          <p:cNvGraphicFramePr>
            <a:graphicFrameLocks noGrp="1"/>
          </p:cNvGraphicFramePr>
          <p:nvPr/>
        </p:nvGraphicFramePr>
        <p:xfrm>
          <a:off x="1191260" y="2794000"/>
          <a:ext cx="400050" cy="1456054"/>
        </p:xfrm>
        <a:graphic>
          <a:graphicData uri="http://schemas.openxmlformats.org/drawingml/2006/table">
            <a:tbl>
              <a:tblPr>
                <a:solidFill>
                  <a:srgbClr val="00B050"/>
                </a:solidFill>
              </a:tblPr>
              <a:tblGrid>
                <a:gridCol w="400050"/>
              </a:tblGrid>
              <a:tr h="14465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pic>
        <p:nvPicPr>
          <p:cNvPr id="1414" name="picture 14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211324" y="5445252"/>
            <a:ext cx="661416" cy="812292"/>
          </a:xfrm>
          <a:prstGeom prst="rect">
            <a:avLst/>
          </a:prstGeom>
        </p:spPr>
      </p:pic>
      <p:sp>
        <p:nvSpPr>
          <p:cNvPr id="1416" name="rect 1416"/>
          <p:cNvSpPr/>
          <p:nvPr/>
        </p:nvSpPr>
        <p:spPr>
          <a:xfrm>
            <a:off x="2249424" y="3883152"/>
            <a:ext cx="419100" cy="387096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18" name="rect 1418"/>
          <p:cNvSpPr/>
          <p:nvPr/>
        </p:nvSpPr>
        <p:spPr>
          <a:xfrm>
            <a:off x="2782824" y="4061459"/>
            <a:ext cx="419100" cy="323088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20" name="rect 1420"/>
          <p:cNvSpPr/>
          <p:nvPr/>
        </p:nvSpPr>
        <p:spPr>
          <a:xfrm>
            <a:off x="3851148" y="4027932"/>
            <a:ext cx="419100" cy="323088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22" name="rect 1422"/>
          <p:cNvSpPr/>
          <p:nvPr/>
        </p:nvSpPr>
        <p:spPr>
          <a:xfrm>
            <a:off x="1714500" y="4093463"/>
            <a:ext cx="419100" cy="313944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24" name="rect 1424"/>
          <p:cNvSpPr/>
          <p:nvPr/>
        </p:nvSpPr>
        <p:spPr>
          <a:xfrm>
            <a:off x="3316223" y="3971544"/>
            <a:ext cx="419100" cy="280415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textbox 1426"/>
          <p:cNvSpPr/>
          <p:nvPr/>
        </p:nvSpPr>
        <p:spPr>
          <a:xfrm rot="19620000">
            <a:off x="1805581" y="3125791"/>
            <a:ext cx="8361680" cy="932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9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       市需</a:t>
            </a:r>
            <a:r>
              <a:rPr sz="5800" kern="0" spc="8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44" name="group 144"/>
          <p:cNvGrpSpPr/>
          <p:nvPr/>
        </p:nvGrpSpPr>
        <p:grpSpPr>
          <a:xfrm rot="21600000">
            <a:off x="5346700" y="2227262"/>
            <a:ext cx="4679950" cy="2724150"/>
            <a:chOff x="0" y="0"/>
            <a:chExt cx="4679950" cy="2724150"/>
          </a:xfrm>
        </p:grpSpPr>
        <p:grpSp>
          <p:nvGrpSpPr>
            <p:cNvPr id="146" name="group 146"/>
            <p:cNvGrpSpPr/>
            <p:nvPr/>
          </p:nvGrpSpPr>
          <p:grpSpPr>
            <a:xfrm rot="21600000">
              <a:off x="0" y="0"/>
              <a:ext cx="4679950" cy="2724150"/>
              <a:chOff x="0" y="0"/>
              <a:chExt cx="4679950" cy="2724150"/>
            </a:xfrm>
          </p:grpSpPr>
          <p:sp>
            <p:nvSpPr>
              <p:cNvPr id="1428" name="path 1428"/>
              <p:cNvSpPr/>
              <p:nvPr/>
            </p:nvSpPr>
            <p:spPr>
              <a:xfrm>
                <a:off x="2331593" y="0"/>
                <a:ext cx="2348356" cy="2724150"/>
              </a:xfrm>
              <a:custGeom>
                <a:avLst/>
                <a:gdLst/>
                <a:ahLst/>
                <a:cxnLst/>
                <a:rect l="0" t="0" r="0" b="0"/>
                <a:pathLst>
                  <a:path w="3698" h="4290">
                    <a:moveTo>
                      <a:pt x="1848" y="4290"/>
                    </a:moveTo>
                    <a:lnTo>
                      <a:pt x="0" y="3366"/>
                    </a:lnTo>
                    <a:lnTo>
                      <a:pt x="0" y="923"/>
                    </a:lnTo>
                    <a:lnTo>
                      <a:pt x="1848" y="0"/>
                    </a:lnTo>
                    <a:lnTo>
                      <a:pt x="3698" y="923"/>
                    </a:lnTo>
                    <a:lnTo>
                      <a:pt x="3698" y="3366"/>
                    </a:lnTo>
                    <a:lnTo>
                      <a:pt x="1848" y="4290"/>
                    </a:lnTo>
                  </a:path>
                </a:pathLst>
              </a:custGeom>
              <a:solidFill>
                <a:srgbClr val="939393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0" name="path 1430"/>
              <p:cNvSpPr/>
              <p:nvPr/>
            </p:nvSpPr>
            <p:spPr>
              <a:xfrm>
                <a:off x="0" y="0"/>
                <a:ext cx="2348357" cy="2724150"/>
              </a:xfrm>
              <a:custGeom>
                <a:avLst/>
                <a:gdLst/>
                <a:ahLst/>
                <a:cxnLst/>
                <a:rect l="0" t="0" r="0" b="0"/>
                <a:pathLst>
                  <a:path w="3698" h="4290">
                    <a:moveTo>
                      <a:pt x="1850" y="4290"/>
                    </a:moveTo>
                    <a:lnTo>
                      <a:pt x="0" y="3366"/>
                    </a:lnTo>
                    <a:lnTo>
                      <a:pt x="0" y="923"/>
                    </a:lnTo>
                    <a:lnTo>
                      <a:pt x="1850" y="0"/>
                    </a:lnTo>
                    <a:lnTo>
                      <a:pt x="3698" y="923"/>
                    </a:lnTo>
                    <a:lnTo>
                      <a:pt x="3698" y="3366"/>
                    </a:lnTo>
                    <a:lnTo>
                      <a:pt x="1850" y="4290"/>
                    </a:lnTo>
                  </a:path>
                </a:pathLst>
              </a:custGeom>
              <a:solidFill>
                <a:srgbClr val="C9C9C9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2" name="path 1432"/>
              <p:cNvSpPr/>
              <p:nvPr/>
            </p:nvSpPr>
            <p:spPr>
              <a:xfrm>
                <a:off x="2330551" y="279"/>
                <a:ext cx="2348319" cy="587895"/>
              </a:xfrm>
              <a:custGeom>
                <a:avLst/>
                <a:gdLst/>
                <a:ahLst/>
                <a:cxnLst/>
                <a:rect l="0" t="0" r="0" b="0"/>
                <a:pathLst>
                  <a:path w="3698" h="925">
                    <a:moveTo>
                      <a:pt x="1849" y="0"/>
                    </a:moveTo>
                    <a:lnTo>
                      <a:pt x="3698" y="923"/>
                    </a:lnTo>
                    <a:lnTo>
                      <a:pt x="3698" y="925"/>
                    </a:lnTo>
                    <a:lnTo>
                      <a:pt x="0" y="925"/>
                    </a:lnTo>
                    <a:lnTo>
                      <a:pt x="0" y="923"/>
                    </a:lnTo>
                    <a:lnTo>
                      <a:pt x="1849" y="0"/>
                    </a:lnTo>
                  </a:path>
                </a:pathLst>
              </a:custGeom>
              <a:solidFill>
                <a:srgbClr val="0D0D0D">
                  <a:alpha val="2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34" name="path 1434"/>
            <p:cNvSpPr/>
            <p:nvPr/>
          </p:nvSpPr>
          <p:spPr>
            <a:xfrm>
              <a:off x="25" y="2136013"/>
              <a:ext cx="2348318" cy="587895"/>
            </a:xfrm>
            <a:custGeom>
              <a:avLst/>
              <a:gdLst/>
              <a:ahLst/>
              <a:cxnLst/>
              <a:rect l="0" t="0" r="0" b="0"/>
              <a:pathLst>
                <a:path w="3698" h="925">
                  <a:moveTo>
                    <a:pt x="1849" y="925"/>
                  </a:moveTo>
                  <a:lnTo>
                    <a:pt x="3698" y="1"/>
                  </a:lnTo>
                  <a:lnTo>
                    <a:pt x="3698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1849" y="925"/>
                  </a:lnTo>
                </a:path>
              </a:pathLst>
            </a:custGeom>
            <a:solidFill>
              <a:srgbClr val="0D0D0D">
                <a:alpha val="2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36" name="textbox 1436"/>
            <p:cNvSpPr/>
            <p:nvPr/>
          </p:nvSpPr>
          <p:spPr>
            <a:xfrm>
              <a:off x="962228" y="160311"/>
              <a:ext cx="3556634" cy="26079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291080" algn="l" rtl="0" eaLnBrk="0">
                <a:lnSpc>
                  <a:spcPct val="90000"/>
                </a:lnSpc>
              </a:pPr>
              <a:r>
                <a:rPr sz="3800" kern="0" spc="-50" dirty="0">
                  <a:solidFill>
                    <a:srgbClr val="FFFFFF">
                      <a:alpha val="100000"/>
                    </a:srgbClr>
                  </a:solidFill>
                  <a:latin typeface="Impact" panose="020B0806030902050204"/>
                  <a:ea typeface="Impact" panose="020B0806030902050204"/>
                  <a:cs typeface="Impact" panose="020B0806030902050204"/>
                </a:rPr>
                <a:t>02</a:t>
              </a:r>
              <a:endParaRPr sz="3800" dirty="0">
                <a:latin typeface="Impact" panose="020B0806030902050204"/>
                <a:ea typeface="Impact" panose="020B0806030902050204"/>
                <a:cs typeface="Impact" panose="020B0806030902050204"/>
              </a:endParaRPr>
            </a:p>
            <a:p>
              <a:pPr algn="l" rtl="0" eaLnBrk="0">
                <a:lnSpc>
                  <a:spcPct val="17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701800" indent="24130" algn="l" rtl="0" eaLnBrk="0">
                <a:lnSpc>
                  <a:spcPct val="97000"/>
                </a:lnSpc>
                <a:spcBef>
                  <a:spcPts val="600"/>
                </a:spcBef>
              </a:pPr>
              <a:r>
                <a:rPr sz="2000" b="1" kern="0" spc="-1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由3根阳线组成，</a:t>
              </a:r>
              <a:r>
                <a:rPr sz="2000" b="1" kern="0" spc="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2000" b="1" kern="0" spc="-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三根阳线的收</a:t>
              </a:r>
              <a:r>
                <a:rPr sz="2000" b="1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</a:t>
              </a:r>
              <a:r>
                <a:rPr sz="2000" b="1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盘价节节升高</a:t>
              </a:r>
              <a:endParaRPr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6000"/>
                </a:lnSpc>
              </a:pPr>
              <a:endParaRPr sz="9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0000"/>
                </a:lnSpc>
                <a:spcBef>
                  <a:spcPts val="5"/>
                </a:spcBef>
              </a:pPr>
              <a:r>
                <a:rPr sz="3800" kern="0" spc="-50" dirty="0">
                  <a:solidFill>
                    <a:srgbClr val="FFFFFF">
                      <a:alpha val="100000"/>
                    </a:srgbClr>
                  </a:solidFill>
                  <a:latin typeface="Impact" panose="020B0806030902050204"/>
                  <a:ea typeface="Impact" panose="020B0806030902050204"/>
                  <a:cs typeface="Impact" panose="020B0806030902050204"/>
                </a:rPr>
                <a:t>01</a:t>
              </a:r>
              <a:endParaRPr sz="3800" dirty="0">
                <a:latin typeface="Impact" panose="020B0806030902050204"/>
                <a:ea typeface="Impact" panose="020B0806030902050204"/>
                <a:cs typeface="Impact" panose="020B0806030902050204"/>
              </a:endParaRPr>
            </a:p>
          </p:txBody>
        </p:sp>
      </p:grpSp>
      <p:graphicFrame>
        <p:nvGraphicFramePr>
          <p:cNvPr id="1438" name="table 1438"/>
          <p:cNvGraphicFramePr>
            <a:graphicFrameLocks noGrp="1"/>
          </p:cNvGraphicFramePr>
          <p:nvPr/>
        </p:nvGraphicFramePr>
        <p:xfrm>
          <a:off x="2987675" y="5678170"/>
          <a:ext cx="7380605" cy="381000"/>
        </p:xfrm>
        <a:graphic>
          <a:graphicData uri="http://schemas.openxmlformats.org/drawingml/2006/table">
            <a:tbl>
              <a:tblPr/>
              <a:tblGrid>
                <a:gridCol w="7380605"/>
              </a:tblGrid>
              <a:tr h="368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9855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大盘将维持上涨态势或开始上涨 ，后市看涨。</a:t>
                      </a:r>
                      <a:r>
                        <a:rPr sz="1700" kern="0" spc="-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投资者可适时进入。</a:t>
                      </a:r>
                      <a:endParaRPr sz="1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48" name="group 148"/>
          <p:cNvGrpSpPr/>
          <p:nvPr/>
        </p:nvGrpSpPr>
        <p:grpSpPr>
          <a:xfrm rot="21600000">
            <a:off x="1175003" y="1225296"/>
            <a:ext cx="1982724" cy="917447"/>
            <a:chOff x="0" y="0"/>
            <a:chExt cx="1982724" cy="917447"/>
          </a:xfrm>
        </p:grpSpPr>
        <p:pic>
          <p:nvPicPr>
            <p:cNvPr id="1440" name="picture 144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1982724" cy="917447"/>
            </a:xfrm>
            <a:prstGeom prst="rect">
              <a:avLst/>
            </a:prstGeom>
          </p:spPr>
        </p:pic>
        <p:sp>
          <p:nvSpPr>
            <p:cNvPr id="1442" name="textbox 1442"/>
            <p:cNvSpPr/>
            <p:nvPr/>
          </p:nvSpPr>
          <p:spPr>
            <a:xfrm>
              <a:off x="-12700" y="-12700"/>
              <a:ext cx="2008504" cy="9734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43840" algn="l" rtl="0" eaLnBrk="0">
                <a:lnSpc>
                  <a:spcPct val="91000"/>
                </a:lnSpc>
              </a:pPr>
              <a:r>
                <a:rPr sz="2300" b="1" kern="0" spc="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红三兵</a:t>
              </a:r>
              <a:endParaRPr sz="2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444" name="picture 14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grpSp>
        <p:nvGrpSpPr>
          <p:cNvPr id="150" name="group 150"/>
          <p:cNvGrpSpPr/>
          <p:nvPr/>
        </p:nvGrpSpPr>
        <p:grpSpPr>
          <a:xfrm rot="21600000">
            <a:off x="1610995" y="702945"/>
            <a:ext cx="8517889" cy="22859"/>
            <a:chOff x="0" y="0"/>
            <a:chExt cx="8517889" cy="22859"/>
          </a:xfrm>
        </p:grpSpPr>
        <p:sp>
          <p:nvSpPr>
            <p:cNvPr id="1446" name="path 1446"/>
            <p:cNvSpPr/>
            <p:nvPr/>
          </p:nvSpPr>
          <p:spPr>
            <a:xfrm>
              <a:off x="0" y="0"/>
              <a:ext cx="3500754" cy="22859"/>
            </a:xfrm>
            <a:custGeom>
              <a:avLst/>
              <a:gdLst/>
              <a:ahLst/>
              <a:cxnLst/>
              <a:rect l="0" t="0" r="0" b="0"/>
              <a:pathLst>
                <a:path w="5512" h="35">
                  <a:moveTo>
                    <a:pt x="0" y="17"/>
                  </a:moveTo>
                  <a:lnTo>
                    <a:pt x="5512" y="17"/>
                  </a:lnTo>
                </a:path>
              </a:pathLst>
            </a:custGeom>
            <a:noFill/>
            <a:ln w="22859" cap="flat">
              <a:solidFill>
                <a:srgbClr val="C00000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48" name="path 1448"/>
            <p:cNvSpPr/>
            <p:nvPr/>
          </p:nvSpPr>
          <p:spPr>
            <a:xfrm>
              <a:off x="3500754" y="0"/>
              <a:ext cx="5017134" cy="22859"/>
            </a:xfrm>
            <a:custGeom>
              <a:avLst/>
              <a:gdLst/>
              <a:ahLst/>
              <a:cxnLst/>
              <a:rect l="0" t="0" r="0" b="0"/>
              <a:pathLst>
                <a:path w="7900" h="35">
                  <a:moveTo>
                    <a:pt x="0" y="17"/>
                  </a:moveTo>
                  <a:lnTo>
                    <a:pt x="7900" y="17"/>
                  </a:lnTo>
                </a:path>
              </a:pathLst>
            </a:custGeom>
            <a:noFill/>
            <a:ln w="22859" cap="flat">
              <a:solidFill>
                <a:srgbClr val="000000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452" name="textbox 1452"/>
          <p:cNvSpPr/>
          <p:nvPr/>
        </p:nvSpPr>
        <p:spPr>
          <a:xfrm>
            <a:off x="1610758" y="233964"/>
            <a:ext cx="3504565" cy="510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500" b="1" kern="0" spc="5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上升形态K线组合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54" name="textbox 1454"/>
          <p:cNvSpPr/>
          <p:nvPr/>
        </p:nvSpPr>
        <p:spPr>
          <a:xfrm>
            <a:off x="5766202" y="3343115"/>
            <a:ext cx="1540510" cy="564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25400" algn="l" rtl="0" eaLnBrk="0">
              <a:lnSpc>
                <a:spcPct val="88000"/>
              </a:lnSpc>
              <a:spcBef>
                <a:spcPts val="0"/>
              </a:spcBef>
            </a:pP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出现在底部或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涨势中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56" name="picture 14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039111" y="5570219"/>
            <a:ext cx="812292" cy="562355"/>
          </a:xfrm>
          <a:prstGeom prst="rect">
            <a:avLst/>
          </a:prstGeom>
        </p:spPr>
      </p:pic>
      <p:sp>
        <p:nvSpPr>
          <p:cNvPr id="1458" name="rect 1458"/>
          <p:cNvSpPr/>
          <p:nvPr/>
        </p:nvSpPr>
        <p:spPr>
          <a:xfrm>
            <a:off x="1612391" y="3553967"/>
            <a:ext cx="419099" cy="685800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60" name="rect 1460"/>
          <p:cNvSpPr/>
          <p:nvPr/>
        </p:nvSpPr>
        <p:spPr>
          <a:xfrm>
            <a:off x="2909316" y="2546604"/>
            <a:ext cx="419100" cy="614171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62" name="rect 1462"/>
          <p:cNvSpPr/>
          <p:nvPr/>
        </p:nvSpPr>
        <p:spPr>
          <a:xfrm>
            <a:off x="2260091" y="3122676"/>
            <a:ext cx="419100" cy="469391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464" name="picture 14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sp>
        <p:nvSpPr>
          <p:cNvPr id="1466" name="path 1466"/>
          <p:cNvSpPr/>
          <p:nvPr/>
        </p:nvSpPr>
        <p:spPr>
          <a:xfrm>
            <a:off x="2844800" y="2354262"/>
            <a:ext cx="241300" cy="67614"/>
          </a:xfrm>
          <a:custGeom>
            <a:avLst/>
            <a:gdLst/>
            <a:ahLst/>
            <a:cxnLst/>
            <a:rect l="0" t="0" r="0" b="0"/>
            <a:pathLst>
              <a:path w="380" h="106">
                <a:moveTo>
                  <a:pt x="217" y="101"/>
                </a:moveTo>
                <a:cubicBezTo>
                  <a:pt x="380" y="5"/>
                  <a:pt x="380" y="5"/>
                  <a:pt x="380" y="5"/>
                </a:cubicBezTo>
                <a:cubicBezTo>
                  <a:pt x="380" y="0"/>
                  <a:pt x="374" y="0"/>
                  <a:pt x="368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1" y="0"/>
                  <a:pt x="5" y="0"/>
                  <a:pt x="0" y="5"/>
                </a:cubicBezTo>
                <a:cubicBezTo>
                  <a:pt x="167" y="101"/>
                  <a:pt x="167" y="101"/>
                  <a:pt x="167" y="101"/>
                </a:cubicBezTo>
                <a:cubicBezTo>
                  <a:pt x="178" y="107"/>
                  <a:pt x="200" y="107"/>
                  <a:pt x="217" y="101"/>
                </a:cubicBezTo>
              </a:path>
            </a:pathLst>
          </a:custGeom>
          <a:solidFill>
            <a:srgbClr val="F0EF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68" name="path 1468"/>
          <p:cNvSpPr/>
          <p:nvPr/>
        </p:nvSpPr>
        <p:spPr>
          <a:xfrm>
            <a:off x="6288087" y="5164137"/>
            <a:ext cx="76200" cy="80962"/>
          </a:xfrm>
          <a:custGeom>
            <a:avLst/>
            <a:gdLst/>
            <a:ahLst/>
            <a:cxnLst/>
            <a:rect l="0" t="0" r="0" b="0"/>
            <a:pathLst>
              <a:path w="120" h="127">
                <a:moveTo>
                  <a:pt x="120" y="104"/>
                </a:moveTo>
                <a:lnTo>
                  <a:pt x="91" y="127"/>
                </a:lnTo>
                <a:lnTo>
                  <a:pt x="0" y="22"/>
                </a:lnTo>
                <a:lnTo>
                  <a:pt x="23" y="0"/>
                </a:lnTo>
                <a:lnTo>
                  <a:pt x="120" y="104"/>
                </a:lnTo>
              </a:path>
            </a:pathLst>
          </a:custGeom>
          <a:solidFill>
            <a:srgbClr val="F0EF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textbox 1470"/>
          <p:cNvSpPr/>
          <p:nvPr/>
        </p:nvSpPr>
        <p:spPr>
          <a:xfrm rot="19620000">
            <a:off x="1802341" y="3126174"/>
            <a:ext cx="8376284" cy="923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  <a:spcBef>
                <a:spcPts val="0"/>
              </a:spcBef>
            </a:pPr>
            <a:r>
              <a:rPr sz="5800" kern="0" spc="-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 ，</a:t>
            </a:r>
            <a:r>
              <a:rPr sz="5800" kern="0" spc="-146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800" kern="0" spc="-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</a:t>
            </a:r>
            <a:r>
              <a:rPr sz="5800" kern="0" spc="3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5800" kern="0" spc="-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52" name="group 152"/>
          <p:cNvGrpSpPr/>
          <p:nvPr/>
        </p:nvGrpSpPr>
        <p:grpSpPr>
          <a:xfrm rot="21600000">
            <a:off x="5878512" y="1200150"/>
            <a:ext cx="4510087" cy="4659312"/>
            <a:chOff x="0" y="0"/>
            <a:chExt cx="4510087" cy="4659312"/>
          </a:xfrm>
        </p:grpSpPr>
        <p:grpSp>
          <p:nvGrpSpPr>
            <p:cNvPr id="154" name="group 154"/>
            <p:cNvGrpSpPr/>
            <p:nvPr/>
          </p:nvGrpSpPr>
          <p:grpSpPr>
            <a:xfrm rot="21600000">
              <a:off x="0" y="0"/>
              <a:ext cx="4510087" cy="4659312"/>
              <a:chOff x="0" y="0"/>
              <a:chExt cx="4510087" cy="4659312"/>
            </a:xfrm>
          </p:grpSpPr>
          <p:sp>
            <p:nvSpPr>
              <p:cNvPr id="1472" name="path 1472"/>
              <p:cNvSpPr/>
              <p:nvPr/>
            </p:nvSpPr>
            <p:spPr>
              <a:xfrm>
                <a:off x="2332837" y="2043874"/>
                <a:ext cx="2177250" cy="2615438"/>
              </a:xfrm>
              <a:custGeom>
                <a:avLst/>
                <a:gdLst/>
                <a:ahLst/>
                <a:cxnLst/>
                <a:rect l="0" t="0" r="0" b="0"/>
                <a:pathLst>
                  <a:path w="3428" h="4118">
                    <a:moveTo>
                      <a:pt x="1714" y="4118"/>
                    </a:moveTo>
                    <a:lnTo>
                      <a:pt x="0" y="3259"/>
                    </a:lnTo>
                    <a:lnTo>
                      <a:pt x="0" y="856"/>
                    </a:lnTo>
                    <a:lnTo>
                      <a:pt x="1714" y="0"/>
                    </a:lnTo>
                    <a:lnTo>
                      <a:pt x="3428" y="856"/>
                    </a:lnTo>
                    <a:lnTo>
                      <a:pt x="3428" y="3259"/>
                    </a:lnTo>
                    <a:lnTo>
                      <a:pt x="1714" y="4118"/>
                    </a:lnTo>
                  </a:path>
                </a:pathLst>
              </a:custGeom>
              <a:solidFill>
                <a:srgbClr val="44546A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4" name="path 1474"/>
              <p:cNvSpPr/>
              <p:nvPr/>
            </p:nvSpPr>
            <p:spPr>
              <a:xfrm>
                <a:off x="155575" y="2043874"/>
                <a:ext cx="2177262" cy="2615438"/>
              </a:xfrm>
              <a:custGeom>
                <a:avLst/>
                <a:gdLst/>
                <a:ahLst/>
                <a:cxnLst/>
                <a:rect l="0" t="0" r="0" b="0"/>
                <a:pathLst>
                  <a:path w="3428" h="4118">
                    <a:moveTo>
                      <a:pt x="1712" y="4118"/>
                    </a:moveTo>
                    <a:lnTo>
                      <a:pt x="0" y="3259"/>
                    </a:lnTo>
                    <a:lnTo>
                      <a:pt x="0" y="856"/>
                    </a:lnTo>
                    <a:lnTo>
                      <a:pt x="1712" y="0"/>
                    </a:lnTo>
                    <a:lnTo>
                      <a:pt x="3428" y="856"/>
                    </a:lnTo>
                    <a:lnTo>
                      <a:pt x="3428" y="3259"/>
                    </a:lnTo>
                    <a:lnTo>
                      <a:pt x="1712" y="4118"/>
                    </a:lnTo>
                  </a:path>
                </a:pathLst>
              </a:custGeom>
              <a:solidFill>
                <a:srgbClr val="EC373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6" name="path 1476"/>
              <p:cNvSpPr/>
              <p:nvPr/>
            </p:nvSpPr>
            <p:spPr>
              <a:xfrm>
                <a:off x="1243445" y="0"/>
                <a:ext cx="2178772" cy="2613913"/>
              </a:xfrm>
              <a:custGeom>
                <a:avLst/>
                <a:gdLst/>
                <a:ahLst/>
                <a:cxnLst/>
                <a:rect l="0" t="0" r="0" b="0"/>
                <a:pathLst>
                  <a:path w="3431" h="4116">
                    <a:moveTo>
                      <a:pt x="1715" y="4116"/>
                    </a:moveTo>
                    <a:lnTo>
                      <a:pt x="0" y="3260"/>
                    </a:lnTo>
                    <a:lnTo>
                      <a:pt x="0" y="856"/>
                    </a:lnTo>
                    <a:lnTo>
                      <a:pt x="1715" y="0"/>
                    </a:lnTo>
                    <a:lnTo>
                      <a:pt x="3431" y="856"/>
                    </a:lnTo>
                    <a:lnTo>
                      <a:pt x="3431" y="3260"/>
                    </a:lnTo>
                    <a:lnTo>
                      <a:pt x="1715" y="4116"/>
                    </a:lnTo>
                  </a:path>
                </a:pathLst>
              </a:custGeom>
              <a:solidFill>
                <a:srgbClr val="F36F0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8" name="path 1478"/>
              <p:cNvSpPr/>
              <p:nvPr/>
            </p:nvSpPr>
            <p:spPr>
              <a:xfrm>
                <a:off x="0" y="2200275"/>
                <a:ext cx="249237" cy="160337"/>
              </a:xfrm>
              <a:custGeom>
                <a:avLst/>
                <a:gdLst/>
                <a:ahLst/>
                <a:cxnLst/>
                <a:rect l="0" t="0" r="0" b="0"/>
                <a:pathLst>
                  <a:path w="392" h="252">
                    <a:moveTo>
                      <a:pt x="220" y="96"/>
                    </a:moveTo>
                    <a:cubicBezTo>
                      <a:pt x="370" y="5"/>
                      <a:pt x="370" y="5"/>
                      <a:pt x="370" y="5"/>
                    </a:cubicBezTo>
                    <a:cubicBezTo>
                      <a:pt x="370" y="0"/>
                      <a:pt x="365" y="0"/>
                      <a:pt x="360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29" y="0"/>
                      <a:pt x="23" y="0"/>
                      <a:pt x="18" y="5"/>
                    </a:cubicBezTo>
                    <a:cubicBezTo>
                      <a:pt x="174" y="96"/>
                      <a:pt x="174" y="96"/>
                      <a:pt x="174" y="96"/>
                    </a:cubicBezTo>
                    <a:cubicBezTo>
                      <a:pt x="184" y="101"/>
                      <a:pt x="205" y="101"/>
                      <a:pt x="220" y="96"/>
                    </a:cubicBezTo>
                  </a:path>
                  <a:path w="392" h="252">
                    <a:moveTo>
                      <a:pt x="232" y="123"/>
                    </a:moveTo>
                    <a:cubicBezTo>
                      <a:pt x="221" y="128"/>
                      <a:pt x="211" y="133"/>
                      <a:pt x="195" y="133"/>
                    </a:cubicBezTo>
                    <a:cubicBezTo>
                      <a:pt x="185" y="133"/>
                      <a:pt x="175" y="128"/>
                      <a:pt x="164" y="123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230"/>
                      <a:pt x="0" y="230"/>
                      <a:pt x="0" y="230"/>
                    </a:cubicBezTo>
                    <a:cubicBezTo>
                      <a:pt x="0" y="241"/>
                      <a:pt x="14" y="252"/>
                      <a:pt x="35" y="252"/>
                    </a:cubicBezTo>
                    <a:cubicBezTo>
                      <a:pt x="361" y="252"/>
                      <a:pt x="361" y="252"/>
                      <a:pt x="361" y="252"/>
                    </a:cubicBezTo>
                    <a:cubicBezTo>
                      <a:pt x="377" y="252"/>
                      <a:pt x="392" y="241"/>
                      <a:pt x="392" y="230"/>
                    </a:cubicBezTo>
                    <a:cubicBezTo>
                      <a:pt x="392" y="32"/>
                      <a:pt x="392" y="32"/>
                      <a:pt x="392" y="32"/>
                    </a:cubicBezTo>
                    <a:cubicBezTo>
                      <a:pt x="392" y="32"/>
                      <a:pt x="392" y="27"/>
                      <a:pt x="392" y="27"/>
                    </a:cubicBezTo>
                    <a:lnTo>
                      <a:pt x="232" y="123"/>
                    </a:lnTo>
                  </a:path>
                </a:pathLst>
              </a:custGeom>
              <a:solidFill>
                <a:srgbClr val="F0EFEF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0" name="path 1480"/>
              <p:cNvSpPr/>
              <p:nvPr/>
            </p:nvSpPr>
            <p:spPr>
              <a:xfrm>
                <a:off x="153987" y="2044700"/>
                <a:ext cx="4356100" cy="564197"/>
              </a:xfrm>
              <a:custGeom>
                <a:avLst/>
                <a:gdLst/>
                <a:ahLst/>
                <a:cxnLst/>
                <a:rect l="0" t="0" r="0" b="0"/>
                <a:pathLst>
                  <a:path w="6860" h="888">
                    <a:moveTo>
                      <a:pt x="5145" y="0"/>
                    </a:moveTo>
                    <a:lnTo>
                      <a:pt x="6860" y="887"/>
                    </a:lnTo>
                    <a:lnTo>
                      <a:pt x="6860" y="888"/>
                    </a:lnTo>
                    <a:lnTo>
                      <a:pt x="3430" y="888"/>
                    </a:lnTo>
                    <a:lnTo>
                      <a:pt x="3430" y="887"/>
                    </a:lnTo>
                    <a:lnTo>
                      <a:pt x="5145" y="0"/>
                    </a:lnTo>
                  </a:path>
                  <a:path w="6860" h="888">
                    <a:moveTo>
                      <a:pt x="1715" y="0"/>
                    </a:moveTo>
                    <a:lnTo>
                      <a:pt x="3430" y="887"/>
                    </a:lnTo>
                    <a:lnTo>
                      <a:pt x="3430" y="888"/>
                    </a:lnTo>
                    <a:lnTo>
                      <a:pt x="0" y="888"/>
                    </a:lnTo>
                    <a:lnTo>
                      <a:pt x="0" y="887"/>
                    </a:lnTo>
                    <a:lnTo>
                      <a:pt x="1715" y="0"/>
                    </a:lnTo>
                  </a:path>
                </a:pathLst>
              </a:custGeom>
              <a:solidFill>
                <a:srgbClr val="0D0D0D">
                  <a:alpha val="2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82" name="textbox 1482"/>
            <p:cNvSpPr/>
            <p:nvPr/>
          </p:nvSpPr>
          <p:spPr>
            <a:xfrm>
              <a:off x="377252" y="396341"/>
              <a:ext cx="3056889" cy="413257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794510" algn="l" rtl="0" eaLnBrk="0">
                <a:lnSpc>
                  <a:spcPct val="90000"/>
                </a:lnSpc>
              </a:pPr>
              <a:r>
                <a:rPr sz="3800" kern="0" spc="-50" dirty="0">
                  <a:solidFill>
                    <a:srgbClr val="FFFFFF">
                      <a:alpha val="100000"/>
                    </a:srgbClr>
                  </a:solidFill>
                  <a:latin typeface="Impact" panose="020B0806030902050204"/>
                  <a:ea typeface="Impact" panose="020B0806030902050204"/>
                  <a:cs typeface="Impact" panose="020B0806030902050204"/>
                </a:rPr>
                <a:t>01</a:t>
              </a:r>
              <a:endParaRPr sz="3800" dirty="0">
                <a:latin typeface="Impact" panose="020B0806030902050204"/>
                <a:ea typeface="Impact" panose="020B0806030902050204"/>
                <a:cs typeface="Impact" panose="020B0806030902050204"/>
              </a:endParaRPr>
            </a:p>
            <a:p>
              <a:pPr marL="1117600" indent="21590" algn="l" rtl="0" eaLnBrk="0">
                <a:lnSpc>
                  <a:spcPct val="96000"/>
                </a:lnSpc>
                <a:spcBef>
                  <a:spcPts val="1500"/>
                </a:spcBef>
              </a:pPr>
              <a:r>
                <a:rPr sz="1700" b="1" kern="0" spc="5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出现在上涨初期</a:t>
              </a:r>
              <a:r>
                <a:rPr sz="1700" b="1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</a:t>
              </a:r>
              <a:r>
                <a:rPr sz="1700" b="1" kern="0" spc="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或中期</a:t>
              </a:r>
              <a:endParaRPr sz="1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8735" algn="l" rtl="0" eaLnBrk="0">
                <a:lnSpc>
                  <a:spcPct val="83000"/>
                </a:lnSpc>
                <a:spcBef>
                  <a:spcPts val="515"/>
                </a:spcBef>
              </a:pPr>
              <a:r>
                <a:rPr lang="zh-CN" sz="1700" b="1" kern="0" spc="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】】</a:t>
              </a:r>
              <a:endParaRPr lang="zh-CN" sz="17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38735" algn="l" rtl="0" eaLnBrk="0">
                <a:lnSpc>
                  <a:spcPct val="83000"/>
                </a:lnSpc>
                <a:spcBef>
                  <a:spcPts val="515"/>
                </a:spcBef>
              </a:pPr>
              <a:endParaRPr lang="zh-CN" sz="17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38735" algn="l" rtl="0" eaLnBrk="0">
                <a:lnSpc>
                  <a:spcPct val="83000"/>
                </a:lnSpc>
                <a:spcBef>
                  <a:spcPts val="515"/>
                </a:spcBef>
              </a:pPr>
              <a:endParaRPr lang="zh-CN" sz="17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38735" algn="l" rtl="0" eaLnBrk="0">
                <a:lnSpc>
                  <a:spcPct val="83000"/>
                </a:lnSpc>
                <a:spcBef>
                  <a:spcPts val="515"/>
                </a:spcBef>
              </a:pPr>
              <a:r>
                <a:rPr sz="1700" b="1" kern="0" spc="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由多根K线组成</a:t>
              </a:r>
              <a:r>
                <a:rPr sz="1700" b="1" kern="0" spc="-15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700" b="1" kern="0" spc="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</a:t>
              </a:r>
              <a:endParaRPr sz="1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3335" algn="l" rtl="0" eaLnBrk="0">
                <a:lnSpc>
                  <a:spcPts val="2100"/>
                </a:lnSpc>
              </a:pP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先是一根大阳线，</a:t>
              </a:r>
              <a:endParaRPr sz="1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3970" algn="l" rtl="0" eaLnBrk="0">
                <a:lnSpc>
                  <a:spcPts val="2100"/>
                </a:lnSpc>
              </a:pPr>
              <a:r>
                <a:rPr sz="1700" b="1" kern="0" spc="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紧接着多根小阳、</a:t>
              </a:r>
              <a:endParaRPr sz="1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ts val="2080"/>
                </a:lnSpc>
              </a:pPr>
              <a:r>
                <a:rPr sz="1700" b="1" kern="0" spc="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小阴线</a:t>
              </a:r>
              <a:endParaRPr sz="1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678180" algn="l" rtl="0" eaLnBrk="0">
                <a:lnSpc>
                  <a:spcPct val="90000"/>
                </a:lnSpc>
                <a:spcBef>
                  <a:spcPts val="1070"/>
                </a:spcBef>
              </a:pPr>
              <a:r>
                <a:rPr sz="3800" kern="0" spc="-40" dirty="0">
                  <a:solidFill>
                    <a:srgbClr val="FFFFFF">
                      <a:alpha val="100000"/>
                    </a:srgbClr>
                  </a:solidFill>
                  <a:latin typeface="Impact" panose="020B0806030902050204"/>
                  <a:ea typeface="Impact" panose="020B0806030902050204"/>
                  <a:cs typeface="Impact" panose="020B0806030902050204"/>
                </a:rPr>
                <a:t>02</a:t>
              </a:r>
              <a:endParaRPr sz="3800" dirty="0">
                <a:latin typeface="Impact" panose="020B0806030902050204"/>
                <a:ea typeface="Impact" panose="020B0806030902050204"/>
                <a:cs typeface="Impact" panose="020B0806030902050204"/>
              </a:endParaRPr>
            </a:p>
          </p:txBody>
        </p:sp>
      </p:grpSp>
      <p:pic>
        <p:nvPicPr>
          <p:cNvPr id="1484" name="picture 14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75943" y="3819144"/>
            <a:ext cx="3685032" cy="1022603"/>
          </a:xfrm>
          <a:prstGeom prst="rect">
            <a:avLst/>
          </a:prstGeom>
        </p:spPr>
      </p:pic>
      <p:graphicFrame>
        <p:nvGraphicFramePr>
          <p:cNvPr id="1486" name="table 1486"/>
          <p:cNvGraphicFramePr>
            <a:graphicFrameLocks noGrp="1"/>
          </p:cNvGraphicFramePr>
          <p:nvPr/>
        </p:nvGraphicFramePr>
        <p:xfrm>
          <a:off x="3021964" y="6042025"/>
          <a:ext cx="7379334" cy="381000"/>
        </p:xfrm>
        <a:graphic>
          <a:graphicData uri="http://schemas.openxmlformats.org/drawingml/2006/table">
            <a:tbl>
              <a:tblPr/>
              <a:tblGrid>
                <a:gridCol w="7379334"/>
              </a:tblGrid>
              <a:tr h="368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7800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大盘将开始上涨或保持涨势不变</a:t>
                      </a:r>
                      <a:r>
                        <a:rPr sz="17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，后市持续看涨。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投资者可适时进入</a:t>
                      </a: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endParaRPr sz="1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88" name="textbox 1488"/>
          <p:cNvSpPr/>
          <p:nvPr/>
        </p:nvSpPr>
        <p:spPr>
          <a:xfrm>
            <a:off x="8412742" y="4202693"/>
            <a:ext cx="1608455" cy="15265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270" algn="l" rtl="0" eaLnBrk="0">
              <a:lnSpc>
                <a:spcPct val="98000"/>
              </a:lnSpc>
            </a:pPr>
            <a:r>
              <a:rPr sz="1700" b="1" kern="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小阳、</a:t>
            </a:r>
            <a:r>
              <a:rPr sz="1700" b="1" kern="0" spc="-1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b="1" kern="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小阴线最</a:t>
            </a:r>
            <a:r>
              <a:rPr sz="17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b="1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低价高于大阳线</a:t>
            </a:r>
            <a:r>
              <a:rPr sz="17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b="1" kern="0" spc="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收盘价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1000"/>
              </a:lnSpc>
            </a:pP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61670" algn="l" rtl="0" eaLnBrk="0">
              <a:lnSpc>
                <a:spcPct val="90000"/>
              </a:lnSpc>
            </a:pPr>
            <a:r>
              <a:rPr sz="3800" kern="0" spc="-30" dirty="0">
                <a:solidFill>
                  <a:srgbClr val="FFFFFF">
                    <a:alpha val="100000"/>
                  </a:srgbClr>
                </a:solidFill>
                <a:latin typeface="Impact" panose="020B0806030902050204"/>
                <a:ea typeface="Impact" panose="020B0806030902050204"/>
                <a:cs typeface="Impact" panose="020B0806030902050204"/>
              </a:rPr>
              <a:t>03</a:t>
            </a:r>
            <a:endParaRPr sz="3800" dirty="0">
              <a:latin typeface="Impact" panose="020B0806030902050204"/>
              <a:ea typeface="Impact" panose="020B0806030902050204"/>
              <a:cs typeface="Impact" panose="020B0806030902050204"/>
            </a:endParaRPr>
          </a:p>
        </p:txBody>
      </p:sp>
      <p:grpSp>
        <p:nvGrpSpPr>
          <p:cNvPr id="156" name="group 156"/>
          <p:cNvGrpSpPr/>
          <p:nvPr/>
        </p:nvGrpSpPr>
        <p:grpSpPr>
          <a:xfrm rot="21600000">
            <a:off x="1175003" y="1225296"/>
            <a:ext cx="1982724" cy="917447"/>
            <a:chOff x="0" y="0"/>
            <a:chExt cx="1982724" cy="917447"/>
          </a:xfrm>
        </p:grpSpPr>
        <p:pic>
          <p:nvPicPr>
            <p:cNvPr id="1490" name="picture 149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982724" cy="917447"/>
            </a:xfrm>
            <a:prstGeom prst="rect">
              <a:avLst/>
            </a:prstGeom>
          </p:spPr>
        </p:pic>
        <p:sp>
          <p:nvSpPr>
            <p:cNvPr id="1492" name="textbox 1492"/>
            <p:cNvSpPr/>
            <p:nvPr/>
          </p:nvSpPr>
          <p:spPr>
            <a:xfrm>
              <a:off x="-12700" y="-12700"/>
              <a:ext cx="2008504" cy="9728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50190" algn="l" rtl="0" eaLnBrk="0">
                <a:lnSpc>
                  <a:spcPct val="91000"/>
                </a:lnSpc>
              </a:pPr>
              <a:r>
                <a:rPr sz="2300" b="1" kern="0" spc="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高位盘旋</a:t>
              </a:r>
              <a:endParaRPr sz="2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494" name="picture 14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pic>
        <p:nvPicPr>
          <p:cNvPr id="1498" name="picture 149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1500" name="picture 150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  <p:pic>
        <p:nvPicPr>
          <p:cNvPr id="1502" name="picture 150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058924" y="5955791"/>
            <a:ext cx="812292" cy="559308"/>
          </a:xfrm>
          <a:prstGeom prst="rect">
            <a:avLst/>
          </a:prstGeom>
        </p:spPr>
      </p:pic>
      <p:pic>
        <p:nvPicPr>
          <p:cNvPr id="1504" name="picture 150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735323" y="3051047"/>
            <a:ext cx="419100" cy="682752"/>
          </a:xfrm>
          <a:prstGeom prst="rect">
            <a:avLst/>
          </a:prstGeom>
        </p:spPr>
      </p:pic>
      <p:sp>
        <p:nvSpPr>
          <p:cNvPr id="1506" name="rect 1506"/>
          <p:cNvSpPr/>
          <p:nvPr/>
        </p:nvSpPr>
        <p:spPr>
          <a:xfrm>
            <a:off x="2371344" y="3410711"/>
            <a:ext cx="419100" cy="300228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08" name="rect 1508"/>
          <p:cNvSpPr/>
          <p:nvPr/>
        </p:nvSpPr>
        <p:spPr>
          <a:xfrm>
            <a:off x="3057144" y="3457955"/>
            <a:ext cx="419100" cy="292608"/>
          </a:xfrm>
          <a:prstGeom prst="rect">
            <a:avLst/>
          </a:prstGeom>
          <a:solidFill>
            <a:srgbClr val="00B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textbox 1510"/>
          <p:cNvSpPr/>
          <p:nvPr/>
        </p:nvSpPr>
        <p:spPr>
          <a:xfrm rot="19620000">
            <a:off x="1805581" y="3125791"/>
            <a:ext cx="8361680" cy="932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9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       市需</a:t>
            </a:r>
            <a:r>
              <a:rPr sz="5800" kern="0" spc="8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58" name="group 158"/>
          <p:cNvGrpSpPr/>
          <p:nvPr/>
        </p:nvGrpSpPr>
        <p:grpSpPr>
          <a:xfrm rot="21600000">
            <a:off x="5789612" y="2243137"/>
            <a:ext cx="4679950" cy="3024187"/>
            <a:chOff x="0" y="0"/>
            <a:chExt cx="4679950" cy="3024187"/>
          </a:xfrm>
        </p:grpSpPr>
        <p:sp>
          <p:nvSpPr>
            <p:cNvPr id="1512" name="path 1512"/>
            <p:cNvSpPr/>
            <p:nvPr/>
          </p:nvSpPr>
          <p:spPr>
            <a:xfrm>
              <a:off x="0" y="4762"/>
              <a:ext cx="4679950" cy="2724150"/>
            </a:xfrm>
            <a:custGeom>
              <a:avLst/>
              <a:gdLst/>
              <a:ahLst/>
              <a:cxnLst/>
              <a:rect l="0" t="0" r="0" b="0"/>
              <a:pathLst>
                <a:path w="7370" h="4290">
                  <a:moveTo>
                    <a:pt x="5520" y="4290"/>
                  </a:moveTo>
                  <a:lnTo>
                    <a:pt x="3672" y="3363"/>
                  </a:lnTo>
                  <a:lnTo>
                    <a:pt x="3672" y="923"/>
                  </a:lnTo>
                  <a:lnTo>
                    <a:pt x="5520" y="0"/>
                  </a:lnTo>
                  <a:lnTo>
                    <a:pt x="7370" y="923"/>
                  </a:lnTo>
                  <a:lnTo>
                    <a:pt x="7370" y="3363"/>
                  </a:lnTo>
                  <a:lnTo>
                    <a:pt x="5520" y="4290"/>
                  </a:lnTo>
                </a:path>
                <a:path w="7370" h="4290">
                  <a:moveTo>
                    <a:pt x="1850" y="4290"/>
                  </a:moveTo>
                  <a:lnTo>
                    <a:pt x="0" y="3363"/>
                  </a:lnTo>
                  <a:lnTo>
                    <a:pt x="0" y="923"/>
                  </a:lnTo>
                  <a:lnTo>
                    <a:pt x="1850" y="0"/>
                  </a:lnTo>
                  <a:lnTo>
                    <a:pt x="3698" y="923"/>
                  </a:lnTo>
                  <a:lnTo>
                    <a:pt x="3698" y="3363"/>
                  </a:lnTo>
                  <a:lnTo>
                    <a:pt x="1850" y="4290"/>
                  </a:lnTo>
                </a:path>
              </a:pathLst>
            </a:custGeom>
            <a:solidFill>
              <a:srgbClr val="8497B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14" name="path 1514"/>
            <p:cNvSpPr/>
            <p:nvPr/>
          </p:nvSpPr>
          <p:spPr>
            <a:xfrm>
              <a:off x="2330450" y="0"/>
              <a:ext cx="2349500" cy="708025"/>
            </a:xfrm>
            <a:custGeom>
              <a:avLst/>
              <a:gdLst/>
              <a:ahLst/>
              <a:cxnLst/>
              <a:rect l="0" t="0" r="0" b="0"/>
              <a:pathLst>
                <a:path w="3700" h="1115">
                  <a:moveTo>
                    <a:pt x="1850" y="7"/>
                  </a:moveTo>
                  <a:lnTo>
                    <a:pt x="3700" y="932"/>
                  </a:lnTo>
                  <a:lnTo>
                    <a:pt x="3700" y="934"/>
                  </a:lnTo>
                  <a:lnTo>
                    <a:pt x="0" y="934"/>
                  </a:lnTo>
                  <a:lnTo>
                    <a:pt x="0" y="932"/>
                  </a:lnTo>
                  <a:lnTo>
                    <a:pt x="1850" y="7"/>
                  </a:lnTo>
                </a:path>
                <a:path w="3700" h="1115">
                  <a:moveTo>
                    <a:pt x="1256" y="0"/>
                  </a:moveTo>
                  <a:lnTo>
                    <a:pt x="2375" y="0"/>
                  </a:lnTo>
                  <a:lnTo>
                    <a:pt x="2375" y="1115"/>
                  </a:lnTo>
                  <a:lnTo>
                    <a:pt x="1256" y="1115"/>
                  </a:lnTo>
                  <a:lnTo>
                    <a:pt x="1256" y="0"/>
                  </a:lnTo>
                  <a:close/>
                </a:path>
              </a:pathLst>
            </a:custGeom>
            <a:solidFill>
              <a:srgbClr val="8497B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16" name="path 1516"/>
            <p:cNvSpPr/>
            <p:nvPr/>
          </p:nvSpPr>
          <p:spPr>
            <a:xfrm>
              <a:off x="0" y="2063686"/>
              <a:ext cx="2349500" cy="705611"/>
            </a:xfrm>
            <a:custGeom>
              <a:avLst/>
              <a:gdLst/>
              <a:ahLst/>
              <a:cxnLst/>
              <a:rect l="0" t="0" r="0" b="0"/>
              <a:pathLst>
                <a:path w="3700" h="1111">
                  <a:moveTo>
                    <a:pt x="1850" y="1047"/>
                  </a:moveTo>
                  <a:lnTo>
                    <a:pt x="3700" y="123"/>
                  </a:lnTo>
                  <a:lnTo>
                    <a:pt x="3700" y="122"/>
                  </a:lnTo>
                  <a:lnTo>
                    <a:pt x="0" y="122"/>
                  </a:lnTo>
                  <a:lnTo>
                    <a:pt x="0" y="123"/>
                  </a:lnTo>
                  <a:lnTo>
                    <a:pt x="1850" y="1047"/>
                  </a:lnTo>
                </a:path>
                <a:path w="3700" h="1111">
                  <a:moveTo>
                    <a:pt x="1336" y="0"/>
                  </a:moveTo>
                  <a:lnTo>
                    <a:pt x="2359" y="0"/>
                  </a:lnTo>
                  <a:lnTo>
                    <a:pt x="2359" y="1111"/>
                  </a:lnTo>
                  <a:lnTo>
                    <a:pt x="1336" y="1111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8497B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18" name="rect 1518"/>
            <p:cNvSpPr/>
            <p:nvPr/>
          </p:nvSpPr>
          <p:spPr>
            <a:xfrm>
              <a:off x="2558859" y="943546"/>
              <a:ext cx="1892807" cy="1014984"/>
            </a:xfrm>
            <a:prstGeom prst="rect">
              <a:avLst/>
            </a:prstGeom>
            <a:solidFill>
              <a:srgbClr val="8497B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20" name="textbox 1520"/>
            <p:cNvSpPr/>
            <p:nvPr/>
          </p:nvSpPr>
          <p:spPr>
            <a:xfrm>
              <a:off x="962786" y="164731"/>
              <a:ext cx="3228975" cy="26079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291715" algn="l" rtl="0" eaLnBrk="0">
                <a:lnSpc>
                  <a:spcPct val="90000"/>
                </a:lnSpc>
              </a:pPr>
              <a:r>
                <a:rPr sz="3800" kern="0" spc="-50" dirty="0">
                  <a:solidFill>
                    <a:srgbClr val="FFFFFF">
                      <a:alpha val="100000"/>
                    </a:srgbClr>
                  </a:solidFill>
                  <a:latin typeface="Impact" panose="020B0806030902050204"/>
                  <a:ea typeface="Impact" panose="020B0806030902050204"/>
                  <a:cs typeface="Impact" panose="020B0806030902050204"/>
                </a:rPr>
                <a:t>02</a:t>
              </a:r>
              <a:endParaRPr sz="3800" dirty="0">
                <a:latin typeface="Impact" panose="020B0806030902050204"/>
                <a:ea typeface="Impact" panose="020B0806030902050204"/>
                <a:cs typeface="Impact" panose="020B0806030902050204"/>
              </a:endParaRPr>
            </a:p>
            <a:p>
              <a:pPr algn="l" rtl="0" eaLnBrk="0">
                <a:lnSpc>
                  <a:spcPct val="17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693545" indent="33020" algn="l" rtl="0" eaLnBrk="0">
                <a:lnSpc>
                  <a:spcPct val="95000"/>
                </a:lnSpc>
                <a:spcBef>
                  <a:spcPts val="610"/>
                </a:spcBef>
              </a:pPr>
              <a:r>
                <a:rPr sz="2000" b="1" kern="0" spc="-6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由多根阳线组</a:t>
              </a:r>
              <a:r>
                <a:rPr sz="2000" b="1" kern="0" spc="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2000" b="1" kern="0" spc="-9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成 ，每根阳线</a:t>
              </a:r>
              <a:r>
                <a:rPr sz="2000" b="1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2000" b="1" kern="0" spc="-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都是跳空高开</a:t>
              </a:r>
              <a:endParaRPr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1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9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0000"/>
                </a:lnSpc>
              </a:pPr>
              <a:r>
                <a:rPr sz="3800" kern="0" spc="-50" dirty="0">
                  <a:solidFill>
                    <a:srgbClr val="FFFFFF">
                      <a:alpha val="100000"/>
                    </a:srgbClr>
                  </a:solidFill>
                  <a:latin typeface="Impact" panose="020B0806030902050204"/>
                  <a:ea typeface="Impact" panose="020B0806030902050204"/>
                  <a:cs typeface="Impact" panose="020B0806030902050204"/>
                </a:rPr>
                <a:t>01</a:t>
              </a:r>
              <a:endParaRPr sz="3800" dirty="0">
                <a:latin typeface="Impact" panose="020B0806030902050204"/>
                <a:ea typeface="Impact" panose="020B0806030902050204"/>
                <a:cs typeface="Impact" panose="020B0806030902050204"/>
              </a:endParaRPr>
            </a:p>
          </p:txBody>
        </p:sp>
        <p:sp>
          <p:nvSpPr>
            <p:cNvPr id="1522" name="rect 1522"/>
            <p:cNvSpPr/>
            <p:nvPr/>
          </p:nvSpPr>
          <p:spPr>
            <a:xfrm>
              <a:off x="333819" y="1060894"/>
              <a:ext cx="1892808" cy="399288"/>
            </a:xfrm>
            <a:prstGeom prst="rect">
              <a:avLst/>
            </a:prstGeom>
            <a:solidFill>
              <a:srgbClr val="8497B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24" name="path 1524"/>
            <p:cNvSpPr/>
            <p:nvPr/>
          </p:nvSpPr>
          <p:spPr>
            <a:xfrm>
              <a:off x="942975" y="2941637"/>
              <a:ext cx="74612" cy="82550"/>
            </a:xfrm>
            <a:custGeom>
              <a:avLst/>
              <a:gdLst/>
              <a:ahLst/>
              <a:cxnLst/>
              <a:rect l="0" t="0" r="0" b="0"/>
              <a:pathLst>
                <a:path w="117" h="130">
                  <a:moveTo>
                    <a:pt x="117" y="106"/>
                  </a:moveTo>
                  <a:lnTo>
                    <a:pt x="89" y="130"/>
                  </a:lnTo>
                  <a:lnTo>
                    <a:pt x="0" y="23"/>
                  </a:lnTo>
                  <a:lnTo>
                    <a:pt x="23" y="0"/>
                  </a:lnTo>
                  <a:lnTo>
                    <a:pt x="117" y="106"/>
                  </a:lnTo>
                </a:path>
              </a:pathLst>
            </a:custGeom>
            <a:solidFill>
              <a:srgbClr val="8497B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526" name="table 1526"/>
          <p:cNvGraphicFramePr>
            <a:graphicFrameLocks noGrp="1"/>
          </p:cNvGraphicFramePr>
          <p:nvPr/>
        </p:nvGraphicFramePr>
        <p:xfrm>
          <a:off x="3008629" y="5755004"/>
          <a:ext cx="7380605" cy="381000"/>
        </p:xfrm>
        <a:graphic>
          <a:graphicData uri="http://schemas.openxmlformats.org/drawingml/2006/table">
            <a:tbl>
              <a:tblPr/>
              <a:tblGrid>
                <a:gridCol w="7380605"/>
              </a:tblGrid>
              <a:tr h="368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9855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大盘将开始上涨或保持涨势不变</a:t>
                      </a:r>
                      <a:r>
                        <a:rPr sz="17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，后市持续看涨。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投资者可适时进入</a:t>
                      </a: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endParaRPr sz="1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60" name="group 160"/>
          <p:cNvGrpSpPr/>
          <p:nvPr/>
        </p:nvGrpSpPr>
        <p:grpSpPr>
          <a:xfrm rot="21600000">
            <a:off x="1175003" y="1225296"/>
            <a:ext cx="1982724" cy="917447"/>
            <a:chOff x="0" y="0"/>
            <a:chExt cx="1982724" cy="917447"/>
          </a:xfrm>
        </p:grpSpPr>
        <p:pic>
          <p:nvPicPr>
            <p:cNvPr id="1528" name="picture 152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1982724" cy="917447"/>
            </a:xfrm>
            <a:prstGeom prst="rect">
              <a:avLst/>
            </a:prstGeom>
          </p:spPr>
        </p:pic>
        <p:sp>
          <p:nvSpPr>
            <p:cNvPr id="1530" name="textbox 1530"/>
            <p:cNvSpPr/>
            <p:nvPr/>
          </p:nvSpPr>
          <p:spPr>
            <a:xfrm>
              <a:off x="-12700" y="-12700"/>
              <a:ext cx="2008504" cy="9715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51460" algn="l" rtl="0" eaLnBrk="0">
                <a:lnSpc>
                  <a:spcPct val="91000"/>
                </a:lnSpc>
              </a:pPr>
              <a:r>
                <a:rPr sz="2300" b="1" kern="0" spc="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连续跳高</a:t>
              </a:r>
              <a:endParaRPr sz="2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532" name="picture 15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pic>
        <p:nvPicPr>
          <p:cNvPr id="1536" name="picture 15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1538" name="picture 15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  <p:pic>
        <p:nvPicPr>
          <p:cNvPr id="1540" name="picture 15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039111" y="5670803"/>
            <a:ext cx="812292" cy="562355"/>
          </a:xfrm>
          <a:prstGeom prst="rect">
            <a:avLst/>
          </a:prstGeom>
        </p:spPr>
      </p:pic>
      <p:sp>
        <p:nvSpPr>
          <p:cNvPr id="1542" name="textbox 1542"/>
          <p:cNvSpPr/>
          <p:nvPr/>
        </p:nvSpPr>
        <p:spPr>
          <a:xfrm>
            <a:off x="6236059" y="3376719"/>
            <a:ext cx="1514475" cy="3028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20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出现在跌势中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44" name="rect 1544"/>
          <p:cNvSpPr/>
          <p:nvPr/>
        </p:nvSpPr>
        <p:spPr>
          <a:xfrm>
            <a:off x="3002279" y="2482595"/>
            <a:ext cx="419100" cy="612648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46" name="rect 1546"/>
          <p:cNvSpPr/>
          <p:nvPr/>
        </p:nvSpPr>
        <p:spPr>
          <a:xfrm>
            <a:off x="1612391" y="3799332"/>
            <a:ext cx="419099" cy="542544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48" name="rect 1548"/>
          <p:cNvSpPr/>
          <p:nvPr/>
        </p:nvSpPr>
        <p:spPr>
          <a:xfrm>
            <a:off x="2308860" y="3224783"/>
            <a:ext cx="419100" cy="469392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50" name="path 1550"/>
          <p:cNvSpPr/>
          <p:nvPr/>
        </p:nvSpPr>
        <p:spPr>
          <a:xfrm>
            <a:off x="3287712" y="2374900"/>
            <a:ext cx="241300" cy="68262"/>
          </a:xfrm>
          <a:custGeom>
            <a:avLst/>
            <a:gdLst/>
            <a:ahLst/>
            <a:cxnLst/>
            <a:rect l="0" t="0" r="0" b="0"/>
            <a:pathLst>
              <a:path w="380" h="107">
                <a:moveTo>
                  <a:pt x="217" y="101"/>
                </a:moveTo>
                <a:cubicBezTo>
                  <a:pt x="380" y="5"/>
                  <a:pt x="380" y="5"/>
                  <a:pt x="380" y="5"/>
                </a:cubicBezTo>
                <a:cubicBezTo>
                  <a:pt x="380" y="0"/>
                  <a:pt x="374" y="0"/>
                  <a:pt x="368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1" y="0"/>
                  <a:pt x="5" y="0"/>
                  <a:pt x="0" y="5"/>
                </a:cubicBezTo>
                <a:cubicBezTo>
                  <a:pt x="167" y="101"/>
                  <a:pt x="167" y="101"/>
                  <a:pt x="167" y="101"/>
                </a:cubicBezTo>
                <a:cubicBezTo>
                  <a:pt x="178" y="107"/>
                  <a:pt x="200" y="107"/>
                  <a:pt x="217" y="101"/>
                </a:cubicBezTo>
              </a:path>
            </a:pathLst>
          </a:custGeom>
          <a:solidFill>
            <a:srgbClr val="8497B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textbox 1552"/>
          <p:cNvSpPr/>
          <p:nvPr/>
        </p:nvSpPr>
        <p:spPr>
          <a:xfrm rot="19620000">
            <a:off x="1805581" y="3125791"/>
            <a:ext cx="8361680" cy="932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9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       市需</a:t>
            </a:r>
            <a:r>
              <a:rPr sz="5800" kern="0" spc="8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62" name="group 162"/>
          <p:cNvGrpSpPr/>
          <p:nvPr/>
        </p:nvGrpSpPr>
        <p:grpSpPr>
          <a:xfrm rot="21600000">
            <a:off x="5059362" y="2066925"/>
            <a:ext cx="4679950" cy="2724150"/>
            <a:chOff x="0" y="0"/>
            <a:chExt cx="4679950" cy="2724150"/>
          </a:xfrm>
        </p:grpSpPr>
        <p:grpSp>
          <p:nvGrpSpPr>
            <p:cNvPr id="164" name="group 164"/>
            <p:cNvGrpSpPr/>
            <p:nvPr/>
          </p:nvGrpSpPr>
          <p:grpSpPr>
            <a:xfrm rot="21600000">
              <a:off x="0" y="0"/>
              <a:ext cx="4679950" cy="2724150"/>
              <a:chOff x="0" y="0"/>
              <a:chExt cx="4679950" cy="2724150"/>
            </a:xfrm>
          </p:grpSpPr>
          <p:sp>
            <p:nvSpPr>
              <p:cNvPr id="1554" name="path 1554"/>
              <p:cNvSpPr/>
              <p:nvPr/>
            </p:nvSpPr>
            <p:spPr>
              <a:xfrm>
                <a:off x="2331593" y="0"/>
                <a:ext cx="2348356" cy="2724150"/>
              </a:xfrm>
              <a:custGeom>
                <a:avLst/>
                <a:gdLst/>
                <a:ahLst/>
                <a:cxnLst/>
                <a:rect l="0" t="0" r="0" b="0"/>
                <a:pathLst>
                  <a:path w="3698" h="4290">
                    <a:moveTo>
                      <a:pt x="1848" y="4290"/>
                    </a:moveTo>
                    <a:lnTo>
                      <a:pt x="0" y="3366"/>
                    </a:lnTo>
                    <a:lnTo>
                      <a:pt x="0" y="922"/>
                    </a:lnTo>
                    <a:lnTo>
                      <a:pt x="1848" y="0"/>
                    </a:lnTo>
                    <a:lnTo>
                      <a:pt x="3698" y="922"/>
                    </a:lnTo>
                    <a:lnTo>
                      <a:pt x="3698" y="3366"/>
                    </a:lnTo>
                    <a:lnTo>
                      <a:pt x="1848" y="4290"/>
                    </a:lnTo>
                  </a:path>
                </a:pathLst>
              </a:custGeom>
              <a:solidFill>
                <a:srgbClr val="90B642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6" name="path 1556"/>
              <p:cNvSpPr/>
              <p:nvPr/>
            </p:nvSpPr>
            <p:spPr>
              <a:xfrm>
                <a:off x="0" y="0"/>
                <a:ext cx="2348357" cy="2724150"/>
              </a:xfrm>
              <a:custGeom>
                <a:avLst/>
                <a:gdLst/>
                <a:ahLst/>
                <a:cxnLst/>
                <a:rect l="0" t="0" r="0" b="0"/>
                <a:pathLst>
                  <a:path w="3698" h="4290">
                    <a:moveTo>
                      <a:pt x="1850" y="4290"/>
                    </a:moveTo>
                    <a:lnTo>
                      <a:pt x="0" y="3366"/>
                    </a:lnTo>
                    <a:lnTo>
                      <a:pt x="0" y="922"/>
                    </a:lnTo>
                    <a:lnTo>
                      <a:pt x="1850" y="0"/>
                    </a:lnTo>
                    <a:lnTo>
                      <a:pt x="3698" y="922"/>
                    </a:lnTo>
                    <a:lnTo>
                      <a:pt x="3698" y="3366"/>
                    </a:lnTo>
                    <a:lnTo>
                      <a:pt x="1850" y="4290"/>
                    </a:lnTo>
                  </a:path>
                </a:pathLst>
              </a:custGeom>
              <a:solidFill>
                <a:srgbClr val="37B3D5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8" name="path 1558"/>
              <p:cNvSpPr/>
              <p:nvPr/>
            </p:nvSpPr>
            <p:spPr>
              <a:xfrm>
                <a:off x="139" y="279"/>
                <a:ext cx="4678857" cy="2723629"/>
              </a:xfrm>
              <a:custGeom>
                <a:avLst/>
                <a:gdLst/>
                <a:ahLst/>
                <a:cxnLst/>
                <a:rect l="0" t="0" r="0" b="0"/>
                <a:pathLst>
                  <a:path w="7368" h="4289">
                    <a:moveTo>
                      <a:pt x="5519" y="0"/>
                    </a:moveTo>
                    <a:lnTo>
                      <a:pt x="7368" y="923"/>
                    </a:lnTo>
                    <a:lnTo>
                      <a:pt x="7368" y="925"/>
                    </a:lnTo>
                    <a:lnTo>
                      <a:pt x="3670" y="925"/>
                    </a:lnTo>
                    <a:lnTo>
                      <a:pt x="3670" y="923"/>
                    </a:lnTo>
                    <a:lnTo>
                      <a:pt x="5519" y="0"/>
                    </a:lnTo>
                  </a:path>
                  <a:path w="7368" h="4289">
                    <a:moveTo>
                      <a:pt x="1849" y="4289"/>
                    </a:moveTo>
                    <a:lnTo>
                      <a:pt x="3698" y="3364"/>
                    </a:lnTo>
                    <a:lnTo>
                      <a:pt x="3698" y="3363"/>
                    </a:lnTo>
                    <a:lnTo>
                      <a:pt x="0" y="3363"/>
                    </a:lnTo>
                    <a:lnTo>
                      <a:pt x="0" y="3364"/>
                    </a:lnTo>
                    <a:lnTo>
                      <a:pt x="1849" y="4289"/>
                    </a:lnTo>
                  </a:path>
                </a:pathLst>
              </a:custGeom>
              <a:solidFill>
                <a:srgbClr val="0D0D0D">
                  <a:alpha val="2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560" name="textbox 1560"/>
            <p:cNvSpPr/>
            <p:nvPr/>
          </p:nvSpPr>
          <p:spPr>
            <a:xfrm>
              <a:off x="962710" y="160312"/>
              <a:ext cx="3228339" cy="26079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291715" algn="l" rtl="0" eaLnBrk="0">
                <a:lnSpc>
                  <a:spcPct val="90000"/>
                </a:lnSpc>
              </a:pPr>
              <a:r>
                <a:rPr sz="3800" kern="0" spc="-50" dirty="0">
                  <a:solidFill>
                    <a:srgbClr val="FFFFFF">
                      <a:alpha val="100000"/>
                    </a:srgbClr>
                  </a:solidFill>
                  <a:latin typeface="Impact" panose="020B0806030902050204"/>
                  <a:ea typeface="Impact" panose="020B0806030902050204"/>
                  <a:cs typeface="Impact" panose="020B0806030902050204"/>
                </a:rPr>
                <a:t>02</a:t>
              </a:r>
              <a:endParaRPr sz="3800" dirty="0">
                <a:latin typeface="Impact" panose="020B0806030902050204"/>
                <a:ea typeface="Impact" panose="020B0806030902050204"/>
                <a:cs typeface="Impact" panose="020B0806030902050204"/>
              </a:endParaRPr>
            </a:p>
            <a:p>
              <a:pPr algn="l" rtl="0" eaLnBrk="0">
                <a:lnSpc>
                  <a:spcPct val="17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692910" indent="33020" algn="l" rtl="0" eaLnBrk="0">
                <a:lnSpc>
                  <a:spcPct val="95000"/>
                </a:lnSpc>
                <a:spcBef>
                  <a:spcPts val="610"/>
                </a:spcBef>
              </a:pPr>
              <a:r>
                <a:rPr sz="2000" b="1" kern="0" spc="-6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由多根阳线组</a:t>
              </a:r>
              <a:r>
                <a:rPr sz="2000" b="1" kern="0" spc="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2000" b="1" kern="0" spc="-9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成 ，每根阳线</a:t>
              </a:r>
              <a:r>
                <a:rPr sz="2000" b="1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2000" b="1" kern="0" spc="-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都是跳空高开</a:t>
              </a:r>
              <a:endParaRPr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1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9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0000"/>
                </a:lnSpc>
              </a:pPr>
              <a:r>
                <a:rPr sz="3800" kern="0" spc="-50" dirty="0">
                  <a:solidFill>
                    <a:srgbClr val="FFFFFF">
                      <a:alpha val="100000"/>
                    </a:srgbClr>
                  </a:solidFill>
                  <a:latin typeface="Impact" panose="020B0806030902050204"/>
                  <a:ea typeface="Impact" panose="020B0806030902050204"/>
                  <a:cs typeface="Impact" panose="020B0806030902050204"/>
                </a:rPr>
                <a:t>01</a:t>
              </a:r>
              <a:endParaRPr sz="3800" dirty="0">
                <a:latin typeface="Impact" panose="020B0806030902050204"/>
                <a:ea typeface="Impact" panose="020B0806030902050204"/>
                <a:cs typeface="Impact" panose="020B0806030902050204"/>
              </a:endParaRPr>
            </a:p>
          </p:txBody>
        </p:sp>
      </p:grpSp>
      <p:graphicFrame>
        <p:nvGraphicFramePr>
          <p:cNvPr id="1562" name="table 1562"/>
          <p:cNvGraphicFramePr>
            <a:graphicFrameLocks noGrp="1"/>
          </p:cNvGraphicFramePr>
          <p:nvPr/>
        </p:nvGraphicFramePr>
        <p:xfrm>
          <a:off x="2974975" y="5848984"/>
          <a:ext cx="7380605" cy="381000"/>
        </p:xfrm>
        <a:graphic>
          <a:graphicData uri="http://schemas.openxmlformats.org/drawingml/2006/table">
            <a:tbl>
              <a:tblPr/>
              <a:tblGrid>
                <a:gridCol w="7380605"/>
              </a:tblGrid>
              <a:tr h="368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9855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大盘将开始上涨或保持涨势不变</a:t>
                      </a:r>
                      <a:r>
                        <a:rPr sz="17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，后市持续看涨。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投资者可适时进入</a:t>
                      </a: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endParaRPr sz="1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564" name="picture 156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175003" y="1225296"/>
            <a:ext cx="1982724" cy="917447"/>
          </a:xfrm>
          <a:prstGeom prst="rect">
            <a:avLst/>
          </a:prstGeom>
        </p:spPr>
      </p:pic>
      <p:pic>
        <p:nvPicPr>
          <p:cNvPr id="1566" name="picture 15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pic>
        <p:nvPicPr>
          <p:cNvPr id="1570" name="picture 15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1572" name="picture 15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  <p:pic>
        <p:nvPicPr>
          <p:cNvPr id="1574" name="picture 15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028444" y="5760719"/>
            <a:ext cx="810767" cy="562355"/>
          </a:xfrm>
          <a:prstGeom prst="rect">
            <a:avLst/>
          </a:prstGeom>
        </p:spPr>
      </p:pic>
      <p:sp>
        <p:nvSpPr>
          <p:cNvPr id="1576" name="textbox 1576"/>
          <p:cNvSpPr/>
          <p:nvPr/>
        </p:nvSpPr>
        <p:spPr>
          <a:xfrm>
            <a:off x="5505809" y="3195744"/>
            <a:ext cx="1514475" cy="3028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20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出现在跌势中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78" name="textbox 1578"/>
          <p:cNvSpPr/>
          <p:nvPr/>
        </p:nvSpPr>
        <p:spPr>
          <a:xfrm>
            <a:off x="1399057" y="1533949"/>
            <a:ext cx="1219200" cy="3448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2300" b="1" kern="0" spc="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五阳上阵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80" name="rect 1580"/>
          <p:cNvSpPr/>
          <p:nvPr/>
        </p:nvSpPr>
        <p:spPr>
          <a:xfrm>
            <a:off x="2196083" y="3529583"/>
            <a:ext cx="419100" cy="461771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82" name="rect 1582"/>
          <p:cNvSpPr/>
          <p:nvPr/>
        </p:nvSpPr>
        <p:spPr>
          <a:xfrm>
            <a:off x="3416808" y="2543555"/>
            <a:ext cx="419100" cy="460248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84" name="rect 1584"/>
          <p:cNvSpPr/>
          <p:nvPr/>
        </p:nvSpPr>
        <p:spPr>
          <a:xfrm>
            <a:off x="2807207" y="3041904"/>
            <a:ext cx="419100" cy="460247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86" name="rect 1586"/>
          <p:cNvSpPr/>
          <p:nvPr/>
        </p:nvSpPr>
        <p:spPr>
          <a:xfrm>
            <a:off x="1586483" y="3956303"/>
            <a:ext cx="419100" cy="390144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88" name="rect 1588"/>
          <p:cNvSpPr/>
          <p:nvPr/>
        </p:nvSpPr>
        <p:spPr>
          <a:xfrm>
            <a:off x="976883" y="4347971"/>
            <a:ext cx="419100" cy="338328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90" name="path 1590"/>
          <p:cNvSpPr/>
          <p:nvPr/>
        </p:nvSpPr>
        <p:spPr>
          <a:xfrm>
            <a:off x="2557462" y="2193925"/>
            <a:ext cx="241300" cy="68262"/>
          </a:xfrm>
          <a:custGeom>
            <a:avLst/>
            <a:gdLst/>
            <a:ahLst/>
            <a:cxnLst/>
            <a:rect l="0" t="0" r="0" b="0"/>
            <a:pathLst>
              <a:path w="380" h="107">
                <a:moveTo>
                  <a:pt x="217" y="101"/>
                </a:moveTo>
                <a:cubicBezTo>
                  <a:pt x="380" y="5"/>
                  <a:pt x="380" y="5"/>
                  <a:pt x="380" y="5"/>
                </a:cubicBezTo>
                <a:cubicBezTo>
                  <a:pt x="380" y="0"/>
                  <a:pt x="374" y="0"/>
                  <a:pt x="368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1" y="0"/>
                  <a:pt x="5" y="0"/>
                  <a:pt x="0" y="5"/>
                </a:cubicBezTo>
                <a:cubicBezTo>
                  <a:pt x="167" y="101"/>
                  <a:pt x="167" y="101"/>
                  <a:pt x="167" y="101"/>
                </a:cubicBezTo>
                <a:cubicBezTo>
                  <a:pt x="178" y="107"/>
                  <a:pt x="200" y="107"/>
                  <a:pt x="217" y="101"/>
                </a:cubicBezTo>
              </a:path>
            </a:pathLst>
          </a:custGeom>
          <a:solidFill>
            <a:srgbClr val="F0EF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92" name="path 1592"/>
          <p:cNvSpPr/>
          <p:nvPr/>
        </p:nvSpPr>
        <p:spPr>
          <a:xfrm>
            <a:off x="6002337" y="5003800"/>
            <a:ext cx="74612" cy="82550"/>
          </a:xfrm>
          <a:custGeom>
            <a:avLst/>
            <a:gdLst/>
            <a:ahLst/>
            <a:cxnLst/>
            <a:rect l="0" t="0" r="0" b="0"/>
            <a:pathLst>
              <a:path w="117" h="130">
                <a:moveTo>
                  <a:pt x="117" y="106"/>
                </a:moveTo>
                <a:lnTo>
                  <a:pt x="89" y="130"/>
                </a:lnTo>
                <a:lnTo>
                  <a:pt x="0" y="23"/>
                </a:lnTo>
                <a:lnTo>
                  <a:pt x="23" y="0"/>
                </a:lnTo>
                <a:lnTo>
                  <a:pt x="117" y="106"/>
                </a:lnTo>
              </a:path>
            </a:pathLst>
          </a:custGeom>
          <a:solidFill>
            <a:srgbClr val="F0EF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4" name="picture 15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763011" y="5513832"/>
            <a:ext cx="6893052" cy="658367"/>
          </a:xfrm>
          <a:prstGeom prst="rect">
            <a:avLst/>
          </a:prstGeom>
        </p:spPr>
      </p:pic>
      <p:sp>
        <p:nvSpPr>
          <p:cNvPr id="1596" name="textbox 1596"/>
          <p:cNvSpPr/>
          <p:nvPr/>
        </p:nvSpPr>
        <p:spPr>
          <a:xfrm rot="19620000">
            <a:off x="1805468" y="3126375"/>
            <a:ext cx="8372475" cy="93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 ，</a:t>
            </a:r>
            <a:r>
              <a:rPr sz="5800" kern="0" spc="-14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66" name="group 166"/>
          <p:cNvGrpSpPr/>
          <p:nvPr/>
        </p:nvGrpSpPr>
        <p:grpSpPr>
          <a:xfrm rot="21600000">
            <a:off x="5919215" y="2002535"/>
            <a:ext cx="1586484" cy="3014472"/>
            <a:chOff x="0" y="0"/>
            <a:chExt cx="1586484" cy="3014472"/>
          </a:xfrm>
        </p:grpSpPr>
        <p:pic>
          <p:nvPicPr>
            <p:cNvPr id="1598" name="picture 159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586484" cy="3014472"/>
            </a:xfrm>
            <a:prstGeom prst="rect">
              <a:avLst/>
            </a:prstGeom>
          </p:spPr>
        </p:pic>
        <p:sp>
          <p:nvSpPr>
            <p:cNvPr id="1600" name="textbox 1600"/>
            <p:cNvSpPr/>
            <p:nvPr/>
          </p:nvSpPr>
          <p:spPr>
            <a:xfrm>
              <a:off x="-12700" y="-12700"/>
              <a:ext cx="1612264" cy="3060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62890" algn="l" rtl="0" eaLnBrk="0">
                <a:lnSpc>
                  <a:spcPct val="91000"/>
                </a:lnSpc>
              </a:pPr>
              <a:r>
                <a:rPr sz="1500" b="1" kern="0" spc="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出现在涨势</a:t>
              </a:r>
              <a:endParaRPr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60985" algn="l" rtl="0" eaLnBrk="0">
                <a:lnSpc>
                  <a:spcPct val="90000"/>
                </a:lnSpc>
                <a:spcBef>
                  <a:spcPts val="0"/>
                </a:spcBef>
              </a:pPr>
              <a:r>
                <a:rPr sz="1500" b="1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中</a:t>
              </a:r>
              <a:endParaRPr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602" name="picture 16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093964" y="2002535"/>
            <a:ext cx="1586483" cy="3014472"/>
          </a:xfrm>
          <a:prstGeom prst="rect">
            <a:avLst/>
          </a:prstGeom>
        </p:spPr>
      </p:pic>
      <p:sp>
        <p:nvSpPr>
          <p:cNvPr id="1604" name="textbox 1604"/>
          <p:cNvSpPr/>
          <p:nvPr/>
        </p:nvSpPr>
        <p:spPr>
          <a:xfrm>
            <a:off x="2852871" y="5607649"/>
            <a:ext cx="6640194" cy="5245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240" indent="-2540" algn="l" rtl="0" eaLnBrk="0">
              <a:lnSpc>
                <a:spcPct val="96000"/>
              </a:lnSpc>
            </a:pP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股价已经见顶 ，股价可能会由强转弱 ，后市看跌。</a:t>
            </a:r>
            <a:r>
              <a:rPr sz="1700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投资者尽早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出货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或轻仓。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06" name="picture 16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grpSp>
        <p:nvGrpSpPr>
          <p:cNvPr id="168" name="group 168"/>
          <p:cNvGrpSpPr/>
          <p:nvPr/>
        </p:nvGrpSpPr>
        <p:grpSpPr>
          <a:xfrm rot="21600000">
            <a:off x="1610360" y="701040"/>
            <a:ext cx="8518525" cy="22859"/>
            <a:chOff x="0" y="0"/>
            <a:chExt cx="8518525" cy="22859"/>
          </a:xfrm>
        </p:grpSpPr>
        <p:sp>
          <p:nvSpPr>
            <p:cNvPr id="1608" name="path 1608"/>
            <p:cNvSpPr/>
            <p:nvPr/>
          </p:nvSpPr>
          <p:spPr>
            <a:xfrm>
              <a:off x="0" y="0"/>
              <a:ext cx="3500754" cy="22859"/>
            </a:xfrm>
            <a:custGeom>
              <a:avLst/>
              <a:gdLst/>
              <a:ahLst/>
              <a:cxnLst/>
              <a:rect l="0" t="0" r="0" b="0"/>
              <a:pathLst>
                <a:path w="5512" h="35">
                  <a:moveTo>
                    <a:pt x="0" y="17"/>
                  </a:moveTo>
                  <a:lnTo>
                    <a:pt x="5512" y="17"/>
                  </a:lnTo>
                </a:path>
              </a:pathLst>
            </a:custGeom>
            <a:noFill/>
            <a:ln w="22859" cap="flat">
              <a:solidFill>
                <a:srgbClr val="C00000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10" name="path 1610"/>
            <p:cNvSpPr/>
            <p:nvPr/>
          </p:nvSpPr>
          <p:spPr>
            <a:xfrm>
              <a:off x="3500754" y="0"/>
              <a:ext cx="5017770" cy="22859"/>
            </a:xfrm>
            <a:custGeom>
              <a:avLst/>
              <a:gdLst/>
              <a:ahLst/>
              <a:cxnLst/>
              <a:rect l="0" t="0" r="0" b="0"/>
              <a:pathLst>
                <a:path w="7902" h="35">
                  <a:moveTo>
                    <a:pt x="0" y="17"/>
                  </a:moveTo>
                  <a:lnTo>
                    <a:pt x="7902" y="17"/>
                  </a:lnTo>
                </a:path>
              </a:pathLst>
            </a:custGeom>
            <a:noFill/>
            <a:ln w="22859" cap="flat">
              <a:solidFill>
                <a:srgbClr val="000000"/>
              </a:solidFill>
              <a:prstDash val="solid"/>
              <a:bevel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70" name="group 170"/>
          <p:cNvGrpSpPr/>
          <p:nvPr/>
        </p:nvGrpSpPr>
        <p:grpSpPr>
          <a:xfrm rot="21600000">
            <a:off x="1175003" y="1225296"/>
            <a:ext cx="1982724" cy="917447"/>
            <a:chOff x="0" y="0"/>
            <a:chExt cx="1982724" cy="917447"/>
          </a:xfrm>
        </p:grpSpPr>
        <p:pic>
          <p:nvPicPr>
            <p:cNvPr id="1614" name="picture 16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1982724" cy="917447"/>
            </a:xfrm>
            <a:prstGeom prst="rect">
              <a:avLst/>
            </a:prstGeom>
          </p:spPr>
        </p:pic>
        <p:sp>
          <p:nvSpPr>
            <p:cNvPr id="1616" name="textbox 1616"/>
            <p:cNvSpPr/>
            <p:nvPr/>
          </p:nvSpPr>
          <p:spPr>
            <a:xfrm>
              <a:off x="-12700" y="-12700"/>
              <a:ext cx="2008504" cy="9721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50190" algn="l" rtl="0" eaLnBrk="0">
                <a:lnSpc>
                  <a:spcPct val="89000"/>
                </a:lnSpc>
                <a:spcBef>
                  <a:spcPts val="5"/>
                </a:spcBef>
              </a:pPr>
              <a:r>
                <a:rPr sz="2300" b="1" kern="0" spc="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黑三兵</a:t>
              </a:r>
              <a:endParaRPr sz="2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618" name="textbox 1618"/>
          <p:cNvSpPr/>
          <p:nvPr/>
        </p:nvSpPr>
        <p:spPr>
          <a:xfrm>
            <a:off x="1609678" y="232060"/>
            <a:ext cx="3505200" cy="510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500" b="1" kern="0" spc="5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下降形态K线组合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20" name="textbox 1620"/>
          <p:cNvSpPr/>
          <p:nvPr/>
        </p:nvSpPr>
        <p:spPr>
          <a:xfrm>
            <a:off x="8369617" y="3547871"/>
            <a:ext cx="1151255" cy="9455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26035" algn="l" rtl="0" eaLnBrk="0">
              <a:lnSpc>
                <a:spcPct val="101000"/>
              </a:lnSpc>
            </a:pPr>
            <a:r>
              <a:rPr sz="1500" b="1" kern="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由3根阴线组 </a:t>
            </a:r>
            <a:r>
              <a:rPr sz="15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 ，每根阴</a:t>
            </a:r>
            <a:r>
              <a:rPr sz="15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线的收盘价</a:t>
            </a: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都节节下降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22" name="picture 16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129027" y="5437631"/>
            <a:ext cx="521207" cy="702563"/>
          </a:xfrm>
          <a:prstGeom prst="rect">
            <a:avLst/>
          </a:prstGeom>
        </p:spPr>
      </p:pic>
      <p:sp>
        <p:nvSpPr>
          <p:cNvPr id="1624" name="rect 1624"/>
          <p:cNvSpPr/>
          <p:nvPr/>
        </p:nvSpPr>
        <p:spPr>
          <a:xfrm>
            <a:off x="2749295" y="3067811"/>
            <a:ext cx="419100" cy="542544"/>
          </a:xfrm>
          <a:prstGeom prst="rect">
            <a:avLst/>
          </a:prstGeom>
          <a:solidFill>
            <a:srgbClr val="00B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26" name="rect 1626"/>
          <p:cNvSpPr/>
          <p:nvPr/>
        </p:nvSpPr>
        <p:spPr>
          <a:xfrm>
            <a:off x="3349752" y="3461003"/>
            <a:ext cx="419100" cy="469391"/>
          </a:xfrm>
          <a:prstGeom prst="rect">
            <a:avLst/>
          </a:prstGeom>
          <a:solidFill>
            <a:srgbClr val="00B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628" name="picture 16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sp>
        <p:nvSpPr>
          <p:cNvPr id="1630" name="path 1630"/>
          <p:cNvSpPr/>
          <p:nvPr/>
        </p:nvSpPr>
        <p:spPr>
          <a:xfrm>
            <a:off x="7524750" y="3267075"/>
            <a:ext cx="522287" cy="287337"/>
          </a:xfrm>
          <a:custGeom>
            <a:avLst/>
            <a:gdLst/>
            <a:ahLst/>
            <a:cxnLst/>
            <a:rect l="0" t="0" r="0" b="0"/>
            <a:pathLst>
              <a:path w="822" h="452">
                <a:moveTo>
                  <a:pt x="0" y="0"/>
                </a:moveTo>
                <a:lnTo>
                  <a:pt x="222" y="0"/>
                </a:lnTo>
                <a:lnTo>
                  <a:pt x="447" y="225"/>
                </a:lnTo>
                <a:lnTo>
                  <a:pt x="222" y="452"/>
                </a:lnTo>
                <a:lnTo>
                  <a:pt x="0" y="452"/>
                </a:lnTo>
                <a:lnTo>
                  <a:pt x="222" y="225"/>
                </a:lnTo>
                <a:lnTo>
                  <a:pt x="0" y="0"/>
                </a:lnTo>
              </a:path>
              <a:path w="822" h="452">
                <a:moveTo>
                  <a:pt x="370" y="0"/>
                </a:moveTo>
                <a:lnTo>
                  <a:pt x="596" y="0"/>
                </a:lnTo>
                <a:lnTo>
                  <a:pt x="822" y="225"/>
                </a:lnTo>
                <a:lnTo>
                  <a:pt x="596" y="452"/>
                </a:lnTo>
                <a:lnTo>
                  <a:pt x="370" y="452"/>
                </a:lnTo>
                <a:lnTo>
                  <a:pt x="596" y="225"/>
                </a:lnTo>
                <a:lnTo>
                  <a:pt x="370" y="0"/>
                </a:lnTo>
              </a:path>
            </a:pathLst>
          </a:cu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32" name="rect 1632"/>
          <p:cNvSpPr/>
          <p:nvPr/>
        </p:nvSpPr>
        <p:spPr>
          <a:xfrm>
            <a:off x="2153411" y="2927604"/>
            <a:ext cx="419100" cy="234695"/>
          </a:xfrm>
          <a:prstGeom prst="rect">
            <a:avLst/>
          </a:prstGeom>
          <a:solidFill>
            <a:srgbClr val="00B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634" name="picture 16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787384" y="2673096"/>
            <a:ext cx="224028" cy="365759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textbox 1636"/>
          <p:cNvSpPr/>
          <p:nvPr/>
        </p:nvSpPr>
        <p:spPr>
          <a:xfrm rot="19620000">
            <a:off x="1805468" y="3126375"/>
            <a:ext cx="8372475" cy="93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 ，</a:t>
            </a:r>
            <a:r>
              <a:rPr sz="5800" kern="0" spc="-14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38" name="picture 16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207252" y="2107692"/>
            <a:ext cx="3707891" cy="3015995"/>
          </a:xfrm>
          <a:prstGeom prst="rect">
            <a:avLst/>
          </a:prstGeom>
        </p:spPr>
      </p:pic>
      <p:graphicFrame>
        <p:nvGraphicFramePr>
          <p:cNvPr id="1640" name="table 1640"/>
          <p:cNvGraphicFramePr>
            <a:graphicFrameLocks noGrp="1"/>
          </p:cNvGraphicFramePr>
          <p:nvPr/>
        </p:nvGraphicFramePr>
        <p:xfrm>
          <a:off x="3024505" y="5492750"/>
          <a:ext cx="6867525" cy="658494"/>
        </p:xfrm>
        <a:graphic>
          <a:graphicData uri="http://schemas.openxmlformats.org/drawingml/2006/table">
            <a:tbl>
              <a:tblPr/>
              <a:tblGrid>
                <a:gridCol w="6867525"/>
              </a:tblGrid>
              <a:tr h="6521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7950" indent="-2540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</a:pP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股价已经见顶 ，股价可能会由强转弱 ，后市看跌。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投资者尽早</a:t>
                      </a: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出货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</a:t>
                      </a: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或轻仓。</a:t>
                      </a:r>
                      <a:endParaRPr sz="1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72" name="group 172"/>
          <p:cNvGrpSpPr/>
          <p:nvPr/>
        </p:nvGrpSpPr>
        <p:grpSpPr>
          <a:xfrm rot="21600000">
            <a:off x="1175003" y="1225296"/>
            <a:ext cx="1982724" cy="917447"/>
            <a:chOff x="0" y="0"/>
            <a:chExt cx="1982724" cy="917447"/>
          </a:xfrm>
        </p:grpSpPr>
        <p:pic>
          <p:nvPicPr>
            <p:cNvPr id="1642" name="picture 164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982724" cy="917447"/>
            </a:xfrm>
            <a:prstGeom prst="rect">
              <a:avLst/>
            </a:prstGeom>
          </p:spPr>
        </p:pic>
        <p:sp>
          <p:nvSpPr>
            <p:cNvPr id="1644" name="textbox 1644"/>
            <p:cNvSpPr/>
            <p:nvPr/>
          </p:nvSpPr>
          <p:spPr>
            <a:xfrm>
              <a:off x="-12700" y="-12700"/>
              <a:ext cx="2008504" cy="9734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48920" algn="l" rtl="0" eaLnBrk="0">
                <a:lnSpc>
                  <a:spcPct val="91000"/>
                </a:lnSpc>
                <a:spcBef>
                  <a:spcPts val="5"/>
                </a:spcBef>
              </a:pPr>
              <a:r>
                <a:rPr sz="2300" b="1" kern="0" spc="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五阴连天</a:t>
              </a:r>
              <a:endParaRPr sz="2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646" name="picture 16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sp>
        <p:nvSpPr>
          <p:cNvPr id="1650" name="textbox 1650"/>
          <p:cNvSpPr/>
          <p:nvPr/>
        </p:nvSpPr>
        <p:spPr>
          <a:xfrm>
            <a:off x="8587358" y="3747579"/>
            <a:ext cx="1125219" cy="9455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7625" indent="-34925" algn="l" rtl="0" eaLnBrk="0">
              <a:lnSpc>
                <a:spcPct val="101000"/>
              </a:lnSpc>
            </a:pPr>
            <a:r>
              <a:rPr sz="1500" b="1" kern="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由5根阴线组 </a:t>
            </a:r>
            <a:r>
              <a:rPr sz="15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 ，每根阴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线的收盘价</a:t>
            </a:r>
            <a:r>
              <a:rPr sz="15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都节节下降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52" name="picture 16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1654" name="picture 16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  <p:pic>
        <p:nvPicPr>
          <p:cNvPr id="1656" name="picture 165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382011" y="5437631"/>
            <a:ext cx="519683" cy="702563"/>
          </a:xfrm>
          <a:prstGeom prst="rect">
            <a:avLst/>
          </a:prstGeom>
        </p:spPr>
      </p:pic>
      <p:sp>
        <p:nvSpPr>
          <p:cNvPr id="1658" name="rect 1658"/>
          <p:cNvSpPr/>
          <p:nvPr/>
        </p:nvSpPr>
        <p:spPr>
          <a:xfrm>
            <a:off x="4396740" y="3851148"/>
            <a:ext cx="419100" cy="614172"/>
          </a:xfrm>
          <a:prstGeom prst="rect">
            <a:avLst/>
          </a:prstGeom>
          <a:solidFill>
            <a:srgbClr val="00B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60" name="rect 1660"/>
          <p:cNvSpPr/>
          <p:nvPr/>
        </p:nvSpPr>
        <p:spPr>
          <a:xfrm>
            <a:off x="1897379" y="2784347"/>
            <a:ext cx="419100" cy="541020"/>
          </a:xfrm>
          <a:prstGeom prst="rect">
            <a:avLst/>
          </a:prstGeom>
          <a:solidFill>
            <a:srgbClr val="00B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62" name="rect 1662"/>
          <p:cNvSpPr/>
          <p:nvPr/>
        </p:nvSpPr>
        <p:spPr>
          <a:xfrm>
            <a:off x="3148583" y="3393948"/>
            <a:ext cx="419099" cy="496823"/>
          </a:xfrm>
          <a:prstGeom prst="rect">
            <a:avLst/>
          </a:prstGeom>
          <a:solidFill>
            <a:srgbClr val="00B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64" name="rect 1664"/>
          <p:cNvSpPr/>
          <p:nvPr/>
        </p:nvSpPr>
        <p:spPr>
          <a:xfrm>
            <a:off x="2522220" y="3165347"/>
            <a:ext cx="419100" cy="469391"/>
          </a:xfrm>
          <a:prstGeom prst="rect">
            <a:avLst/>
          </a:prstGeom>
          <a:solidFill>
            <a:srgbClr val="00B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66" name="textbox 1666"/>
          <p:cNvSpPr/>
          <p:nvPr/>
        </p:nvSpPr>
        <p:spPr>
          <a:xfrm>
            <a:off x="6444487" y="3760914"/>
            <a:ext cx="1001394" cy="233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1500" b="1" kern="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出现在顶部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68" name="rect 1668"/>
          <p:cNvSpPr/>
          <p:nvPr/>
        </p:nvSpPr>
        <p:spPr>
          <a:xfrm>
            <a:off x="3773423" y="3678935"/>
            <a:ext cx="419100" cy="397764"/>
          </a:xfrm>
          <a:prstGeom prst="rect">
            <a:avLst/>
          </a:prstGeom>
          <a:solidFill>
            <a:srgbClr val="00B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0" name="picture 16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048000" y="5451347"/>
            <a:ext cx="6870192" cy="656844"/>
          </a:xfrm>
          <a:prstGeom prst="rect">
            <a:avLst/>
          </a:prstGeom>
        </p:spPr>
      </p:pic>
      <p:sp>
        <p:nvSpPr>
          <p:cNvPr id="1672" name="textbox 1672"/>
          <p:cNvSpPr/>
          <p:nvPr/>
        </p:nvSpPr>
        <p:spPr>
          <a:xfrm rot="19620000">
            <a:off x="2163479" y="4354838"/>
            <a:ext cx="3795395" cy="925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  <a:spcBef>
                <a:spcPts val="0"/>
              </a:spcBef>
            </a:pPr>
            <a:r>
              <a:rPr sz="5800" kern="0" spc="1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74" name="textbox 1674"/>
          <p:cNvSpPr/>
          <p:nvPr/>
        </p:nvSpPr>
        <p:spPr>
          <a:xfrm rot="19620000">
            <a:off x="5996730" y="1886515"/>
            <a:ext cx="3796029" cy="932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1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76" name="picture 16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344156" y="1851659"/>
            <a:ext cx="1588007" cy="3015996"/>
          </a:xfrm>
          <a:prstGeom prst="rect">
            <a:avLst/>
          </a:prstGeom>
        </p:spPr>
      </p:pic>
      <p:pic>
        <p:nvPicPr>
          <p:cNvPr id="1678" name="picture 16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169408" y="1851659"/>
            <a:ext cx="1586484" cy="3015996"/>
          </a:xfrm>
          <a:prstGeom prst="rect">
            <a:avLst/>
          </a:prstGeom>
        </p:spPr>
      </p:pic>
      <p:pic>
        <p:nvPicPr>
          <p:cNvPr id="1680" name="picture 16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525000" y="1851659"/>
            <a:ext cx="1586483" cy="3015996"/>
          </a:xfrm>
          <a:prstGeom prst="rect">
            <a:avLst/>
          </a:prstGeom>
        </p:spPr>
      </p:pic>
      <p:sp>
        <p:nvSpPr>
          <p:cNvPr id="1682" name="textbox 1682"/>
          <p:cNvSpPr/>
          <p:nvPr/>
        </p:nvSpPr>
        <p:spPr>
          <a:xfrm>
            <a:off x="3137351" y="5544784"/>
            <a:ext cx="6640194" cy="5245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240" indent="-2540" algn="l" rtl="0" eaLnBrk="0">
              <a:lnSpc>
                <a:spcPct val="96000"/>
              </a:lnSpc>
            </a:pP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股价已经见顶 ，股价可能会由强转弱 ，后市看跌。</a:t>
            </a:r>
            <a:r>
              <a:rPr sz="1700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投资者尽早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出货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或轻仓。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84" name="picture 168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629155" y="2535936"/>
            <a:ext cx="2737103" cy="946403"/>
          </a:xfrm>
          <a:prstGeom prst="rect">
            <a:avLst/>
          </a:prstGeom>
        </p:spPr>
      </p:pic>
      <p:grpSp>
        <p:nvGrpSpPr>
          <p:cNvPr id="174" name="group 174"/>
          <p:cNvGrpSpPr/>
          <p:nvPr/>
        </p:nvGrpSpPr>
        <p:grpSpPr>
          <a:xfrm rot="21600000">
            <a:off x="1175003" y="1225296"/>
            <a:ext cx="1982724" cy="917447"/>
            <a:chOff x="0" y="0"/>
            <a:chExt cx="1982724" cy="917447"/>
          </a:xfrm>
        </p:grpSpPr>
        <p:pic>
          <p:nvPicPr>
            <p:cNvPr id="1686" name="picture 168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1982724" cy="917447"/>
            </a:xfrm>
            <a:prstGeom prst="rect">
              <a:avLst/>
            </a:prstGeom>
          </p:spPr>
        </p:pic>
        <p:sp>
          <p:nvSpPr>
            <p:cNvPr id="1688" name="textbox 1688"/>
            <p:cNvSpPr/>
            <p:nvPr/>
          </p:nvSpPr>
          <p:spPr>
            <a:xfrm>
              <a:off x="-12700" y="-12700"/>
              <a:ext cx="2008504" cy="9728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45110" algn="l" rtl="0" eaLnBrk="0">
                <a:lnSpc>
                  <a:spcPct val="91000"/>
                </a:lnSpc>
                <a:spcBef>
                  <a:spcPts val="5"/>
                </a:spcBef>
              </a:pPr>
              <a:r>
                <a:rPr sz="2300" b="1" kern="0" spc="5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低档排列</a:t>
              </a:r>
              <a:endParaRPr sz="2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690" name="picture 169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sp>
        <p:nvSpPr>
          <p:cNvPr id="1694" name="textbox 1694"/>
          <p:cNvSpPr/>
          <p:nvPr/>
        </p:nvSpPr>
        <p:spPr>
          <a:xfrm>
            <a:off x="9740519" y="2543473"/>
            <a:ext cx="1026160" cy="19564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10540" algn="l" rtl="0" eaLnBrk="0">
              <a:lnSpc>
                <a:spcPct val="83000"/>
              </a:lnSpc>
            </a:pPr>
            <a:r>
              <a:rPr sz="2400" kern="0" spc="-20" dirty="0">
                <a:solidFill>
                  <a:srgbClr val="30203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2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8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2540" algn="l" rtl="0" eaLnBrk="0">
              <a:lnSpc>
                <a:spcPct val="100000"/>
              </a:lnSpc>
            </a:pPr>
            <a:r>
              <a:rPr sz="15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小阳、</a:t>
            </a:r>
            <a:r>
              <a:rPr sz="1500" b="1" kern="0" spc="-1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小阴</a:t>
            </a: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线的最高价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都低于阴线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的最低价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96" name="textbox 1696"/>
          <p:cNvSpPr/>
          <p:nvPr/>
        </p:nvSpPr>
        <p:spPr>
          <a:xfrm>
            <a:off x="7554073" y="3252914"/>
            <a:ext cx="1355725" cy="14300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6350" algn="l" rtl="0" eaLnBrk="0">
              <a:lnSpc>
                <a:spcPct val="102000"/>
              </a:lnSpc>
              <a:spcBef>
                <a:spcPts val="0"/>
              </a:spcBef>
            </a:pP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多根阴线组成， </a:t>
            </a: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第一根K线为</a:t>
            </a: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中阴线或大阴</a:t>
            </a: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500" b="1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 ，</a:t>
            </a:r>
            <a:r>
              <a:rPr sz="1500" b="1" kern="0" spc="-2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紧接着多</a:t>
            </a: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根小阳、</a:t>
            </a:r>
            <a:r>
              <a:rPr sz="1500" b="1" kern="0" spc="-1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小阴</a:t>
            </a: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5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98" name="picture 169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1700" name="picture 170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  <p:pic>
        <p:nvPicPr>
          <p:cNvPr id="1702" name="picture 170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2382011" y="5437631"/>
            <a:ext cx="519683" cy="702563"/>
          </a:xfrm>
          <a:prstGeom prst="rect">
            <a:avLst/>
          </a:prstGeom>
        </p:spPr>
      </p:pic>
      <p:sp>
        <p:nvSpPr>
          <p:cNvPr id="1704" name="textbox 1704"/>
          <p:cNvSpPr/>
          <p:nvPr/>
        </p:nvSpPr>
        <p:spPr>
          <a:xfrm>
            <a:off x="5406263" y="3636454"/>
            <a:ext cx="1001394" cy="233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1500" b="1" kern="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出现在顶部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06" name="path 1706"/>
          <p:cNvSpPr/>
          <p:nvPr/>
        </p:nvSpPr>
        <p:spPr>
          <a:xfrm>
            <a:off x="6772275" y="3117850"/>
            <a:ext cx="523875" cy="287337"/>
          </a:xfrm>
          <a:custGeom>
            <a:avLst/>
            <a:gdLst/>
            <a:ahLst/>
            <a:cxnLst/>
            <a:rect l="0" t="0" r="0" b="0"/>
            <a:pathLst>
              <a:path w="825" h="452">
                <a:moveTo>
                  <a:pt x="0" y="0"/>
                </a:moveTo>
                <a:lnTo>
                  <a:pt x="225" y="0"/>
                </a:lnTo>
                <a:lnTo>
                  <a:pt x="449" y="225"/>
                </a:lnTo>
                <a:lnTo>
                  <a:pt x="225" y="452"/>
                </a:lnTo>
                <a:lnTo>
                  <a:pt x="0" y="452"/>
                </a:lnTo>
                <a:lnTo>
                  <a:pt x="225" y="225"/>
                </a:lnTo>
                <a:lnTo>
                  <a:pt x="0" y="0"/>
                </a:lnTo>
              </a:path>
              <a:path w="825" h="452">
                <a:moveTo>
                  <a:pt x="371" y="0"/>
                </a:moveTo>
                <a:lnTo>
                  <a:pt x="598" y="0"/>
                </a:lnTo>
                <a:lnTo>
                  <a:pt x="825" y="225"/>
                </a:lnTo>
                <a:lnTo>
                  <a:pt x="598" y="452"/>
                </a:lnTo>
                <a:lnTo>
                  <a:pt x="371" y="452"/>
                </a:lnTo>
                <a:lnTo>
                  <a:pt x="598" y="225"/>
                </a:lnTo>
                <a:lnTo>
                  <a:pt x="371" y="0"/>
                </a:lnTo>
              </a:path>
            </a:pathLst>
          </a:cu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08" name="path 1708"/>
          <p:cNvSpPr/>
          <p:nvPr/>
        </p:nvSpPr>
        <p:spPr>
          <a:xfrm>
            <a:off x="8986837" y="3117850"/>
            <a:ext cx="522287" cy="287337"/>
          </a:xfrm>
          <a:custGeom>
            <a:avLst/>
            <a:gdLst/>
            <a:ahLst/>
            <a:cxnLst/>
            <a:rect l="0" t="0" r="0" b="0"/>
            <a:pathLst>
              <a:path w="822" h="452">
                <a:moveTo>
                  <a:pt x="0" y="0"/>
                </a:moveTo>
                <a:lnTo>
                  <a:pt x="222" y="0"/>
                </a:lnTo>
                <a:lnTo>
                  <a:pt x="447" y="225"/>
                </a:lnTo>
                <a:lnTo>
                  <a:pt x="222" y="452"/>
                </a:lnTo>
                <a:lnTo>
                  <a:pt x="0" y="452"/>
                </a:lnTo>
                <a:lnTo>
                  <a:pt x="222" y="225"/>
                </a:lnTo>
                <a:lnTo>
                  <a:pt x="0" y="0"/>
                </a:lnTo>
              </a:path>
              <a:path w="822" h="452">
                <a:moveTo>
                  <a:pt x="371" y="0"/>
                </a:moveTo>
                <a:lnTo>
                  <a:pt x="596" y="0"/>
                </a:lnTo>
                <a:lnTo>
                  <a:pt x="822" y="225"/>
                </a:lnTo>
                <a:lnTo>
                  <a:pt x="596" y="452"/>
                </a:lnTo>
                <a:lnTo>
                  <a:pt x="371" y="452"/>
                </a:lnTo>
                <a:lnTo>
                  <a:pt x="596" y="225"/>
                </a:lnTo>
                <a:lnTo>
                  <a:pt x="371" y="0"/>
                </a:lnTo>
              </a:path>
            </a:pathLst>
          </a:custGeom>
          <a:solidFill>
            <a:srgbClr val="33993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10" name="rect 1710"/>
          <p:cNvSpPr/>
          <p:nvPr/>
        </p:nvSpPr>
        <p:spPr>
          <a:xfrm>
            <a:off x="3648455" y="3736848"/>
            <a:ext cx="419100" cy="327659"/>
          </a:xfrm>
          <a:prstGeom prst="rect">
            <a:avLst/>
          </a:prstGeom>
          <a:solidFill>
            <a:srgbClr val="00B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12" name="rect 1712"/>
          <p:cNvSpPr/>
          <p:nvPr/>
        </p:nvSpPr>
        <p:spPr>
          <a:xfrm>
            <a:off x="2430779" y="3617975"/>
            <a:ext cx="419100" cy="326135"/>
          </a:xfrm>
          <a:prstGeom prst="rect">
            <a:avLst/>
          </a:prstGeom>
          <a:solidFill>
            <a:srgbClr val="00B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14" name="rect 1714"/>
          <p:cNvSpPr/>
          <p:nvPr/>
        </p:nvSpPr>
        <p:spPr>
          <a:xfrm>
            <a:off x="3038855" y="3797808"/>
            <a:ext cx="419100" cy="207264"/>
          </a:xfrm>
          <a:prstGeom prst="rect">
            <a:avLst/>
          </a:pr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716" name="picture 17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8026907" y="2534411"/>
            <a:ext cx="239268" cy="359664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textbox 1718"/>
          <p:cNvSpPr/>
          <p:nvPr/>
        </p:nvSpPr>
        <p:spPr>
          <a:xfrm rot="19620000">
            <a:off x="1805468" y="3126375"/>
            <a:ext cx="8372475" cy="93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 ，</a:t>
            </a:r>
            <a:r>
              <a:rPr sz="5800" kern="0" spc="-14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76" name="group 176"/>
          <p:cNvGrpSpPr/>
          <p:nvPr/>
        </p:nvGrpSpPr>
        <p:grpSpPr>
          <a:xfrm rot="21600000">
            <a:off x="7777162" y="2081783"/>
            <a:ext cx="2125788" cy="3014472"/>
            <a:chOff x="0" y="0"/>
            <a:chExt cx="2125788" cy="3014472"/>
          </a:xfrm>
        </p:grpSpPr>
        <p:pic>
          <p:nvPicPr>
            <p:cNvPr id="1720" name="picture 172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539305" y="0"/>
              <a:ext cx="1586483" cy="3014472"/>
            </a:xfrm>
            <a:prstGeom prst="rect">
              <a:avLst/>
            </a:prstGeom>
          </p:spPr>
        </p:pic>
        <p:sp>
          <p:nvSpPr>
            <p:cNvPr id="1722" name="textbox 1722"/>
            <p:cNvSpPr/>
            <p:nvPr/>
          </p:nvSpPr>
          <p:spPr>
            <a:xfrm>
              <a:off x="853376" y="1462277"/>
              <a:ext cx="1150619" cy="14300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indent="24765" algn="l" rtl="0" eaLnBrk="0">
                <a:lnSpc>
                  <a:spcPct val="102000"/>
                </a:lnSpc>
                <a:spcBef>
                  <a:spcPts val="0"/>
                </a:spcBef>
              </a:pPr>
              <a:r>
                <a:rPr sz="1500" b="1" kern="0" spc="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由3根阴线组 </a:t>
              </a:r>
              <a:r>
                <a:rPr sz="1500" b="1" kern="0" spc="-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成 ，第一根</a:t>
              </a:r>
              <a:r>
                <a:rPr sz="1500" b="1" kern="0" spc="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</a:t>
              </a:r>
              <a:r>
                <a:rPr sz="1500" b="1" kern="0" spc="6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阴线跳空高</a:t>
              </a:r>
              <a:r>
                <a:rPr sz="1500" b="1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</a:t>
              </a:r>
              <a:r>
                <a:rPr sz="1500" b="1" kern="0" spc="-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开 ，</a:t>
              </a:r>
              <a:r>
                <a:rPr sz="1500" b="1" kern="0" spc="-29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b="1" kern="0" spc="-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其他两</a:t>
              </a:r>
              <a:r>
                <a:rPr sz="1500" b="1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</a:t>
              </a:r>
              <a:r>
                <a:rPr sz="1500" b="1" kern="0" spc="6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个阴线跳空</a:t>
              </a:r>
              <a:r>
                <a:rPr sz="1500" b="1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</a:t>
              </a:r>
              <a:r>
                <a:rPr sz="1500" b="1" kern="0" spc="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低开</a:t>
              </a:r>
              <a:endParaRPr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24" name="path 1724"/>
            <p:cNvSpPr/>
            <p:nvPr/>
          </p:nvSpPr>
          <p:spPr>
            <a:xfrm>
              <a:off x="0" y="1266253"/>
              <a:ext cx="522287" cy="287337"/>
            </a:xfrm>
            <a:custGeom>
              <a:avLst/>
              <a:gdLst/>
              <a:ahLst/>
              <a:cxnLst/>
              <a:rect l="0" t="0" r="0" b="0"/>
              <a:pathLst>
                <a:path w="822" h="452">
                  <a:moveTo>
                    <a:pt x="0" y="0"/>
                  </a:moveTo>
                  <a:lnTo>
                    <a:pt x="224" y="0"/>
                  </a:lnTo>
                  <a:lnTo>
                    <a:pt x="450" y="225"/>
                  </a:lnTo>
                  <a:lnTo>
                    <a:pt x="224" y="452"/>
                  </a:lnTo>
                  <a:lnTo>
                    <a:pt x="0" y="452"/>
                  </a:lnTo>
                  <a:lnTo>
                    <a:pt x="224" y="225"/>
                  </a:lnTo>
                  <a:lnTo>
                    <a:pt x="0" y="0"/>
                  </a:lnTo>
                </a:path>
                <a:path w="822" h="452">
                  <a:moveTo>
                    <a:pt x="373" y="0"/>
                  </a:moveTo>
                  <a:lnTo>
                    <a:pt x="599" y="0"/>
                  </a:lnTo>
                  <a:lnTo>
                    <a:pt x="822" y="225"/>
                  </a:lnTo>
                  <a:lnTo>
                    <a:pt x="599" y="452"/>
                  </a:lnTo>
                  <a:lnTo>
                    <a:pt x="373" y="452"/>
                  </a:lnTo>
                  <a:lnTo>
                    <a:pt x="599" y="225"/>
                  </a:lnTo>
                  <a:lnTo>
                    <a:pt x="373" y="0"/>
                  </a:lnTo>
                </a:path>
              </a:pathLst>
            </a:custGeom>
            <a:solidFill>
              <a:srgbClr val="33993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1726" name="picture 172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1220534" y="719328"/>
              <a:ext cx="239268" cy="365759"/>
            </a:xfrm>
            <a:prstGeom prst="rect">
              <a:avLst/>
            </a:prstGeom>
          </p:spPr>
        </p:pic>
      </p:grpSp>
      <p:grpSp>
        <p:nvGrpSpPr>
          <p:cNvPr id="178" name="group 178"/>
          <p:cNvGrpSpPr/>
          <p:nvPr/>
        </p:nvGrpSpPr>
        <p:grpSpPr>
          <a:xfrm rot="21600000">
            <a:off x="6135623" y="2081783"/>
            <a:ext cx="1586483" cy="3014472"/>
            <a:chOff x="0" y="0"/>
            <a:chExt cx="1586483" cy="3014472"/>
          </a:xfrm>
        </p:grpSpPr>
        <p:pic>
          <p:nvPicPr>
            <p:cNvPr id="1728" name="picture 17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586483" cy="3014472"/>
            </a:xfrm>
            <a:prstGeom prst="rect">
              <a:avLst/>
            </a:prstGeom>
          </p:spPr>
        </p:pic>
        <p:sp>
          <p:nvSpPr>
            <p:cNvPr id="1730" name="textbox 1730"/>
            <p:cNvSpPr/>
            <p:nvPr/>
          </p:nvSpPr>
          <p:spPr>
            <a:xfrm>
              <a:off x="-12700" y="-12700"/>
              <a:ext cx="1612264" cy="30594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62255" algn="l" rtl="0" eaLnBrk="0">
                <a:lnSpc>
                  <a:spcPct val="91000"/>
                </a:lnSpc>
              </a:pPr>
              <a:r>
                <a:rPr sz="1500" b="1" kern="0" spc="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出现在顶部</a:t>
              </a:r>
              <a:endParaRPr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aphicFrame>
        <p:nvGraphicFramePr>
          <p:cNvPr id="1732" name="table 1732"/>
          <p:cNvGraphicFramePr>
            <a:graphicFrameLocks noGrp="1"/>
          </p:cNvGraphicFramePr>
          <p:nvPr/>
        </p:nvGraphicFramePr>
        <p:xfrm>
          <a:off x="3009900" y="5475604"/>
          <a:ext cx="6870700" cy="658494"/>
        </p:xfrm>
        <a:graphic>
          <a:graphicData uri="http://schemas.openxmlformats.org/drawingml/2006/table">
            <a:tbl>
              <a:tblPr/>
              <a:tblGrid>
                <a:gridCol w="6870700"/>
              </a:tblGrid>
              <a:tr h="6521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7950" indent="-2540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</a:pP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股价已经见顶 ，股价可能会由强转弱 ，后市看跌。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投资者尽早</a:t>
                      </a: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出货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</a:t>
                      </a: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或轻仓。</a:t>
                      </a:r>
                      <a:endParaRPr sz="1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12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80" name="group 180"/>
          <p:cNvGrpSpPr/>
          <p:nvPr/>
        </p:nvGrpSpPr>
        <p:grpSpPr>
          <a:xfrm rot="21600000">
            <a:off x="1175003" y="1225296"/>
            <a:ext cx="1982724" cy="917447"/>
            <a:chOff x="0" y="0"/>
            <a:chExt cx="1982724" cy="917447"/>
          </a:xfrm>
        </p:grpSpPr>
        <p:pic>
          <p:nvPicPr>
            <p:cNvPr id="1734" name="picture 173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982724" cy="917447"/>
            </a:xfrm>
            <a:prstGeom prst="rect">
              <a:avLst/>
            </a:prstGeom>
          </p:spPr>
        </p:pic>
        <p:sp>
          <p:nvSpPr>
            <p:cNvPr id="1736" name="textbox 1736"/>
            <p:cNvSpPr/>
            <p:nvPr/>
          </p:nvSpPr>
          <p:spPr>
            <a:xfrm>
              <a:off x="-12700" y="-12700"/>
              <a:ext cx="2008504" cy="9734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54635" algn="l" rtl="0" eaLnBrk="0">
                <a:lnSpc>
                  <a:spcPct val="91000"/>
                </a:lnSpc>
                <a:spcBef>
                  <a:spcPts val="5"/>
                </a:spcBef>
              </a:pPr>
              <a:r>
                <a:rPr sz="2300" b="1" kern="0" spc="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三级跳水</a:t>
              </a:r>
              <a:endParaRPr sz="23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738" name="picture 17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pic>
        <p:nvPicPr>
          <p:cNvPr id="1742" name="picture 174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1744" name="picture 17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  <p:pic>
        <p:nvPicPr>
          <p:cNvPr id="1746" name="picture 174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382011" y="5437631"/>
            <a:ext cx="519683" cy="702563"/>
          </a:xfrm>
          <a:prstGeom prst="rect">
            <a:avLst/>
          </a:prstGeom>
        </p:spPr>
      </p:pic>
      <p:sp>
        <p:nvSpPr>
          <p:cNvPr id="1748" name="rect 1748"/>
          <p:cNvSpPr/>
          <p:nvPr/>
        </p:nvSpPr>
        <p:spPr>
          <a:xfrm>
            <a:off x="2388107" y="2772155"/>
            <a:ext cx="419100" cy="612647"/>
          </a:xfrm>
          <a:prstGeom prst="rect">
            <a:avLst/>
          </a:prstGeom>
          <a:solidFill>
            <a:srgbClr val="00B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50" name="rect 1750"/>
          <p:cNvSpPr/>
          <p:nvPr/>
        </p:nvSpPr>
        <p:spPr>
          <a:xfrm>
            <a:off x="4213859" y="4180332"/>
            <a:ext cx="419100" cy="541020"/>
          </a:xfrm>
          <a:prstGeom prst="rect">
            <a:avLst/>
          </a:prstGeom>
          <a:solidFill>
            <a:srgbClr val="00B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52" name="rect 1752"/>
          <p:cNvSpPr/>
          <p:nvPr/>
        </p:nvSpPr>
        <p:spPr>
          <a:xfrm>
            <a:off x="3300983" y="3500628"/>
            <a:ext cx="419100" cy="469391"/>
          </a:xfrm>
          <a:prstGeom prst="rect">
            <a:avLst/>
          </a:prstGeom>
          <a:solidFill>
            <a:srgbClr val="00B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5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1052" t="13577" r="8427"/>
          <a:stretch>
            <a:fillRect/>
          </a:stretch>
        </p:blipFill>
        <p:spPr>
          <a:xfrm>
            <a:off x="1587500" y="1203325"/>
            <a:ext cx="9372600" cy="522605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8" name="picture 17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sp>
        <p:nvSpPr>
          <p:cNvPr id="1760" name="textbox 1760"/>
          <p:cNvSpPr/>
          <p:nvPr/>
        </p:nvSpPr>
        <p:spPr>
          <a:xfrm rot="19620000">
            <a:off x="2225429" y="4224970"/>
            <a:ext cx="4465320" cy="9201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  <a:spcBef>
                <a:spcPts val="5"/>
              </a:spcBef>
            </a:pPr>
            <a:r>
              <a:rPr sz="5700" kern="0" spc="17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</a:t>
            </a:r>
            <a:r>
              <a:rPr sz="5700" kern="0" spc="-78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700" kern="0" spc="-394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sz="5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62" name="picture 17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87323" y="1197864"/>
            <a:ext cx="5318759" cy="5318759"/>
          </a:xfrm>
          <a:prstGeom prst="rect">
            <a:avLst/>
          </a:prstGeom>
        </p:spPr>
      </p:pic>
      <p:sp>
        <p:nvSpPr>
          <p:cNvPr id="1764" name="textbox 1764"/>
          <p:cNvSpPr/>
          <p:nvPr/>
        </p:nvSpPr>
        <p:spPr>
          <a:xfrm rot="19620000">
            <a:off x="6045913" y="1881231"/>
            <a:ext cx="3755390" cy="917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  <a:spcBef>
                <a:spcPts val="0"/>
              </a:spcBef>
            </a:pPr>
            <a:r>
              <a:rPr sz="5800" kern="0" spc="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</a:t>
            </a:r>
            <a:r>
              <a:rPr sz="5800" kern="0" spc="5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</a:t>
            </a:r>
            <a:r>
              <a:rPr sz="5800" kern="0" spc="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66" name="textbox 1766"/>
          <p:cNvSpPr/>
          <p:nvPr/>
        </p:nvSpPr>
        <p:spPr>
          <a:xfrm>
            <a:off x="6487667" y="1502664"/>
            <a:ext cx="5153025" cy="4709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  <a:extLst>
            <a:ext uri="{909E8E84-426E-40DD-AFC4-6F175D3DCCD1}">
              <a14:hiddenFill xmlns:a14="http://schemas.microsoft.com/office/drawing/2010/main">
                <a:solidFill>
                  <a:srgbClr val="FFC000">
                    <a:alpha val="100000"/>
                  </a:srgbClr>
                </a:solidFill>
              </a14:hiddenFill>
            </a:ext>
          </a:extLst>
        </p:spPr>
        <p:txBody>
          <a:bodyPr vert="horz" wrap="square" lIns="0" tIns="0" rIns="0" bIns="0"/>
          <a:lstStyle/>
          <a:p>
            <a:pPr algn="l" rtl="0" eaLnBrk="0">
              <a:lnSpc>
                <a:spcPct val="122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4615" indent="511810" algn="l" rtl="0" eaLnBrk="0">
              <a:lnSpc>
                <a:spcPct val="99000"/>
              </a:lnSpc>
              <a:spcBef>
                <a:spcPts val="0"/>
              </a:spcBef>
            </a:pP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左边大阳线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，表明股价涨幅较大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b="1" kern="0" spc="-4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对应量高于平均量</a:t>
            </a:r>
            <a:r>
              <a:rPr sz="2000" b="1" kern="0" spc="-3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，是放量的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，成交比较活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跃。这种放量大阳线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，说明买卖双方有密集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成交</a:t>
            </a:r>
            <a:r>
              <a:rPr sz="2000" b="1" kern="0" spc="-3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，有分歧。有很多人在卖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，但买的人更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</a:t>
            </a:r>
            <a:r>
              <a:rPr sz="2000" b="1" kern="0" spc="-3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，不断有人出更高价买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，形成巨大涨幅。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我们称之为放量上涨</a:t>
            </a:r>
            <a:r>
              <a:rPr sz="2000" b="1" kern="0" spc="-3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，量价齐升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，表明市场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资金看好</a:t>
            </a:r>
            <a:r>
              <a:rPr sz="2000" b="1" kern="0" spc="-3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，后续持续上涨概率较大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，多现在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低位主力建仓吸筹阶段。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7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5250" indent="509905" algn="l" rtl="0" eaLnBrk="0">
              <a:lnSpc>
                <a:spcPct val="98000"/>
              </a:lnSpc>
              <a:spcBef>
                <a:spcPts val="0"/>
              </a:spcBef>
            </a:pP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右边大阳线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，是缩量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，说明有很多人买，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但是没人卖</a:t>
            </a:r>
            <a:r>
              <a:rPr sz="2000" b="1" kern="0" spc="-3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，不得不出更高价买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，表明市场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资金一致看涨。这种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缩量大阳线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，多出现在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主力拉升阶段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，在加速上涨。盘面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没有抛压，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主力高控盘</a:t>
            </a:r>
            <a:r>
              <a:rPr sz="2000" b="1" kern="0" spc="-3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，市场没有分歧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，后市还将继续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缩量大涨</a:t>
            </a:r>
            <a:r>
              <a:rPr sz="2000" b="1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，这是主力控盘程度高的表现。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70" name="textbox 1770"/>
          <p:cNvSpPr/>
          <p:nvPr/>
        </p:nvSpPr>
        <p:spPr>
          <a:xfrm>
            <a:off x="1818397" y="284384"/>
            <a:ext cx="3196589" cy="5099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500" b="1" kern="0" spc="0" dirty="0">
                <a:solidFill>
                  <a:srgbClr val="D413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单根K线-大阳线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72" name="picture 17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1774" name="picture 17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6" name="picture 177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sp>
        <p:nvSpPr>
          <p:cNvPr id="1778" name="textbox 1778"/>
          <p:cNvSpPr/>
          <p:nvPr/>
        </p:nvSpPr>
        <p:spPr>
          <a:xfrm rot="19620000">
            <a:off x="2225429" y="4224970"/>
            <a:ext cx="4465320" cy="9201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  <a:spcBef>
                <a:spcPts val="5"/>
              </a:spcBef>
            </a:pPr>
            <a:r>
              <a:rPr sz="5700" kern="0" spc="17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</a:t>
            </a:r>
            <a:r>
              <a:rPr sz="5700" kern="0" spc="-78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700" kern="0" spc="-394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sz="5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80" name="picture 17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87323" y="1197864"/>
            <a:ext cx="5318759" cy="5318759"/>
          </a:xfrm>
          <a:prstGeom prst="rect">
            <a:avLst/>
          </a:prstGeom>
        </p:spPr>
      </p:pic>
      <p:sp>
        <p:nvSpPr>
          <p:cNvPr id="1782" name="textbox 1782"/>
          <p:cNvSpPr/>
          <p:nvPr/>
        </p:nvSpPr>
        <p:spPr>
          <a:xfrm rot="19620000">
            <a:off x="6045913" y="1881231"/>
            <a:ext cx="3755390" cy="917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  <a:spcBef>
                <a:spcPts val="0"/>
              </a:spcBef>
            </a:pPr>
            <a:r>
              <a:rPr sz="5800" kern="0" spc="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</a:t>
            </a:r>
            <a:r>
              <a:rPr sz="5800" kern="0" spc="5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</a:t>
            </a:r>
            <a:r>
              <a:rPr sz="5800" kern="0" spc="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84" name="rect 1784"/>
          <p:cNvSpPr/>
          <p:nvPr/>
        </p:nvSpPr>
        <p:spPr>
          <a:xfrm>
            <a:off x="6527292" y="1446276"/>
            <a:ext cx="5138928" cy="495452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  <a:extLst>
            <a:ext uri="{909E8E84-426E-40DD-AFC4-6F175D3DCCD1}">
              <a14:hiddenFill xmlns:a14="http://schemas.microsoft.com/office/drawing/2010/main">
                <a:solidFill>
                  <a:srgbClr val="FFC000">
                    <a:alpha val="100000"/>
                  </a:srgbClr>
                </a:solidFill>
              </a14:hiddenFill>
            </a:ext>
          </a:extLst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86" name="textbox 1786"/>
          <p:cNvSpPr/>
          <p:nvPr/>
        </p:nvSpPr>
        <p:spPr>
          <a:xfrm>
            <a:off x="6607303" y="1510697"/>
            <a:ext cx="5060315" cy="48748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05" indent="512445" algn="l" rtl="0" eaLnBrk="0">
              <a:lnSpc>
                <a:spcPct val="99000"/>
              </a:lnSpc>
            </a:pP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左边大阴线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，表明股价跌幅较大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b="1" kern="0" spc="-4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对应量高于平均量</a:t>
            </a:r>
            <a:r>
              <a:rPr sz="2000" b="1" kern="0" spc="-3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，是放量的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，成交比较活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跃。这种放量大阴线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，说明买卖双方激烈交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，有很多人在买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，但卖的人更多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，不断有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人出更低价卖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，形成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巨大跌幅。这是市场抛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压巨大的表现</a:t>
            </a:r>
            <a:r>
              <a:rPr sz="2000" b="1" kern="0" spc="-3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，一般出现在高位出货期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，高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位的抛压巨大</a:t>
            </a:r>
            <a:r>
              <a:rPr sz="2000" b="1" kern="0" spc="-3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，股价即将迎来反转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，即将迎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来下跌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，这种高位放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量下跌是主力出货的表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6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512445" algn="l" rtl="0" eaLnBrk="0">
              <a:lnSpc>
                <a:spcPct val="99000"/>
              </a:lnSpc>
              <a:spcBef>
                <a:spcPts val="0"/>
              </a:spcBef>
            </a:pP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右边大阴线</a:t>
            </a:r>
            <a:r>
              <a:rPr sz="2000" b="1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，是缩量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，说明有很多人卖，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但是没人卖买</a:t>
            </a:r>
            <a:r>
              <a:rPr sz="2000" b="1"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，不得不出更低价卖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，形成恐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慌效应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，表明市场资金一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致看空。这种缩量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大阴线</a:t>
            </a:r>
            <a:r>
              <a:rPr sz="2000" b="1"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，一般出现在下跌中继阶段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，后市往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往还会伴随着大量资金的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跟风卖出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，造成股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价持续的大跌。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90" name="textbox 1790"/>
          <p:cNvSpPr/>
          <p:nvPr/>
        </p:nvSpPr>
        <p:spPr>
          <a:xfrm>
            <a:off x="1818397" y="284384"/>
            <a:ext cx="3196589" cy="5099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500" b="1" kern="0" spc="0" dirty="0">
                <a:solidFill>
                  <a:srgbClr val="D413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单根K线-大阴线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92" name="picture 17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1794" name="picture 179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6" name="picture 17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sp>
        <p:nvSpPr>
          <p:cNvPr id="1798" name="textbox 1798"/>
          <p:cNvSpPr/>
          <p:nvPr/>
        </p:nvSpPr>
        <p:spPr>
          <a:xfrm rot="19620000">
            <a:off x="2225429" y="4224970"/>
            <a:ext cx="4465320" cy="9201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  <a:spcBef>
                <a:spcPts val="5"/>
              </a:spcBef>
            </a:pPr>
            <a:r>
              <a:rPr sz="5700" kern="0" spc="17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</a:t>
            </a:r>
            <a:r>
              <a:rPr sz="5700" kern="0" spc="-78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700" kern="0" spc="-394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sz="5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00" name="picture 18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87323" y="1197864"/>
            <a:ext cx="5318759" cy="5318759"/>
          </a:xfrm>
          <a:prstGeom prst="rect">
            <a:avLst/>
          </a:prstGeom>
        </p:spPr>
      </p:pic>
      <p:sp>
        <p:nvSpPr>
          <p:cNvPr id="1802" name="textbox 1802"/>
          <p:cNvSpPr/>
          <p:nvPr/>
        </p:nvSpPr>
        <p:spPr>
          <a:xfrm rot="19620000">
            <a:off x="6045913" y="1881231"/>
            <a:ext cx="3755390" cy="917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  <a:spcBef>
                <a:spcPts val="0"/>
              </a:spcBef>
            </a:pPr>
            <a:r>
              <a:rPr sz="5800" kern="0" spc="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</a:t>
            </a:r>
            <a:r>
              <a:rPr sz="5800" kern="0" spc="5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</a:t>
            </a:r>
            <a:r>
              <a:rPr sz="5800" kern="0" spc="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04" name="path 1804"/>
          <p:cNvSpPr/>
          <p:nvPr/>
        </p:nvSpPr>
        <p:spPr>
          <a:xfrm>
            <a:off x="6565392" y="1453896"/>
            <a:ext cx="4910328" cy="4789932"/>
          </a:xfrm>
          <a:custGeom>
            <a:avLst/>
            <a:gdLst/>
            <a:ahLst/>
            <a:cxnLst/>
            <a:rect l="0" t="0" r="0" b="0"/>
            <a:pathLst>
              <a:path w="7732" h="7543">
                <a:moveTo>
                  <a:pt x="0" y="0"/>
                </a:moveTo>
                <a:lnTo>
                  <a:pt x="7732" y="0"/>
                </a:lnTo>
                <a:lnTo>
                  <a:pt x="7732" y="7543"/>
                </a:lnTo>
                <a:lnTo>
                  <a:pt x="0" y="7543"/>
                </a:lnTo>
                <a:lnTo>
                  <a:pt x="0" y="0"/>
                </a:lnTo>
                <a:close/>
              </a:path>
            </a:pathLst>
          </a:custGeom>
          <a:noFill/>
          <a:ln w="0" cap="flat">
            <a:noFill/>
            <a:prstDash val="solid"/>
            <a:miter lim="0"/>
          </a:ln>
          <a:extLst>
            <a:ext uri="{909E8E84-426E-40DD-AFC4-6F175D3DCCD1}">
              <a14:hiddenFill xmlns:a14="http://schemas.microsoft.com/office/drawing/2010/main">
                <a:solidFill>
                  <a:srgbClr val="FFC000">
                    <a:alpha val="100000"/>
                  </a:srgbClr>
                </a:solidFill>
              </a14:hiddenFill>
            </a:ext>
          </a:extLst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06" name="textbox 1806"/>
          <p:cNvSpPr/>
          <p:nvPr/>
        </p:nvSpPr>
        <p:spPr>
          <a:xfrm>
            <a:off x="6647186" y="1518125"/>
            <a:ext cx="4595495" cy="4570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25145" algn="l" rtl="0" eaLnBrk="0">
              <a:lnSpc>
                <a:spcPct val="91000"/>
              </a:lnSpc>
            </a:pP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左边这组K线实体小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，小阴小阳线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-635" algn="l" rtl="0" eaLnBrk="0">
              <a:lnSpc>
                <a:spcPct val="98000"/>
              </a:lnSpc>
              <a:spcBef>
                <a:spcPts val="290"/>
              </a:spcBef>
            </a:pP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股价波动幅度很小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，量是放量的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，成交很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活跃</a:t>
            </a:r>
            <a:r>
              <a:rPr sz="2000" b="1" kern="0" spc="-3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，市场有巨大分歧了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，卖的人很多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买的人也很多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，双方经历激烈交战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，打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平手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，这种放量的小阴小阳线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，一般出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在一波趋势的顶部或底部</a:t>
            </a:r>
            <a:r>
              <a:rPr sz="2000" b="1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，预示对手盘的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增大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，股价即将反转。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6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510540" algn="l" rtl="0" eaLnBrk="0">
              <a:lnSpc>
                <a:spcPct val="99000"/>
              </a:lnSpc>
              <a:spcBef>
                <a:spcPts val="0"/>
              </a:spcBef>
            </a:pP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右边这组K线和左侧一样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，但量是缩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量的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，没有什么成交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，表明市场行情是混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沌的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，没有方向的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，接下来大概率还是会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继续横向运行</a:t>
            </a:r>
            <a:r>
              <a:rPr sz="2000" b="1" kern="0" spc="-3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，横盘整理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，没有人交易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股价也没有波动</a:t>
            </a:r>
            <a:r>
              <a:rPr sz="2000" b="1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，也没有资金来改变它的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方向</a:t>
            </a:r>
            <a:r>
              <a:rPr sz="2000" b="1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，所以说横向整理运行的方式还将继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续保持。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10" name="textbox 1810"/>
          <p:cNvSpPr/>
          <p:nvPr/>
        </p:nvSpPr>
        <p:spPr>
          <a:xfrm>
            <a:off x="1818397" y="284384"/>
            <a:ext cx="4088129" cy="5099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500" b="1" kern="0" spc="0" dirty="0">
                <a:solidFill>
                  <a:srgbClr val="D413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单根K线-小阴小阳线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12" name="picture 18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1814" name="picture 18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textbox 1816"/>
          <p:cNvSpPr/>
          <p:nvPr/>
        </p:nvSpPr>
        <p:spPr>
          <a:xfrm rot="19620000">
            <a:off x="2225429" y="4224970"/>
            <a:ext cx="4465320" cy="9201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  <a:spcBef>
                <a:spcPts val="5"/>
              </a:spcBef>
            </a:pPr>
            <a:r>
              <a:rPr sz="5700" kern="0" spc="17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</a:t>
            </a:r>
            <a:r>
              <a:rPr sz="5700" kern="0" spc="-78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700" kern="0" spc="-394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sz="5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18" name="picture 18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pic>
        <p:nvPicPr>
          <p:cNvPr id="1820" name="picture 18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87323" y="1197864"/>
            <a:ext cx="5318759" cy="5318759"/>
          </a:xfrm>
          <a:prstGeom prst="rect">
            <a:avLst/>
          </a:prstGeom>
        </p:spPr>
      </p:pic>
      <p:sp>
        <p:nvSpPr>
          <p:cNvPr id="1822" name="textbox 1822"/>
          <p:cNvSpPr/>
          <p:nvPr/>
        </p:nvSpPr>
        <p:spPr>
          <a:xfrm rot="19620000">
            <a:off x="6045913" y="1881231"/>
            <a:ext cx="3755390" cy="917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  <a:spcBef>
                <a:spcPts val="0"/>
              </a:spcBef>
            </a:pPr>
            <a:r>
              <a:rPr sz="5800" kern="0" spc="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</a:t>
            </a:r>
            <a:r>
              <a:rPr sz="5800" kern="0" spc="5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</a:t>
            </a:r>
            <a:r>
              <a:rPr sz="5800" kern="0" spc="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24" name="rect 1824"/>
          <p:cNvSpPr/>
          <p:nvPr/>
        </p:nvSpPr>
        <p:spPr>
          <a:xfrm>
            <a:off x="6487667" y="1496567"/>
            <a:ext cx="5283708" cy="472135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  <a:extLst>
            <a:ext uri="{909E8E84-426E-40DD-AFC4-6F175D3DCCD1}">
              <a14:hiddenFill xmlns:a14="http://schemas.microsoft.com/office/drawing/2010/main">
                <a:solidFill>
                  <a:srgbClr val="FFC000">
                    <a:alpha val="100000"/>
                  </a:srgbClr>
                </a:solidFill>
              </a14:hiddenFill>
            </a:ext>
          </a:extLst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26" name="textbox 1826"/>
          <p:cNvSpPr/>
          <p:nvPr/>
        </p:nvSpPr>
        <p:spPr>
          <a:xfrm>
            <a:off x="6567871" y="1560988"/>
            <a:ext cx="5236209" cy="4570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240" indent="511810" algn="l" rtl="0" eaLnBrk="0">
              <a:lnSpc>
                <a:spcPct val="99000"/>
              </a:lnSpc>
            </a:pP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左边这组K线实体大</a:t>
            </a:r>
            <a:r>
              <a:rPr sz="2000" b="1" kern="0" spc="-3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b="1" kern="0" spc="-4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中阴中阳线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，股价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波动幅度大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，量是放量的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，成交很活跃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，说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买卖双方争斗剧烈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，最终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有一方获胜。如果在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上升趋势中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，收出放量中阳线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，多方获胜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价还将持续拉高。如果在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下降趋势中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，收出放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量中阴线</a:t>
            </a:r>
            <a:r>
              <a:rPr sz="2000" b="1" kern="0" spc="-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，空方获胜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，股价还将继续下跌。这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是一种趋势延续的信号。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6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512445" algn="l" rtl="0" eaLnBrk="0">
              <a:lnSpc>
                <a:spcPct val="99000"/>
              </a:lnSpc>
              <a:spcBef>
                <a:spcPts val="0"/>
              </a:spcBef>
            </a:pP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右边这组K线和左侧一样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，但量是缩量的，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这是主力控盘程度极高的表现。如果在上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升趋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势中</a:t>
            </a:r>
            <a:r>
              <a:rPr sz="2000" b="1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，还将无压力的继续上涨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，是洗盘信号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如果在高位横盘整理</a:t>
            </a:r>
            <a:r>
              <a:rPr sz="2000" b="1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，表明市场没人接盘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，高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位出现量价背离</a:t>
            </a:r>
            <a:r>
              <a:rPr sz="2000" b="1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，买方动能不足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，后市主力可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能会砸盘出货</a:t>
            </a:r>
            <a:r>
              <a:rPr sz="2000" b="1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，有可能会爆跌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，要注意这种情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况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，庄股的风险还是比较大的。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30" name="textbox 1830"/>
          <p:cNvSpPr/>
          <p:nvPr/>
        </p:nvSpPr>
        <p:spPr>
          <a:xfrm>
            <a:off x="1818397" y="284384"/>
            <a:ext cx="4088129" cy="5099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500" b="1" kern="0" spc="0" dirty="0">
                <a:solidFill>
                  <a:srgbClr val="D413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单根K线-中阴中阳线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32" name="picture 18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1834" name="picture 18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textbox 1836"/>
          <p:cNvSpPr/>
          <p:nvPr/>
        </p:nvSpPr>
        <p:spPr>
          <a:xfrm rot="19620000">
            <a:off x="1805468" y="3127086"/>
            <a:ext cx="8372475" cy="930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-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 ，</a:t>
            </a:r>
            <a:r>
              <a:rPr sz="5800" kern="0" spc="-145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800" kern="0" spc="-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</a:t>
            </a:r>
            <a:r>
              <a:rPr sz="5800" kern="0" spc="25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sz="5800" kern="0" spc="-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38" name="picture 18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pic>
        <p:nvPicPr>
          <p:cNvPr id="1840" name="picture 18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87323" y="1197864"/>
            <a:ext cx="5318759" cy="5318759"/>
          </a:xfrm>
          <a:prstGeom prst="rect">
            <a:avLst/>
          </a:prstGeom>
        </p:spPr>
      </p:pic>
      <p:sp>
        <p:nvSpPr>
          <p:cNvPr id="1842" name="textbox 1842"/>
          <p:cNvSpPr/>
          <p:nvPr/>
        </p:nvSpPr>
        <p:spPr>
          <a:xfrm>
            <a:off x="6653784" y="1612391"/>
            <a:ext cx="4986654" cy="4359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  <a:extLst>
            <a:ext uri="{909E8E84-426E-40DD-AFC4-6F175D3DCCD1}">
              <a14:hiddenFill xmlns:a14="http://schemas.microsoft.com/office/drawing/2010/main">
                <a:solidFill>
                  <a:srgbClr val="FFC000">
                    <a:alpha val="100000"/>
                  </a:srgbClr>
                </a:solidFill>
              </a14:hiddenFill>
            </a:ext>
          </a:extLst>
        </p:spPr>
        <p:txBody>
          <a:bodyPr vert="horz" wrap="square" lIns="0" tIns="0" rIns="0" bIns="0"/>
          <a:lstStyle/>
          <a:p>
            <a:pPr algn="l" rtl="0" eaLnBrk="0">
              <a:lnSpc>
                <a:spcPct val="121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4615" indent="504825" algn="l" rtl="0" eaLnBrk="0">
              <a:lnSpc>
                <a:spcPct val="98000"/>
              </a:lnSpc>
              <a:spcBef>
                <a:spcPts val="5"/>
              </a:spcBef>
            </a:pP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第一天大阳线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，第二天中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阳线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，第三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天变成小阳线</a:t>
            </a:r>
            <a:r>
              <a:rPr sz="2000" b="1" kern="0" spc="-2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，三天整体呈现上升趋势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但是有个特征</a:t>
            </a:r>
            <a:r>
              <a:rPr sz="2000" b="1" kern="0" spc="-2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，越涨越慢。上涨的同时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量在逐步的缩小。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3345" indent="508000" algn="l" rtl="0" eaLnBrk="0">
              <a:lnSpc>
                <a:spcPct val="99000"/>
              </a:lnSpc>
              <a:spcBef>
                <a:spcPts val="240"/>
              </a:spcBef>
            </a:pP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越往上涨买的人越少</a:t>
            </a:r>
            <a:r>
              <a:rPr sz="2000" b="1" kern="0" spc="-3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，大家不愿意追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涨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，不愿意跟风了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，第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一天量很大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，说明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这里有承接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，但是越往上涨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，追涨的人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越少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，买方动能减弱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，这就是常说的量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背离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，越往上涨越没量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，那么接下来即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回调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，但是回调幅度应该有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限。</a:t>
            </a:r>
            <a:r>
              <a:rPr sz="2000" b="1" kern="0" spc="-4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因为下方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还是有承接的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，下方的量是比较大的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方买方动能比较强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，一旦回调到位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，后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续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可能还会继续拉高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，短期可能会回调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是跌幅并不大。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46" name="textbox 1846"/>
          <p:cNvSpPr/>
          <p:nvPr/>
        </p:nvSpPr>
        <p:spPr>
          <a:xfrm>
            <a:off x="1849111" y="283495"/>
            <a:ext cx="3611879" cy="510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500" b="1" kern="0" spc="-30" dirty="0">
                <a:solidFill>
                  <a:srgbClr val="D413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K线组合-价升量缩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48" name="picture 18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1850" name="picture 18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textbox 1852"/>
          <p:cNvSpPr/>
          <p:nvPr/>
        </p:nvSpPr>
        <p:spPr>
          <a:xfrm rot="19620000">
            <a:off x="1805468" y="3127086"/>
            <a:ext cx="8372475" cy="930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-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 ，</a:t>
            </a:r>
            <a:r>
              <a:rPr sz="5800" kern="0" spc="-145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800" kern="0" spc="-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</a:t>
            </a:r>
            <a:r>
              <a:rPr sz="5800" kern="0" spc="25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sz="5800" kern="0" spc="-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54" name="picture 18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pic>
        <p:nvPicPr>
          <p:cNvPr id="1856" name="picture 18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87323" y="1197864"/>
            <a:ext cx="5318759" cy="5318759"/>
          </a:xfrm>
          <a:prstGeom prst="rect">
            <a:avLst/>
          </a:prstGeom>
        </p:spPr>
      </p:pic>
      <p:sp>
        <p:nvSpPr>
          <p:cNvPr id="1858" name="textbox 1858"/>
          <p:cNvSpPr/>
          <p:nvPr/>
        </p:nvSpPr>
        <p:spPr>
          <a:xfrm>
            <a:off x="6547104" y="1772411"/>
            <a:ext cx="5118100" cy="3563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  <a:extLst>
            <a:ext uri="{909E8E84-426E-40DD-AFC4-6F175D3DCCD1}">
              <a14:hiddenFill xmlns:a14="http://schemas.microsoft.com/office/drawing/2010/main">
                <a:solidFill>
                  <a:srgbClr val="FFC000">
                    <a:alpha val="100000"/>
                  </a:srgbClr>
                </a:solidFill>
              </a14:hiddenFill>
            </a:ext>
          </a:extLst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3345" indent="506095" algn="l" rtl="0" eaLnBrk="0">
              <a:lnSpc>
                <a:spcPct val="98000"/>
              </a:lnSpc>
              <a:spcBef>
                <a:spcPts val="5"/>
              </a:spcBef>
            </a:pP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第一天是大阳线大涨</a:t>
            </a:r>
            <a:r>
              <a:rPr sz="2000" b="1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，第二天变成中阳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</a:t>
            </a:r>
            <a:r>
              <a:rPr sz="2000" b="1" kern="0" spc="-3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，第三天变成小阳线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，三天整体呈现上升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趋势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，但是一个特征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，股价越涨越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慢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，成交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量却越来越大。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3980" indent="517525" algn="l" rtl="0" eaLnBrk="0">
              <a:lnSpc>
                <a:spcPct val="96000"/>
              </a:lnSpc>
              <a:spcBef>
                <a:spcPts val="195"/>
              </a:spcBef>
            </a:pP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随着股价的上涨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，下方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的量在跟着放大，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越往上涨抛压越大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，成交越大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，分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歧越大。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3345" indent="635" algn="l" rtl="0" eaLnBrk="0">
              <a:lnSpc>
                <a:spcPct val="98000"/>
              </a:lnSpc>
              <a:spcBef>
                <a:spcPts val="240"/>
              </a:spcBef>
            </a:pP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对手盘增大了</a:t>
            </a:r>
            <a:r>
              <a:rPr sz="2000" b="1" kern="0" spc="-3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，预示股价即将见顶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，这是一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种即将见顶反转的信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号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，这里要做减仓或清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仓处理。一般出现在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一波趋势的高位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，代表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这里抛压增大</a:t>
            </a:r>
            <a:r>
              <a:rPr sz="2000" b="1" kern="0" spc="-3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，股价即将反转下跌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，这里要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做减仓或清仓了。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62" name="textbox 1862"/>
          <p:cNvSpPr/>
          <p:nvPr/>
        </p:nvSpPr>
        <p:spPr>
          <a:xfrm>
            <a:off x="1849111" y="283495"/>
            <a:ext cx="3611879" cy="510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500" b="1" kern="0" spc="-30" dirty="0">
                <a:solidFill>
                  <a:srgbClr val="D413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K线组合-放量滞涨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64" name="picture 18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1866" name="picture 18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textbox 1868"/>
          <p:cNvSpPr/>
          <p:nvPr/>
        </p:nvSpPr>
        <p:spPr>
          <a:xfrm rot="19620000">
            <a:off x="1805468" y="3127086"/>
            <a:ext cx="8372475" cy="930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-2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 ，</a:t>
            </a:r>
            <a:r>
              <a:rPr sz="5800" kern="0" spc="-145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800" kern="0" spc="-2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</a:t>
            </a:r>
            <a:r>
              <a:rPr sz="5800" kern="0" spc="27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5800" kern="0" spc="-2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</a:t>
            </a:r>
            <a:r>
              <a:rPr sz="5800" kern="0" spc="-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70" name="picture 18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pic>
        <p:nvPicPr>
          <p:cNvPr id="1872" name="picture 18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87323" y="1197864"/>
            <a:ext cx="5318759" cy="5318759"/>
          </a:xfrm>
          <a:prstGeom prst="rect">
            <a:avLst/>
          </a:prstGeom>
        </p:spPr>
      </p:pic>
      <p:sp>
        <p:nvSpPr>
          <p:cNvPr id="1874" name="textbox 1874"/>
          <p:cNvSpPr/>
          <p:nvPr/>
        </p:nvSpPr>
        <p:spPr>
          <a:xfrm>
            <a:off x="6682740" y="1976628"/>
            <a:ext cx="4747259" cy="2905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  <a:extLst>
            <a:ext uri="{909E8E84-426E-40DD-AFC4-6F175D3DCCD1}">
              <a14:hiddenFill xmlns:a14="http://schemas.microsoft.com/office/drawing/2010/main">
                <a:solidFill>
                  <a:srgbClr val="FFC000">
                    <a:alpha val="100000"/>
                  </a:srgbClr>
                </a:solidFill>
              </a14:hiddenFill>
            </a:ext>
          </a:extLst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3345" indent="506730" algn="l" rtl="0" eaLnBrk="0">
              <a:lnSpc>
                <a:spcPct val="98000"/>
              </a:lnSpc>
              <a:spcBef>
                <a:spcPts val="5"/>
              </a:spcBef>
            </a:pP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第一天是大阳线大涨</a:t>
            </a:r>
            <a:r>
              <a:rPr sz="2000" b="1" kern="0" spc="-3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，第二天涨幅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变慢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，变成中阳线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，第三天涨幅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变成小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阳线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，三天整体呈现上升趋势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越涨越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慢。</a:t>
            </a:r>
            <a:r>
              <a:rPr sz="2000" b="1" kern="0" spc="-4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同时我们来看它对应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的量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，这量是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三根一模一样的量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b="1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平量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，股价在滞涨。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4615" indent="509270" algn="l" rtl="0" eaLnBrk="0">
              <a:lnSpc>
                <a:spcPct val="98000"/>
              </a:lnSpc>
              <a:spcBef>
                <a:spcPts val="195"/>
              </a:spcBef>
            </a:pP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量没有缩小</a:t>
            </a:r>
            <a:r>
              <a:rPr sz="2000" b="1"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，花费同样代价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，越涨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越慢</a:t>
            </a:r>
            <a:r>
              <a:rPr sz="2000" b="1" kern="0" spc="-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，是对手盘在增大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，越往上涨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，抛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压越重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，越涨越难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，这是一个即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将变盘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反转的信号</a:t>
            </a:r>
            <a:r>
              <a:rPr sz="2000" b="1"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，小心见顶。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78" name="textbox 1878"/>
          <p:cNvSpPr/>
          <p:nvPr/>
        </p:nvSpPr>
        <p:spPr>
          <a:xfrm>
            <a:off x="1849111" y="283495"/>
            <a:ext cx="3611879" cy="510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500" b="1" kern="0" spc="-30" dirty="0">
                <a:solidFill>
                  <a:srgbClr val="D413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K线组合-平量滞涨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80" name="picture 18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1882" name="picture 188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4" name="picture 18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sp>
        <p:nvSpPr>
          <p:cNvPr id="1886" name="textbox 1886"/>
          <p:cNvSpPr/>
          <p:nvPr/>
        </p:nvSpPr>
        <p:spPr>
          <a:xfrm rot="19620000">
            <a:off x="2225429" y="4224970"/>
            <a:ext cx="4465320" cy="9201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  <a:spcBef>
                <a:spcPts val="5"/>
              </a:spcBef>
            </a:pPr>
            <a:r>
              <a:rPr sz="5700" kern="0" spc="17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</a:t>
            </a:r>
            <a:r>
              <a:rPr sz="5700" kern="0" spc="-78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700" kern="0" spc="-394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sz="5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88" name="picture 18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87323" y="1197864"/>
            <a:ext cx="5318759" cy="5318759"/>
          </a:xfrm>
          <a:prstGeom prst="rect">
            <a:avLst/>
          </a:prstGeom>
        </p:spPr>
      </p:pic>
      <p:sp>
        <p:nvSpPr>
          <p:cNvPr id="1890" name="textbox 1890"/>
          <p:cNvSpPr/>
          <p:nvPr/>
        </p:nvSpPr>
        <p:spPr>
          <a:xfrm rot="19620000">
            <a:off x="6045913" y="1881231"/>
            <a:ext cx="3755390" cy="917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  <a:spcBef>
                <a:spcPts val="0"/>
              </a:spcBef>
            </a:pPr>
            <a:r>
              <a:rPr sz="5800" kern="0" spc="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</a:t>
            </a:r>
            <a:r>
              <a:rPr sz="5800" kern="0" spc="5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</a:t>
            </a:r>
            <a:r>
              <a:rPr sz="5800" kern="0" spc="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92" name="rect 1892"/>
          <p:cNvSpPr/>
          <p:nvPr/>
        </p:nvSpPr>
        <p:spPr>
          <a:xfrm>
            <a:off x="6527292" y="1386840"/>
            <a:ext cx="5276088" cy="44653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  <a:extLst>
            <a:ext uri="{909E8E84-426E-40DD-AFC4-6F175D3DCCD1}">
              <a14:hiddenFill xmlns:a14="http://schemas.microsoft.com/office/drawing/2010/main">
                <a:solidFill>
                  <a:srgbClr val="FFC000">
                    <a:alpha val="100000"/>
                  </a:srgbClr>
                </a:solidFill>
              </a14:hiddenFill>
            </a:ext>
          </a:extLst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94" name="textbox 1894"/>
          <p:cNvSpPr/>
          <p:nvPr/>
        </p:nvSpPr>
        <p:spPr>
          <a:xfrm>
            <a:off x="6608577" y="1450686"/>
            <a:ext cx="5313045" cy="42665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" indent="505460" algn="l" rtl="0" eaLnBrk="0">
              <a:lnSpc>
                <a:spcPct val="98000"/>
              </a:lnSpc>
              <a:spcBef>
                <a:spcPts val="0"/>
              </a:spcBef>
            </a:pP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第一天小阳线</a:t>
            </a:r>
            <a:r>
              <a:rPr sz="2000" b="1"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b="1" kern="0" spc="-4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匹配量是高量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，量价有异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</a:t>
            </a:r>
            <a:r>
              <a:rPr sz="2000" b="1" kern="0" spc="-2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，说明多空双方在这里是有剧烈争斗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，多空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双方分歧非常大</a:t>
            </a:r>
            <a:r>
              <a:rPr sz="2000" b="1" kern="0" spc="-2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，但是随着股价上涨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，涨幅越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来越快</a:t>
            </a:r>
            <a:r>
              <a:rPr sz="2000" b="1" kern="0" spc="-2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，没人卖了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，市场资金出现一致性的看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涨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，越往上涨卖方越少。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想买的人买不进去，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1905" algn="l" rtl="0" eaLnBrk="0">
              <a:lnSpc>
                <a:spcPct val="99000"/>
              </a:lnSpc>
              <a:spcBef>
                <a:spcPts val="220"/>
              </a:spcBef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他就得花更高的价格去买。说明市场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上跟风资   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金是比较多的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，而且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愿意花费更高的价格去买，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缩量上涨是一种主力锁仓的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，这是主力高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控盘的表现</a:t>
            </a:r>
            <a:r>
              <a:rPr sz="2000" b="1" kern="0" spc="-2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，一般都出现在趋势的中途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，往往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后市还会延续</a:t>
            </a:r>
            <a:r>
              <a:rPr sz="2000" b="1" kern="0" spc="-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，缩量加速上涨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，可以坚定持有，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后市还会持续拉高。直到某一天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突然出现巨量，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而股价不涨了</a:t>
            </a:r>
            <a:r>
              <a:rPr sz="2000" b="1" kern="0" spc="-2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，那个时候就是即将见顶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，主力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即将出货的信号</a:t>
            </a:r>
            <a:r>
              <a:rPr sz="2000" b="1" kern="0" spc="-2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，再去做减仓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，只要没有出现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巨量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，股价仍将延续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，缩量上涨还要涨。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98" name="textbox 1898"/>
          <p:cNvSpPr/>
          <p:nvPr/>
        </p:nvSpPr>
        <p:spPr>
          <a:xfrm>
            <a:off x="1849111" y="283495"/>
            <a:ext cx="3611879" cy="510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500" b="1" kern="0" spc="-30" dirty="0">
                <a:solidFill>
                  <a:srgbClr val="D413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K线组合-缩量大涨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00" name="picture 19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1902" name="picture 19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" name="textbox 1904"/>
          <p:cNvSpPr/>
          <p:nvPr/>
        </p:nvSpPr>
        <p:spPr>
          <a:xfrm rot="19620000">
            <a:off x="2225429" y="4224970"/>
            <a:ext cx="4465320" cy="9201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  <a:spcBef>
                <a:spcPts val="5"/>
              </a:spcBef>
            </a:pPr>
            <a:r>
              <a:rPr sz="5700" kern="0" spc="17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</a:t>
            </a:r>
            <a:r>
              <a:rPr sz="5700" kern="0" spc="-78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700" kern="0" spc="-394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sz="5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06" name="picture 19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pic>
        <p:nvPicPr>
          <p:cNvPr id="1908" name="picture 19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87323" y="1197864"/>
            <a:ext cx="5318759" cy="5318759"/>
          </a:xfrm>
          <a:prstGeom prst="rect">
            <a:avLst/>
          </a:prstGeom>
        </p:spPr>
      </p:pic>
      <p:sp>
        <p:nvSpPr>
          <p:cNvPr id="1910" name="textbox 1910"/>
          <p:cNvSpPr/>
          <p:nvPr/>
        </p:nvSpPr>
        <p:spPr>
          <a:xfrm rot="19620000">
            <a:off x="6045913" y="1881231"/>
            <a:ext cx="3755390" cy="917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  <a:spcBef>
                <a:spcPts val="0"/>
              </a:spcBef>
            </a:pPr>
            <a:r>
              <a:rPr sz="5800" kern="0" spc="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</a:t>
            </a:r>
            <a:r>
              <a:rPr sz="5800" kern="0" spc="5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</a:t>
            </a:r>
            <a:r>
              <a:rPr sz="5800" kern="0" spc="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12" name="textbox 1912"/>
          <p:cNvSpPr/>
          <p:nvPr/>
        </p:nvSpPr>
        <p:spPr>
          <a:xfrm>
            <a:off x="6676644" y="1524000"/>
            <a:ext cx="4988559" cy="4061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  <a:extLst>
            <a:ext uri="{909E8E84-426E-40DD-AFC4-6F175D3DCCD1}">
              <a14:hiddenFill xmlns:a14="http://schemas.microsoft.com/office/drawing/2010/main">
                <a:solidFill>
                  <a:srgbClr val="FFC000">
                    <a:alpha val="100000"/>
                  </a:srgbClr>
                </a:solidFill>
              </a14:hiddenFill>
            </a:ext>
          </a:extLst>
        </p:spPr>
        <p:txBody>
          <a:bodyPr vert="horz" wrap="square" lIns="0" tIns="0" rIns="0" bIns="0"/>
          <a:lstStyle/>
          <a:p>
            <a:pPr algn="l" rtl="0" eaLnBrk="0">
              <a:lnSpc>
                <a:spcPct val="121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5885" indent="504825" algn="l" rtl="0" eaLnBrk="0">
              <a:lnSpc>
                <a:spcPct val="98000"/>
              </a:lnSpc>
              <a:spcBef>
                <a:spcPts val="0"/>
              </a:spcBef>
            </a:pP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第一天是小阳线小涨</a:t>
            </a:r>
            <a:r>
              <a:rPr sz="2000" b="1" kern="0" spc="-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，第二天涨幅变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</a:t>
            </a:r>
            <a:r>
              <a:rPr sz="2000" b="1" kern="0" spc="-2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，第三天变成了大阳线。三天整体呈现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上升趋势</a:t>
            </a:r>
            <a:r>
              <a:rPr sz="2000" b="1" kern="0" spc="-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，而且是越涨越快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b="1" kern="0" spc="-4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同时量在逐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步的增大</a:t>
            </a:r>
            <a:r>
              <a:rPr sz="2000" b="1" kern="0" spc="-3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，说明有分歧。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4615" indent="505460" algn="l" rtl="0" eaLnBrk="0">
              <a:lnSpc>
                <a:spcPct val="99000"/>
              </a:lnSpc>
              <a:spcBef>
                <a:spcPts val="170"/>
              </a:spcBef>
            </a:pP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第一天小阳线是小量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，缩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量上涨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，没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，第二天中阳线变成高量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，是放量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涨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，也没问题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，第三天大阳线继续放量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这里价涨量增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，量价齐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，多方进攻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，说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明市场资金强烈的看好它</a:t>
            </a:r>
            <a:r>
              <a:rPr sz="2000" b="1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，这是吸筹的表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</a:t>
            </a:r>
            <a:r>
              <a:rPr sz="2000" b="1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，后市持续拉高的概率还是比较大的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后市持续看涨。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7790" indent="505460" algn="l" rtl="0" eaLnBrk="0">
              <a:lnSpc>
                <a:spcPct val="95000"/>
              </a:lnSpc>
              <a:spcBef>
                <a:spcPts val="240"/>
              </a:spcBef>
            </a:pP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但是如果爆巨量的话就要小心了</a:t>
            </a:r>
            <a:r>
              <a:rPr sz="2000" b="1" kern="0" spc="-3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，有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可能是主力出货的表现</a:t>
            </a:r>
            <a:r>
              <a:rPr sz="2000" b="1" kern="0" spc="-3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，有可能见顶。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16" name="textbox 1916"/>
          <p:cNvSpPr/>
          <p:nvPr/>
        </p:nvSpPr>
        <p:spPr>
          <a:xfrm>
            <a:off x="1849111" y="283495"/>
            <a:ext cx="3611879" cy="510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500" b="1" kern="0" spc="-30" dirty="0">
                <a:solidFill>
                  <a:srgbClr val="D413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K线组合-放量大涨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18" name="picture 19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1920" name="picture 19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2" name="textbox 1922"/>
          <p:cNvSpPr/>
          <p:nvPr/>
        </p:nvSpPr>
        <p:spPr>
          <a:xfrm rot="19620000">
            <a:off x="2225429" y="4224970"/>
            <a:ext cx="4465320" cy="9201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  <a:spcBef>
                <a:spcPts val="5"/>
              </a:spcBef>
            </a:pPr>
            <a:r>
              <a:rPr sz="5700" kern="0" spc="17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</a:t>
            </a:r>
            <a:r>
              <a:rPr sz="5700" kern="0" spc="-78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700" kern="0" spc="-394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sz="5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24" name="picture 19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pic>
        <p:nvPicPr>
          <p:cNvPr id="1926" name="picture 19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87323" y="1197864"/>
            <a:ext cx="5318759" cy="5318759"/>
          </a:xfrm>
          <a:prstGeom prst="rect">
            <a:avLst/>
          </a:prstGeom>
        </p:spPr>
      </p:pic>
      <p:sp>
        <p:nvSpPr>
          <p:cNvPr id="1928" name="textbox 1928"/>
          <p:cNvSpPr/>
          <p:nvPr/>
        </p:nvSpPr>
        <p:spPr>
          <a:xfrm rot="19620000">
            <a:off x="6045913" y="1881231"/>
            <a:ext cx="3755390" cy="917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  <a:spcBef>
                <a:spcPts val="0"/>
              </a:spcBef>
            </a:pPr>
            <a:r>
              <a:rPr sz="5800" kern="0" spc="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</a:t>
            </a:r>
            <a:r>
              <a:rPr sz="5800" kern="0" spc="5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</a:t>
            </a:r>
            <a:r>
              <a:rPr sz="5800" kern="0" spc="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30" name="textbox 1930"/>
          <p:cNvSpPr/>
          <p:nvPr/>
        </p:nvSpPr>
        <p:spPr>
          <a:xfrm>
            <a:off x="6493763" y="1473708"/>
            <a:ext cx="5171440" cy="4162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  <a:extLst>
            <a:ext uri="{909E8E84-426E-40DD-AFC4-6F175D3DCCD1}">
              <a14:hiddenFill xmlns:a14="http://schemas.microsoft.com/office/drawing/2010/main">
                <a:solidFill>
                  <a:srgbClr val="FFC000">
                    <a:alpha val="100000"/>
                  </a:srgbClr>
                </a:solidFill>
              </a14:hiddenFill>
            </a:ext>
          </a:extLst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00710" algn="l" rtl="0" eaLnBrk="0">
              <a:lnSpc>
                <a:spcPct val="91000"/>
              </a:lnSpc>
              <a:spcBef>
                <a:spcPts val="0"/>
              </a:spcBef>
            </a:pP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第一天是小阳线</a:t>
            </a:r>
            <a:r>
              <a:rPr sz="2000" b="1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，第二天变成中阳线，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9060" indent="-6350" algn="l" rtl="0" eaLnBrk="0">
              <a:lnSpc>
                <a:spcPct val="95000"/>
              </a:lnSpc>
              <a:spcBef>
                <a:spcPts val="240"/>
              </a:spcBef>
            </a:pP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第三天变成大阳线</a:t>
            </a:r>
            <a:r>
              <a:rPr sz="2000" b="1" kern="0" spc="-2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，三天整体呈现上升趋势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而且是越涨越快。量是平量</a:t>
            </a:r>
            <a:r>
              <a:rPr sz="2000" b="1" kern="0" spc="-2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，而且是缩量。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5885" indent="507365" algn="l" rtl="0" eaLnBrk="0">
              <a:lnSpc>
                <a:spcPct val="99000"/>
              </a:lnSpc>
              <a:spcBef>
                <a:spcPts val="145"/>
              </a:spcBef>
            </a:pP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代表市场资金一致看涨行为</a:t>
            </a:r>
            <a:r>
              <a:rPr sz="2000" b="1" kern="0" spc="-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，大阳线不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带量</a:t>
            </a:r>
            <a:r>
              <a:rPr sz="2000" b="1" kern="0" spc="-3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，花费了这么小的代价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，可以拉出这么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好的效果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，市场一致看涨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，没有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抛压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，市场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资金跟风买入</a:t>
            </a:r>
            <a:r>
              <a:rPr sz="2000" b="1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，大量资金的跟风追涨。不断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有资金</a:t>
            </a:r>
            <a:r>
              <a:rPr sz="2000" b="1" kern="0" spc="-3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，有更多的资金选择更高股价去买进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大家都看好它</a:t>
            </a:r>
            <a:r>
              <a:rPr sz="2000" b="1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，那后市仍将持续加速上涨，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2710" indent="3810" algn="l" rtl="0" eaLnBrk="0">
              <a:lnSpc>
                <a:spcPct val="98000"/>
              </a:lnSpc>
              <a:spcBef>
                <a:spcPts val="195"/>
              </a:spcBef>
            </a:pP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这是一种主力锁仓的信号</a:t>
            </a:r>
            <a:r>
              <a:rPr sz="2000" b="1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，主力持仓量大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主力锁仓</a:t>
            </a:r>
            <a:r>
              <a:rPr sz="2000" b="1"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，而且是高控盘的表现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，后市仍将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持续拉高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，而且不带量拉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高是不需要太大难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度的</a:t>
            </a:r>
            <a:r>
              <a:rPr sz="2000" b="1"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b="1" kern="0" spc="-4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因为没什么抛压。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34" name="textbox 1934"/>
          <p:cNvSpPr/>
          <p:nvPr/>
        </p:nvSpPr>
        <p:spPr>
          <a:xfrm>
            <a:off x="1849111" y="283495"/>
            <a:ext cx="3611879" cy="510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500" b="1" kern="0" spc="-30" dirty="0">
                <a:solidFill>
                  <a:srgbClr val="D413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K线组合-平量大涨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36" name="picture 19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1938" name="picture 19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textbox 1940"/>
          <p:cNvSpPr/>
          <p:nvPr/>
        </p:nvSpPr>
        <p:spPr>
          <a:xfrm rot="19620000">
            <a:off x="2225429" y="4224970"/>
            <a:ext cx="4465320" cy="9201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  <a:spcBef>
                <a:spcPts val="5"/>
              </a:spcBef>
            </a:pPr>
            <a:r>
              <a:rPr sz="5700" kern="0" spc="17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</a:t>
            </a:r>
            <a:r>
              <a:rPr sz="5700" kern="0" spc="-78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700" kern="0" spc="-394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sz="5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42" name="picture 19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pic>
        <p:nvPicPr>
          <p:cNvPr id="1944" name="picture 19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87323" y="1197864"/>
            <a:ext cx="5318759" cy="5318759"/>
          </a:xfrm>
          <a:prstGeom prst="rect">
            <a:avLst/>
          </a:prstGeom>
        </p:spPr>
      </p:pic>
      <p:sp>
        <p:nvSpPr>
          <p:cNvPr id="1946" name="textbox 1946"/>
          <p:cNvSpPr/>
          <p:nvPr/>
        </p:nvSpPr>
        <p:spPr>
          <a:xfrm rot="19620000">
            <a:off x="8109403" y="1276068"/>
            <a:ext cx="1512569" cy="911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  <a:spcBef>
                <a:spcPts val="5"/>
              </a:spcBef>
            </a:pPr>
            <a:r>
              <a:rPr sz="5800" kern="0" spc="4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48" name="textbox 1948"/>
          <p:cNvSpPr/>
          <p:nvPr/>
        </p:nvSpPr>
        <p:spPr>
          <a:xfrm>
            <a:off x="6252971" y="1685544"/>
            <a:ext cx="5602604" cy="4343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  <a:extLst>
            <a:ext uri="{909E8E84-426E-40DD-AFC4-6F175D3DCCD1}">
              <a14:hiddenFill xmlns:a14="http://schemas.microsoft.com/office/drawing/2010/main">
                <a:solidFill>
                  <a:srgbClr val="FFC000">
                    <a:alpha val="100000"/>
                  </a:srgbClr>
                </a:solidFill>
              </a14:hiddenFill>
            </a:ext>
          </a:extLst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4615" indent="502920" algn="l" rtl="0" eaLnBrk="0">
              <a:lnSpc>
                <a:spcPct val="99000"/>
              </a:lnSpc>
              <a:spcBef>
                <a:spcPts val="5"/>
              </a:spcBef>
            </a:pP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第一天大阴线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，第二天中阴线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，第三天变成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小阴线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，三天整体呈现下降趋势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</a:t>
            </a: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是有个特征，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越跌越慢</a:t>
            </a:r>
            <a:r>
              <a:rPr sz="2000" b="1" kern="0" spc="-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，下跌的同时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，量在跟着减弱。卖方不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愿意卖了</a:t>
            </a:r>
            <a:r>
              <a:rPr sz="2000" b="1" kern="0" spc="-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，卖方减弱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，抛压减弱了。一般都出现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在洗盘阶段</a:t>
            </a:r>
            <a:r>
              <a:rPr sz="2000" b="1" kern="0" spc="-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，比如说前面有过一波放量拉高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，一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波持续上涨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，拉到高位后有抛压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，有</a:t>
            </a: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获利盘在卖，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卖方增大了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，主力要洗盘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，要洗掉获利盘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，洗掉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不坚定的筹码</a:t>
            </a:r>
            <a:r>
              <a:rPr sz="2000" b="1" kern="0" spc="-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，洗盘有一个明显的特征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，在股价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下跌的同时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，量会急剧衰弱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，抛压明显减弱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，那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么一旦洗盘洗干净了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主力还会继续展开进攻，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4615" algn="l" rtl="0" eaLnBrk="0">
              <a:lnSpc>
                <a:spcPct val="91000"/>
              </a:lnSpc>
              <a:spcBef>
                <a:spcPts val="215"/>
              </a:spcBef>
            </a:pP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延续之前的上升趋势</a:t>
            </a:r>
            <a:r>
              <a:rPr sz="2000" b="1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，继续创新高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，这个时候，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5885" indent="1270" algn="l" rtl="0" eaLnBrk="0">
              <a:lnSpc>
                <a:spcPct val="97000"/>
              </a:lnSpc>
              <a:spcBef>
                <a:spcPts val="215"/>
              </a:spcBef>
            </a:pP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可以择机在止跌的位置</a:t>
            </a:r>
            <a:r>
              <a:rPr sz="2000" b="1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，找一个反转点进场。缩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量小跌是一种变盘洗盘的信号</a:t>
            </a:r>
            <a:r>
              <a:rPr sz="2000" b="1" kern="0" spc="-3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，说明卖盘在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减弱，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抛压在减弱。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52" name="textbox 1952"/>
          <p:cNvSpPr/>
          <p:nvPr/>
        </p:nvSpPr>
        <p:spPr>
          <a:xfrm>
            <a:off x="1849111" y="283495"/>
            <a:ext cx="3611879" cy="510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500" b="1" kern="0" spc="-30" dirty="0">
                <a:solidFill>
                  <a:srgbClr val="D413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K线组合-缩量小跌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54" name="picture 19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1956" name="picture 19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textbox 1958"/>
          <p:cNvSpPr/>
          <p:nvPr/>
        </p:nvSpPr>
        <p:spPr>
          <a:xfrm rot="19620000">
            <a:off x="1805468" y="3126375"/>
            <a:ext cx="8372475" cy="93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 ，</a:t>
            </a:r>
            <a:r>
              <a:rPr sz="5800" kern="0" spc="-14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800" kern="0" spc="-1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入市需谨慎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60" name="picture 19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pic>
        <p:nvPicPr>
          <p:cNvPr id="1962" name="picture 19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87323" y="1197864"/>
            <a:ext cx="5318759" cy="5318759"/>
          </a:xfrm>
          <a:prstGeom prst="rect">
            <a:avLst/>
          </a:prstGeom>
        </p:spPr>
      </p:pic>
      <p:sp>
        <p:nvSpPr>
          <p:cNvPr id="1964" name="textbox 1964"/>
          <p:cNvSpPr/>
          <p:nvPr/>
        </p:nvSpPr>
        <p:spPr>
          <a:xfrm>
            <a:off x="6958584" y="1969007"/>
            <a:ext cx="4302759" cy="3170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  <a:extLst>
            <a:ext uri="{909E8E84-426E-40DD-AFC4-6F175D3DCCD1}">
              <a14:hiddenFill xmlns:a14="http://schemas.microsoft.com/office/drawing/2010/main">
                <a:solidFill>
                  <a:srgbClr val="FFC000">
                    <a:alpha val="100000"/>
                  </a:srgbClr>
                </a:solidFill>
              </a14:hiddenFill>
            </a:ext>
          </a:extLst>
        </p:spPr>
        <p:txBody>
          <a:bodyPr vert="horz" wrap="square" lIns="0" tIns="0" rIns="0" bIns="0"/>
          <a:lstStyle/>
          <a:p>
            <a:pPr algn="l" rtl="0" eaLnBrk="0">
              <a:lnSpc>
                <a:spcPct val="120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2075" indent="499745" algn="l" rtl="0" eaLnBrk="0">
              <a:lnSpc>
                <a:spcPct val="98000"/>
              </a:lnSpc>
              <a:spcBef>
                <a:spcPts val="0"/>
              </a:spcBef>
            </a:pP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第一天是大阴线</a:t>
            </a:r>
            <a:r>
              <a:rPr sz="2000" b="1" kern="0" spc="-3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，第二天跌幅变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慢</a:t>
            </a:r>
            <a:r>
              <a:rPr sz="2000" b="1" kern="0" spc="-3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，变成中阴线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，第三天变成小阴线</a:t>
            </a:r>
            <a:r>
              <a:rPr sz="2000" b="1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三天整体呈现下降趋势</a:t>
            </a:r>
            <a:r>
              <a:rPr sz="2000" b="1" kern="0" spc="-2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，但是股价在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下跌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，量在逐步的增</a:t>
            </a: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601345" algn="l" rtl="0" eaLnBrk="0">
              <a:lnSpc>
                <a:spcPct val="91000"/>
              </a:lnSpc>
              <a:spcBef>
                <a:spcPts val="215"/>
              </a:spcBef>
            </a:pP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股价越跌量越大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，买方在增强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" indent="3175" algn="l" rtl="0" eaLnBrk="0">
              <a:lnSpc>
                <a:spcPct val="98000"/>
              </a:lnSpc>
              <a:spcBef>
                <a:spcPts val="240"/>
              </a:spcBef>
            </a:pP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这里开始有大量资金进场承接了</a:t>
            </a:r>
            <a:r>
              <a:rPr sz="2000" b="1" kern="0" spc="-3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种一种见底的信号</a:t>
            </a:r>
            <a:r>
              <a:rPr sz="2000" b="1" kern="0" spc="-2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，主力资金在这里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开始进场承接</a:t>
            </a:r>
            <a:r>
              <a:rPr sz="2000" b="1" kern="0" spc="-3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，量能放大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，买方增强，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这是即将反转的信号</a:t>
            </a:r>
            <a:r>
              <a:rPr sz="2000" b="1" kern="0" spc="-2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，这里是可以开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新仓的。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68" name="textbox 1968"/>
          <p:cNvSpPr/>
          <p:nvPr/>
        </p:nvSpPr>
        <p:spPr>
          <a:xfrm>
            <a:off x="1849111" y="283495"/>
            <a:ext cx="3611879" cy="510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500" b="1" kern="0" spc="-30" dirty="0">
                <a:solidFill>
                  <a:srgbClr val="D413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K线组合-放量小跌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70" name="picture 19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1972" name="picture 19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textbox 1974"/>
          <p:cNvSpPr/>
          <p:nvPr/>
        </p:nvSpPr>
        <p:spPr>
          <a:xfrm rot="19620000">
            <a:off x="1805468" y="3127086"/>
            <a:ext cx="8372475" cy="930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-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 ，</a:t>
            </a:r>
            <a:r>
              <a:rPr sz="5800" kern="0" spc="-145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800" kern="0" spc="-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</a:t>
            </a:r>
            <a:r>
              <a:rPr sz="5800" kern="0" spc="25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sz="5800" kern="0" spc="-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76" name="picture 197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pic>
        <p:nvPicPr>
          <p:cNvPr id="1978" name="picture 19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87323" y="1197864"/>
            <a:ext cx="5318759" cy="5318759"/>
          </a:xfrm>
          <a:prstGeom prst="rect">
            <a:avLst/>
          </a:prstGeom>
        </p:spPr>
      </p:pic>
      <p:sp>
        <p:nvSpPr>
          <p:cNvPr id="1980" name="rect 1980"/>
          <p:cNvSpPr/>
          <p:nvPr/>
        </p:nvSpPr>
        <p:spPr>
          <a:xfrm>
            <a:off x="6306311" y="1540764"/>
            <a:ext cx="5641848" cy="46329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  <a:extLst>
            <a:ext uri="{909E8E84-426E-40DD-AFC4-6F175D3DCCD1}">
              <a14:hiddenFill xmlns:a14="http://schemas.microsoft.com/office/drawing/2010/main">
                <a:solidFill>
                  <a:srgbClr val="FFC000">
                    <a:alpha val="100000"/>
                  </a:srgbClr>
                </a:solidFill>
              </a14:hiddenFill>
            </a:ext>
          </a:extLst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82" name="textbox 1982"/>
          <p:cNvSpPr/>
          <p:nvPr/>
        </p:nvSpPr>
        <p:spPr>
          <a:xfrm>
            <a:off x="6386836" y="1605947"/>
            <a:ext cx="5566409" cy="4570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" indent="504825" algn="l" rtl="0" eaLnBrk="0">
              <a:lnSpc>
                <a:spcPct val="97000"/>
              </a:lnSpc>
            </a:pP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第一天大阴线</a:t>
            </a:r>
            <a:r>
              <a:rPr sz="2000" b="1"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，第二天变成中阴线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，第三天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变成小阴线。三天整体呈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现下降趋势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，越跌越慢，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量却不弱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，三根高量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，而且是平量。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509905" algn="l" rtl="0" eaLnBrk="0">
              <a:lnSpc>
                <a:spcPct val="99000"/>
              </a:lnSpc>
              <a:spcBef>
                <a:spcPts val="145"/>
              </a:spcBef>
            </a:pP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抛压没有减弱。股价止跌是因为有承接</a:t>
            </a:r>
            <a:r>
              <a:rPr sz="2000" b="1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，有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买方进场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，所以跌幅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慢了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，有资金开始尝试性建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仓。所以说股价可能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会止跌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，但抛压不弱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，这么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大的量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，有时候股价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只要一反弹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，就会面临更大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的抛压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，如果出现在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高位那全都是抛压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，卖的人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很多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，这是一种出货的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335" indent="509270" algn="l" rtl="0" eaLnBrk="0">
              <a:lnSpc>
                <a:spcPct val="99000"/>
              </a:lnSpc>
              <a:spcBef>
                <a:spcPts val="145"/>
              </a:spcBef>
            </a:pP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这种情况反弹难度会特别大</a:t>
            </a:r>
            <a:r>
              <a:rPr sz="2000" b="1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，而且一旦反弹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到某个阶段</a:t>
            </a:r>
            <a:r>
              <a:rPr sz="2000" b="1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，买方不买了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，股价马上就会延续之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前的下跌趋势</a:t>
            </a:r>
            <a:r>
              <a:rPr sz="2000" b="1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，继续下跌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，这里仅仅属于一个小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反弹</a:t>
            </a:r>
            <a:r>
              <a:rPr sz="2000" b="1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，是下跌中继里面一个弱反弹信号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，不可以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抄底</a:t>
            </a:r>
            <a:r>
              <a:rPr sz="2000" b="1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，这里不仅不可以抄底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，一旦有反弹还要做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逢高减仓。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86" name="textbox 1986"/>
          <p:cNvSpPr/>
          <p:nvPr/>
        </p:nvSpPr>
        <p:spPr>
          <a:xfrm>
            <a:off x="1849111" y="283495"/>
            <a:ext cx="3611879" cy="510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500" b="1" kern="0" spc="-30" dirty="0">
                <a:solidFill>
                  <a:srgbClr val="D413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K线组合-平量价缩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88" name="picture 19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1990" name="picture 199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textbox 1992"/>
          <p:cNvSpPr/>
          <p:nvPr/>
        </p:nvSpPr>
        <p:spPr>
          <a:xfrm rot="19620000">
            <a:off x="1805468" y="3127086"/>
            <a:ext cx="8372475" cy="930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-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 ，</a:t>
            </a:r>
            <a:r>
              <a:rPr sz="5800" kern="0" spc="-145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800" kern="0" spc="-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</a:t>
            </a:r>
            <a:r>
              <a:rPr sz="5800" kern="0" spc="25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sz="5800" kern="0" spc="-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94" name="picture 19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pic>
        <p:nvPicPr>
          <p:cNvPr id="1996" name="picture 19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87323" y="1197864"/>
            <a:ext cx="5318759" cy="5318759"/>
          </a:xfrm>
          <a:prstGeom prst="rect">
            <a:avLst/>
          </a:prstGeom>
        </p:spPr>
      </p:pic>
      <p:sp>
        <p:nvSpPr>
          <p:cNvPr id="1998" name="textbox 1998"/>
          <p:cNvSpPr/>
          <p:nvPr/>
        </p:nvSpPr>
        <p:spPr>
          <a:xfrm>
            <a:off x="6358128" y="1822704"/>
            <a:ext cx="5602604" cy="40709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  <a:extLst>
            <a:ext uri="{909E8E84-426E-40DD-AFC4-6F175D3DCCD1}">
              <a14:hiddenFill xmlns:a14="http://schemas.microsoft.com/office/drawing/2010/main">
                <a:solidFill>
                  <a:srgbClr val="FFC000">
                    <a:alpha val="100000"/>
                  </a:srgbClr>
                </a:solidFill>
              </a14:hiddenFill>
            </a:ext>
          </a:extLst>
        </p:spPr>
        <p:txBody>
          <a:bodyPr vert="horz" wrap="square" lIns="0" tIns="0" rIns="0" bIns="0"/>
          <a:lstStyle/>
          <a:p>
            <a:pPr algn="l" rtl="0" eaLnBrk="0">
              <a:lnSpc>
                <a:spcPct val="120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3980" indent="505460" algn="l" rtl="0" eaLnBrk="0">
              <a:lnSpc>
                <a:spcPct val="99000"/>
              </a:lnSpc>
              <a:spcBef>
                <a:spcPts val="5"/>
              </a:spcBef>
            </a:pP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大家注意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，这是一种多头崩溃的局面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，第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天放量的小阴线</a:t>
            </a:r>
            <a:r>
              <a:rPr sz="2000" b="1" kern="0" spc="-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，说明它是有分歧的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，有买方在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抵抗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，结果发现抵抗不住了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，卖方太强大了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，第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二天开始加速下跌了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b="1" kern="0" spc="-4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同时量在减弱。第三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天跌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幅最大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，量却是最小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，说明出现一致</a:t>
            </a: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性的恐慌了。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市场形成一种恐慌效应</a:t>
            </a:r>
            <a:r>
              <a:rPr sz="2000" b="1" kern="0" spc="-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，大家都在争相逃命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，那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说明市场资金一致性的看空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，根本就没有人接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盘，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没有人买了</a:t>
            </a:r>
            <a:r>
              <a:rPr sz="2000" b="1" kern="0" spc="-2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，就没有量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，这里所有人都在看空，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3980" algn="l" rtl="0" eaLnBrk="0">
              <a:lnSpc>
                <a:spcPct val="98000"/>
              </a:lnSpc>
              <a:spcBef>
                <a:spcPts val="240"/>
              </a:spcBef>
            </a:pP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那么股价还会持续的出现加速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下跌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，一般都出现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在一波下跌的中继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，也就是我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们常说的半山腰的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</a:t>
            </a:r>
            <a:r>
              <a:rPr sz="2000" b="1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，后市还将持续的加速下跌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，直到低位突然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发生爆量</a:t>
            </a:r>
            <a:r>
              <a:rPr sz="2000" b="1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，等到恐慌资金跑完了之后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，股价才会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迎来反弹。缩量下跌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还要跌。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02" name="textbox 2002"/>
          <p:cNvSpPr/>
          <p:nvPr/>
        </p:nvSpPr>
        <p:spPr>
          <a:xfrm>
            <a:off x="1849111" y="283495"/>
            <a:ext cx="3611879" cy="510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500" b="1" kern="0" spc="-30" dirty="0">
                <a:solidFill>
                  <a:srgbClr val="D413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K线组合-缩量大跌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04" name="picture 20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2006" name="picture 20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textbox 2008"/>
          <p:cNvSpPr/>
          <p:nvPr/>
        </p:nvSpPr>
        <p:spPr>
          <a:xfrm rot="19620000">
            <a:off x="1805468" y="3127086"/>
            <a:ext cx="8372475" cy="930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-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 ，</a:t>
            </a:r>
            <a:r>
              <a:rPr sz="5800" kern="0" spc="-145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800" kern="0" spc="-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</a:t>
            </a:r>
            <a:r>
              <a:rPr sz="5800" kern="0" spc="25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sz="5800" kern="0" spc="-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10" name="picture 20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pic>
        <p:nvPicPr>
          <p:cNvPr id="2012" name="picture 20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87323" y="1197864"/>
            <a:ext cx="5318759" cy="5318759"/>
          </a:xfrm>
          <a:prstGeom prst="rect">
            <a:avLst/>
          </a:prstGeom>
        </p:spPr>
      </p:pic>
      <p:sp>
        <p:nvSpPr>
          <p:cNvPr id="2014" name="textbox 2014"/>
          <p:cNvSpPr/>
          <p:nvPr/>
        </p:nvSpPr>
        <p:spPr>
          <a:xfrm>
            <a:off x="6449567" y="1543811"/>
            <a:ext cx="5215254" cy="4628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  <a:extLst>
            <a:ext uri="{909E8E84-426E-40DD-AFC4-6F175D3DCCD1}">
              <a14:hiddenFill xmlns:a14="http://schemas.microsoft.com/office/drawing/2010/main">
                <a:solidFill>
                  <a:srgbClr val="FFC000">
                    <a:alpha val="100000"/>
                  </a:srgbClr>
                </a:solidFill>
              </a14:hiddenFill>
            </a:ext>
          </a:extLst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3980" indent="506095" algn="l" rtl="0" eaLnBrk="0">
              <a:lnSpc>
                <a:spcPct val="98000"/>
              </a:lnSpc>
              <a:spcBef>
                <a:spcPts val="5"/>
              </a:spcBef>
            </a:pP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第一天是小阴线小跌</a:t>
            </a:r>
            <a:r>
              <a:rPr sz="2000" b="1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，第二天变成中阴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线加速了</a:t>
            </a:r>
            <a:r>
              <a:rPr sz="2000" b="1" kern="0" spc="-3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，第三天变成大阴线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，三天整体呈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现下降趋势</a:t>
            </a:r>
            <a:r>
              <a:rPr sz="2000" b="1" kern="0" spc="-3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，而且是越跌越快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，越跌越快的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同时这量可以一点也不弱</a:t>
            </a:r>
            <a:r>
              <a:rPr sz="2000" b="1" kern="0" spc="-3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，越跌量越大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，呈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现递增的。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5250" indent="508635" algn="l" rtl="0" eaLnBrk="0">
              <a:lnSpc>
                <a:spcPct val="98000"/>
              </a:lnSpc>
              <a:spcBef>
                <a:spcPts val="195"/>
              </a:spcBef>
            </a:pP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这里是出货。量很大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，成交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很密集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，股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价在大跌</a:t>
            </a:r>
            <a:r>
              <a:rPr sz="2000" b="1" kern="0" spc="-3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，卖方远远大于买方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，才会形成巨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大跌幅</a:t>
            </a:r>
            <a:r>
              <a:rPr sz="2000" b="1" kern="0" spc="-3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，供给方大于需求方了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，所以说股价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才会大跌。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4615" indent="509270" algn="l" rtl="0" eaLnBrk="0">
              <a:lnSpc>
                <a:spcPct val="99000"/>
              </a:lnSpc>
              <a:spcBef>
                <a:spcPts val="145"/>
              </a:spcBef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这叫价跌量增放量下跌。有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很多资金在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这里跟风砸盘卖出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如果在高位是主力出货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的信号</a:t>
            </a:r>
            <a:r>
              <a:rPr sz="2000" b="1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，大量成交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，大量卖出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，量很大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，一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般都出现在一波趋势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的高位顶部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，主力在这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里出货意味着后市还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将持续下跌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，要注意风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险了。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18" name="textbox 2018"/>
          <p:cNvSpPr/>
          <p:nvPr/>
        </p:nvSpPr>
        <p:spPr>
          <a:xfrm>
            <a:off x="1849111" y="283495"/>
            <a:ext cx="3611879" cy="510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500" b="1" kern="0" spc="-30" dirty="0">
                <a:solidFill>
                  <a:srgbClr val="D413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K线组合-放量大跌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20" name="picture 20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2022" name="picture 20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4" name="textbox 2024"/>
          <p:cNvSpPr/>
          <p:nvPr/>
        </p:nvSpPr>
        <p:spPr>
          <a:xfrm rot="19620000">
            <a:off x="1805468" y="3127086"/>
            <a:ext cx="8372475" cy="930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0"/>
              </a:spcBef>
            </a:pPr>
            <a:r>
              <a:rPr sz="5800" kern="0" spc="-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投资有风险 ，</a:t>
            </a:r>
            <a:r>
              <a:rPr sz="5800" kern="0" spc="-145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800" kern="0" spc="-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</a:t>
            </a:r>
            <a:r>
              <a:rPr sz="5800" kern="0" spc="25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sz="5800" kern="0" spc="-30" dirty="0">
                <a:solidFill>
                  <a:srgbClr val="E7E6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谨慎</a:t>
            </a:r>
            <a:endParaRPr sz="5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26" name="picture 20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578863" cy="1350264"/>
          </a:xfrm>
          <a:prstGeom prst="rect">
            <a:avLst/>
          </a:prstGeom>
        </p:spPr>
      </p:pic>
      <p:pic>
        <p:nvPicPr>
          <p:cNvPr id="2028" name="picture 20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87323" y="1197864"/>
            <a:ext cx="5318759" cy="5318759"/>
          </a:xfrm>
          <a:prstGeom prst="rect">
            <a:avLst/>
          </a:prstGeom>
        </p:spPr>
      </p:pic>
      <p:sp>
        <p:nvSpPr>
          <p:cNvPr id="2030" name="textbox 2030"/>
          <p:cNvSpPr/>
          <p:nvPr/>
        </p:nvSpPr>
        <p:spPr>
          <a:xfrm>
            <a:off x="6598919" y="1662683"/>
            <a:ext cx="5066029" cy="3784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  <a:extLst>
            <a:ext uri="{909E8E84-426E-40DD-AFC4-6F175D3DCCD1}">
              <a14:hiddenFill xmlns:a14="http://schemas.microsoft.com/office/drawing/2010/main">
                <a:solidFill>
                  <a:srgbClr val="FFC000">
                    <a:alpha val="100000"/>
                  </a:srgbClr>
                </a:solidFill>
              </a14:hiddenFill>
            </a:ext>
          </a:extLst>
        </p:spPr>
        <p:txBody>
          <a:bodyPr vert="horz" wrap="square" lIns="0" tIns="0" rIns="0" bIns="0"/>
          <a:lstStyle/>
          <a:p>
            <a:pPr algn="l" rtl="0" eaLnBrk="0">
              <a:lnSpc>
                <a:spcPct val="120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4615" indent="505460" algn="l" rtl="0" eaLnBrk="0">
              <a:lnSpc>
                <a:spcPct val="98000"/>
              </a:lnSpc>
              <a:spcBef>
                <a:spcPts val="0"/>
              </a:spcBef>
            </a:pP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第一天是小阴线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，第二天跌幅放大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，第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三天变成大阴线。三天整体呈现下降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趋势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而且是越跌越快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b="1" kern="0" spc="-4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同时我们来看这量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可一点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都不大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，就三根平量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，而且是缩量。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4615" indent="501015" algn="l" rtl="0" eaLnBrk="0">
              <a:lnSpc>
                <a:spcPct val="97000"/>
              </a:lnSpc>
              <a:spcBef>
                <a:spcPts val="215"/>
              </a:spcBef>
            </a:pP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股价的下跌的同时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，量却没有跟随放大，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出现一致性行为了</a:t>
            </a:r>
            <a:r>
              <a:rPr sz="2000" b="1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，股价加速下跌一致看空，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没有承接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，没有买方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，市场资金形成</a:t>
            </a: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恐慌，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5250" algn="l" rtl="0" eaLnBrk="0">
              <a:lnSpc>
                <a:spcPct val="98000"/>
              </a:lnSpc>
              <a:spcBef>
                <a:spcPts val="240"/>
              </a:spcBef>
            </a:pP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大家都在争相逃命</a:t>
            </a:r>
            <a:r>
              <a:rPr sz="2000" b="1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，没有人接盘。股价后续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仍将持续加速下跌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而且是不需要带量的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注意啊</a:t>
            </a:r>
            <a:r>
              <a:rPr sz="2000" b="1" kern="0" spc="-3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，这是下跌中继的表现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，也就是我们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常说的半山腰的位置</a:t>
            </a:r>
            <a:r>
              <a:rPr sz="2000" b="1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，这里也是不可以去接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盘的。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34" name="textbox 2034"/>
          <p:cNvSpPr/>
          <p:nvPr/>
        </p:nvSpPr>
        <p:spPr>
          <a:xfrm>
            <a:off x="1849111" y="283495"/>
            <a:ext cx="3611879" cy="510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3500" b="1" kern="0" spc="-30" dirty="0">
                <a:solidFill>
                  <a:srgbClr val="D413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K线组合-平量大跌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36" name="picture 20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641835" y="819911"/>
            <a:ext cx="477011" cy="330708"/>
          </a:xfrm>
          <a:prstGeom prst="rect">
            <a:avLst/>
          </a:prstGeom>
        </p:spPr>
      </p:pic>
      <p:pic>
        <p:nvPicPr>
          <p:cNvPr id="2038" name="picture 20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03148" y="909828"/>
            <a:ext cx="10861547" cy="68579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PLACING_PICTURE_USER_VIEWPORT" val="{&quot;height&quot;:4952,&quot;width&quot;:9103}"/>
</p:tagLst>
</file>

<file path=ppt/tags/tag7.xml><?xml version="1.0" encoding="utf-8"?>
<p:tagLst xmlns:p="http://schemas.openxmlformats.org/presentationml/2006/main">
  <p:tag name="commondata" val="eyJoZGlkIjoiMDU4Nzg1NjZiM2M1NzNlZGY2Y2RlZTlhYjhkZTMxOGMifQ==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11974</Words>
  <Application>WPS 演示</Application>
  <PresentationFormat/>
  <Paragraphs>1135</Paragraphs>
  <Slides>66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76" baseType="lpstr">
      <vt:lpstr>Arial</vt:lpstr>
      <vt:lpstr>宋体</vt:lpstr>
      <vt:lpstr>Wingdings</vt:lpstr>
      <vt:lpstr>Arial</vt:lpstr>
      <vt:lpstr>微软雅黑</vt:lpstr>
      <vt:lpstr>Calibri</vt:lpstr>
      <vt:lpstr>等线</vt:lpstr>
      <vt:lpstr>Arial Unicode MS</vt:lpstr>
      <vt:lpstr>Impact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川岛美希</cp:lastModifiedBy>
  <cp:revision>9</cp:revision>
  <dcterms:created xsi:type="dcterms:W3CDTF">2024-06-27T16:39:00Z</dcterms:created>
  <dcterms:modified xsi:type="dcterms:W3CDTF">2025-10-24T01:31:22Z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wqlLaW5nc29mdCBQREYgdG8gV1BTIDEwMA</vt:lpwstr>
  </property>
  <property fmtid="{D5CDD505-2E9C-101B-9397-08002B2CF9AE}" pid="3" name="Created">
    <vt:filetime>2024-06-29T08:34:44Z</vt:filetime>
  </property>
  <property fmtid="{D5CDD505-2E9C-101B-9397-08002B2CF9AE}" pid="4" name="ICV">
    <vt:lpwstr>813A0D7F952A413EB5ECD3113FBB5605_13</vt:lpwstr>
  </property>
  <property fmtid="{D5CDD505-2E9C-101B-9397-08002B2CF9AE}" pid="5" name="KSOProductBuildVer">
    <vt:lpwstr>2052-12.1.0.21915</vt:lpwstr>
  </property>
</Properties>
</file>